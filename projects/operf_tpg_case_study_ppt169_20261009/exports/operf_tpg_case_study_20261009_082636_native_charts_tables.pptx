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601.xml" ContentType="application/vnd.openxmlformats-officedocument.drawingml.chart+xml"/>
  <Override PartName="/ppt/charts/chart2001.xml" ContentType="application/vnd.openxmlformats-officedocument.drawingml.chart+xml"/>
  <Override PartName="/ppt/charts/chart2101.xml" ContentType="application/vnd.openxmlformats-officedocument.drawingml.chart+xml"/>
  <Override PartName="/ppt/charts/chart2301.xml" ContentType="application/vnd.openxmlformats-officedocument.drawingml.chart+xml"/>
  <Override PartName="/ppt/charts/chart2401.xml" ContentType="application/vnd.openxmlformats-officedocument.drawingml.chart+xml"/>
  <Override PartName="/ppt/charts/chart2501.xml" ContentType="application/vnd.openxmlformats-officedocument.drawingml.chart+xml"/>
  <Override PartName="/ppt/charts/chart2901.xml" ContentType="application/vnd.openxmlformats-officedocument.drawingml.chart+xml"/>
  <Override PartName="/ppt/charts/chart3001.xml" ContentType="application/vnd.openxmlformats-officedocument.drawingml.chart+xml"/>
  <Override PartName="/ppt/charts/chart3002.xml" ContentType="application/vnd.openxmlformats-officedocument.drawingml.chart+xml"/>
  <Override PartName="/ppt/charts/chart3501.xml" ContentType="application/vnd.openxmlformats-officedocument.drawingml.chart+xml"/>
  <Override PartName="/ppt/charts/chart3601.xml" ContentType="application/vnd.openxmlformats-officedocument.drawingml.chart+xml"/>
  <Override PartName="/ppt/charts/chart3701.xml" ContentType="application/vnd.openxmlformats-officedocument.drawingml.chart+xml"/>
  <Override PartName="/ppt/charts/chart401.xml" ContentType="application/vnd.openxmlformats-officedocument.drawingml.chart+xml"/>
  <Override PartName="/ppt/charts/chart4401.xml" ContentType="application/vnd.openxmlformats-officedocument.drawingml.chart+xml"/>
  <Override PartName="/ppt/charts/chart4601.xml" ContentType="application/vnd.openxmlformats-officedocument.drawingml.chart+xml"/>
  <Override PartName="/ppt/charts/chart4701.xml" ContentType="application/vnd.openxmlformats-officedocument.drawingml.chart+xml"/>
  <Override PartName="/ppt/charts/chart4801.xml" ContentType="application/vnd.openxmlformats-officedocument.drawingml.chart+xml"/>
  <Override PartName="/ppt/charts/chart501.xml" ContentType="application/vnd.openxmlformats-officedocument.drawingml.chart+xml"/>
  <Override PartName="/ppt/charts/chart5601.xml" ContentType="application/vnd.openxmlformats-officedocument.drawingml.chart+xml"/>
  <Override PartName="/ppt/charts/chartEx2601.xml" ContentType="application/vnd.ms-office.chartex+xml"/>
  <Override PartName="/ppt/charts/chartEx2801.xml" ContentType="application/vnd.ms-office.chartex+xml"/>
  <Override PartName="/ppt/charts/chartEx3401.xml" ContentType="application/vnd.ms-office.chartex+xml"/>
  <Override PartName="/ppt/charts/colors2601.xml" ContentType="application/vnd.ms-office.chartcolorstyle+xml"/>
  <Override PartName="/ppt/charts/colors2801.xml" ContentType="application/vnd.ms-office.chartcolorstyle+xml"/>
  <Override PartName="/ppt/charts/colors3401.xml" ContentType="application/vnd.ms-office.chartcolorstyle+xml"/>
  <Override PartName="/ppt/charts/style2601.xml" ContentType="application/vnd.ms-office.chartstyle+xml"/>
  <Override PartName="/ppt/charts/style2801.xml" ContentType="application/vnd.ms-office.chartstyle+xml"/>
  <Override PartName="/ppt/charts/style3401.xml" ContentType="application/vnd.ms-office.chartstyl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6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  <Relationship Id="rId63" Type="http://schemas.openxmlformats.org/officeDocument/2006/relationships/notesMaster" Target="notesMasters/notesMaster1.xml"/>
</Relationships>
</file>

<file path=ppt/charts/_rels/chart401.xml.rels><?xml version="1.0" encoding="UTF-8" standalone="yes"?>
<Relationships xmlns="http://schemas.openxmlformats.org/package/2006/relationships">
<Relationship Id="rId1" Type="http://schemas.openxmlformats.org/officeDocument/2006/relationships/package" Target="../embeddings/Microsoft_Excel_Sheet401.xlsx"/>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_rels/chart1601.xml.rels><?xml version="1.0" encoding="UTF-8" standalone="yes"?>
<Relationships xmlns="http://schemas.openxmlformats.org/package/2006/relationships">
<Relationship Id="rId1" Type="http://schemas.openxmlformats.org/officeDocument/2006/relationships/package" Target="../embeddings/Microsoft_Excel_Sheet1601.xlsx"/>
</Relationships>
</file>

<file path=ppt/charts/_rels/chart2001.xml.rels><?xml version="1.0" encoding="UTF-8" standalone="yes"?>
<Relationships xmlns="http://schemas.openxmlformats.org/package/2006/relationships">
<Relationship Id="rId1" Type="http://schemas.openxmlformats.org/officeDocument/2006/relationships/package" Target="../embeddings/Microsoft_Excel_Sheet2001.xlsx"/>
</Relationships>
</file>

<file path=ppt/charts/_rels/chart2101.xml.rels><?xml version="1.0" encoding="UTF-8" standalone="yes"?>
<Relationships xmlns="http://schemas.openxmlformats.org/package/2006/relationships">
<Relationship Id="rId1" Type="http://schemas.openxmlformats.org/officeDocument/2006/relationships/package" Target="../embeddings/Microsoft_Excel_Sheet2101.xlsx"/>
</Relationships>
</file>

<file path=ppt/charts/_rels/chart2301.xml.rels><?xml version="1.0" encoding="UTF-8" standalone="yes"?>
<Relationships xmlns="http://schemas.openxmlformats.org/package/2006/relationships">
<Relationship Id="rId1" Type="http://schemas.openxmlformats.org/officeDocument/2006/relationships/package" Target="../embeddings/Microsoft_Excel_Sheet2301.xlsx"/>
</Relationships>
</file>

<file path=ppt/charts/_rels/chart2401.xml.rels><?xml version="1.0" encoding="UTF-8" standalone="yes"?>
<Relationships xmlns="http://schemas.openxmlformats.org/package/2006/relationships">
<Relationship Id="rId1" Type="http://schemas.openxmlformats.org/officeDocument/2006/relationships/package" Target="../embeddings/Microsoft_Excel_Sheet2401.xlsx"/>
</Relationships>
</file>

<file path=ppt/charts/_rels/chart2501.xml.rels><?xml version="1.0" encoding="UTF-8" standalone="yes"?>
<Relationships xmlns="http://schemas.openxmlformats.org/package/2006/relationships">
<Relationship Id="rId1" Type="http://schemas.openxmlformats.org/officeDocument/2006/relationships/package" Target="../embeddings/Microsoft_Excel_Sheet2501.xlsx"/>
</Relationships>
</file>

<file path=ppt/charts/_rels/chart2901.xml.rels><?xml version="1.0" encoding="UTF-8" standalone="yes"?>
<Relationships xmlns="http://schemas.openxmlformats.org/package/2006/relationships">
<Relationship Id="rId1" Type="http://schemas.openxmlformats.org/officeDocument/2006/relationships/package" Target="../embeddings/Microsoft_Excel_Sheet2901.xlsx"/>
</Relationships>
</file>

<file path=ppt/charts/_rels/chart3001.xml.rels><?xml version="1.0" encoding="UTF-8" standalone="yes"?>
<Relationships xmlns="http://schemas.openxmlformats.org/package/2006/relationships">
<Relationship Id="rId1" Type="http://schemas.openxmlformats.org/officeDocument/2006/relationships/package" Target="../embeddings/Microsoft_Excel_Sheet3001.xlsx"/>
</Relationships>
</file>

<file path=ppt/charts/_rels/chart3002.xml.rels><?xml version="1.0" encoding="UTF-8" standalone="yes"?>
<Relationships xmlns="http://schemas.openxmlformats.org/package/2006/relationships">
<Relationship Id="rId1" Type="http://schemas.openxmlformats.org/officeDocument/2006/relationships/package" Target="../embeddings/Microsoft_Excel_Sheet3002.xlsx"/>
</Relationships>
</file>

<file path=ppt/charts/_rels/chart3501.xml.rels><?xml version="1.0" encoding="UTF-8" standalone="yes"?>
<Relationships xmlns="http://schemas.openxmlformats.org/package/2006/relationships">
<Relationship Id="rId1" Type="http://schemas.openxmlformats.org/officeDocument/2006/relationships/package" Target="../embeddings/Microsoft_Excel_Sheet3501.xlsx"/>
</Relationships>
</file>

<file path=ppt/charts/_rels/chart3601.xml.rels><?xml version="1.0" encoding="UTF-8" standalone="yes"?>
<Relationships xmlns="http://schemas.openxmlformats.org/package/2006/relationships">
<Relationship Id="rId1" Type="http://schemas.openxmlformats.org/officeDocument/2006/relationships/package" Target="../embeddings/Microsoft_Excel_Sheet3601.xlsx"/>
</Relationships>
</file>

<file path=ppt/charts/_rels/chart3701.xml.rels><?xml version="1.0" encoding="UTF-8" standalone="yes"?>
<Relationships xmlns="http://schemas.openxmlformats.org/package/2006/relationships">
<Relationship Id="rId1" Type="http://schemas.openxmlformats.org/officeDocument/2006/relationships/package" Target="../embeddings/Microsoft_Excel_Sheet3701.xlsx"/>
</Relationships>
</file>

<file path=ppt/charts/_rels/chart4401.xml.rels><?xml version="1.0" encoding="UTF-8" standalone="yes"?>
<Relationships xmlns="http://schemas.openxmlformats.org/package/2006/relationships">
<Relationship Id="rId1" Type="http://schemas.openxmlformats.org/officeDocument/2006/relationships/package" Target="../embeddings/Microsoft_Excel_Sheet4401.xlsx"/>
</Relationships>
</file>

<file path=ppt/charts/_rels/chart4601.xml.rels><?xml version="1.0" encoding="UTF-8" standalone="yes"?>
<Relationships xmlns="http://schemas.openxmlformats.org/package/2006/relationships">
<Relationship Id="rId1" Type="http://schemas.openxmlformats.org/officeDocument/2006/relationships/package" Target="../embeddings/Microsoft_Excel_Sheet4601.xlsx"/>
</Relationships>
</file>

<file path=ppt/charts/_rels/chart4701.xml.rels><?xml version="1.0" encoding="UTF-8" standalone="yes"?>
<Relationships xmlns="http://schemas.openxmlformats.org/package/2006/relationships">
<Relationship Id="rId1" Type="http://schemas.openxmlformats.org/officeDocument/2006/relationships/package" Target="../embeddings/Microsoft_Excel_Sheet4701.xlsx"/>
</Relationships>
</file>

<file path=ppt/charts/_rels/chart4801.xml.rels><?xml version="1.0" encoding="UTF-8" standalone="yes"?>
<Relationships xmlns="http://schemas.openxmlformats.org/package/2006/relationships">
<Relationship Id="rId1" Type="http://schemas.openxmlformats.org/officeDocument/2006/relationships/package" Target="../embeddings/Microsoft_Excel_Sheet4801.xlsx"/>
</Relationships>
</file>

<file path=ppt/charts/_rels/chart5601.xml.rels><?xml version="1.0" encoding="UTF-8" standalone="yes"?>
<Relationships xmlns="http://schemas.openxmlformats.org/package/2006/relationships">
<Relationship Id="rId1" Type="http://schemas.openxmlformats.org/officeDocument/2006/relationships/package" Target="../embeddings/Microsoft_Excel_Sheet5601.xlsx"/>
</Relationships>
</file>

<file path=ppt/charts/_rels/chartEx2601.xml.rels><?xml version="1.0" encoding="UTF-8" standalone="yes"?>
<Relationships xmlns="http://schemas.openxmlformats.org/package/2006/relationships">
<Relationship Id="rId1" Type="http://schemas.openxmlformats.org/officeDocument/2006/relationships/package" Target="../embeddings/Microsoft_Excel_Sheet2601.xlsx"/>
<Relationship Id="rId2" Type="http://schemas.microsoft.com/office/2011/relationships/chartStyle" Target="style2601.xml"/>
<Relationship Id="rId3" Type="http://schemas.microsoft.com/office/2011/relationships/chartColorStyle" Target="colors2601.xml"/>
</Relationships>
</file>

<file path=ppt/charts/_rels/chartEx2801.xml.rels><?xml version="1.0" encoding="UTF-8" standalone="yes"?>
<Relationships xmlns="http://schemas.openxmlformats.org/package/2006/relationships">
<Relationship Id="rId1" Type="http://schemas.openxmlformats.org/officeDocument/2006/relationships/package" Target="../embeddings/Microsoft_Excel_Sheet2801.xlsx"/>
<Relationship Id="rId2" Type="http://schemas.microsoft.com/office/2011/relationships/chartStyle" Target="style2801.xml"/>
<Relationship Id="rId3" Type="http://schemas.microsoft.com/office/2011/relationships/chartColorStyle" Target="colors2801.xml"/>
</Relationships>
</file>

<file path=ppt/charts/_rels/chartEx3401.xml.rels><?xml version="1.0" encoding="UTF-8" standalone="yes"?>
<Relationships xmlns="http://schemas.openxmlformats.org/package/2006/relationships">
<Relationship Id="rId1" Type="http://schemas.openxmlformats.org/officeDocument/2006/relationships/package" Target="../embeddings/Microsoft_Excel_Sheet3401.xlsx"/>
<Relationship Id="rId2" Type="http://schemas.microsoft.com/office/2011/relationships/chartStyle" Target="style3401.xml"/>
<Relationship Id="rId3" Type="http://schemas.microsoft.com/office/2011/relationships/chartColorStyle" Target="colors3401.xml"/>
</Relationships>
</file>

<file path=ppt/charts/chart4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OPERF's share of TPG VI commitments</a:t>
            </a:r>
          </a:p>
        </c:rich>
      </c:tx>
      <c:layout/>
      <c:overlay val="0"/>
    </c:title>
    <c:autoTitleDeleted val="0"/>
    <c:plotArea>
      <c:layout/>
      <c:pieChart>
        <c:varyColors val="1"/>
        <c:ser>
          <c:idx val="0"/>
          <c:order val="0"/>
          <c:tx>
            <c:strRef>
              <c:f>Sheet1!$B$1</c:f>
              <c:strCache>
                <c:ptCount val="1"/>
                <c:pt idx="0">
                  <c:v>Commitments ($m)</c:v>
                </c:pt>
              </c:strCache>
            </c:strRef>
          </c:tx>
          <c:dPt>
            <c:idx val="0"/>
            <c:spPr>
              <a:solidFill>
                <a:schemeClr val="accent1"/>
              </a:solidFill>
              <a:ln>
                <a:solidFill>
                  <a:schemeClr val="accent1"/>
                </a:solidFill>
              </a:ln>
            </c:spPr>
          </c:dPt>
          <c:dPt>
            <c:idx val="1"/>
            <c:spPr>
              <a:solidFill>
                <a:srgbClr val="D6CFC2"/>
              </a:solidFill>
              <a:ln>
                <a:solidFill>
                  <a:srgbClr val="D6CFC2"/>
                </a:solidFill>
              </a:ln>
            </c:spPr>
          </c:dPt>
          <c:cat>
            <c:strRef>
              <c:f>Sheet1!$A$2:$A$3</c:f>
              <c:strCache>
                <c:ptCount val="2"/>
                <c:pt idx="0">
                  <c:v>OPERF</c:v>
                </c:pt>
                <c:pt idx="1">
                  <c:v>Other commitments</c:v>
                </c:pt>
              </c:strCache>
            </c:strRef>
          </c:cat>
          <c:val>
            <c:numRef>
              <c:f>Sheet1!$B$2:$B$3</c:f>
              <c:numCache>
                <c:formatCode>General</c:formatCode>
                <c:ptCount val="2"/>
                <c:pt idx="0">
                  <c:v>750</c:v>
                </c:pt>
                <c:pt idx="1">
                  <c:v>19050</c:v>
                </c:pt>
              </c:numCache>
            </c:numRef>
          </c:val>
        </c:ser>
        <c:firstSliceAng val="0"/>
      </c:pieChart>
      <c:spPr>
        <a:noFill/>
        <a:ln>
          <a:noFill/>
        </a:ln>
      </c:spPr>
    </c:plotArea>
    <c:plotVisOnly val="1"/>
    <c:dispBlanksAs val="gap"/>
  </c:chart>
  <c:spPr>
    <a:no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5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TPG VI in Q3 2008 global buyout fundraising</a:t>
            </a:r>
          </a:p>
        </c:rich>
      </c:tx>
      <c:layout/>
      <c:overlay val="0"/>
    </c:title>
    <c:autoTitleDeleted val="0"/>
    <c:plotArea>
      <c:layout/>
      <c:pieChart>
        <c:varyColors val="1"/>
        <c:ser>
          <c:idx val="0"/>
          <c:order val="0"/>
          <c:tx>
            <c:strRef>
              <c:f>Sheet1!$B$1</c:f>
              <c:strCache>
                <c:ptCount val="1"/>
                <c:pt idx="0">
                  <c:v>Final-close commitments ($bn)</c:v>
                </c:pt>
              </c:strCache>
            </c:strRef>
          </c:tx>
          <c:dPt>
            <c:idx val="0"/>
            <c:spPr>
              <a:solidFill>
                <a:schemeClr val="accent1"/>
              </a:solidFill>
              <a:ln>
                <a:solidFill>
                  <a:schemeClr val="accent1"/>
                </a:solidFill>
              </a:ln>
            </c:spPr>
          </c:dPt>
          <c:dPt>
            <c:idx val="1"/>
            <c:spPr>
              <a:solidFill>
                <a:srgbClr val="D6CFC2"/>
              </a:solidFill>
              <a:ln>
                <a:solidFill>
                  <a:srgbClr val="D6CFC2"/>
                </a:solidFill>
              </a:ln>
            </c:spPr>
          </c:dPt>
          <c:cat>
            <c:strRef>
              <c:f>Sheet1!$A$2:$A$3</c:f>
              <c:strCache>
                <c:ptCount val="2"/>
                <c:pt idx="0">
                  <c:v>TPG VI</c:v>
                </c:pt>
                <c:pt idx="1">
                  <c:v>Other buyout funds closed in Q3 2008</c:v>
                </c:pt>
              </c:strCache>
            </c:strRef>
          </c:cat>
          <c:val>
            <c:numRef>
              <c:f>Sheet1!$B$2:$B$3</c:f>
              <c:numCache>
                <c:formatCode>General</c:formatCode>
                <c:ptCount val="2"/>
                <c:pt idx="0">
                  <c:v>19.8</c:v>
                </c:pt>
                <c:pt idx="1">
                  <c:v>22.9</c:v>
                </c:pt>
              </c:numCache>
            </c:numRef>
          </c:val>
        </c:ser>
        <c:firstSliceAng val="0"/>
      </c:pieChart>
      <c:spPr>
        <a:noFill/>
        <a:ln>
          <a:noFill/>
        </a:ln>
      </c:spPr>
    </c:plotArea>
    <c:plotVisOnly val="1"/>
    <c:dispBlanksAs val="gap"/>
  </c:chart>
  <c:spPr>
    <a:no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16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rgbClr val="5C6670"/>
                </a:solidFill>
                <a:latin typeface="Calibri"/>
                <a:ea typeface="Microsoft YaHei"/>
                <a:cs typeface="Calibri"/>
              </a:rPr>
              <a:t>Illustrative annual management fee revenue</a:t>
            </a:r>
          </a:p>
        </c:rich>
      </c:tx>
      <c:layout/>
      <c:overlay val="0"/>
    </c:title>
    <c:autoTitleDeleted val="0"/>
    <c:plotArea>
      <c:layout>
        <c:manualLayout>
          <c:layoutTarget val="inner"/>
          <c:xMode val="edge"/>
          <c:yMode val="edge"/>
          <c:wMode val="factor"/>
          <c:hMode val="factor"/>
          <c:x val="0.204861111111"/>
          <c:y val="0.0972972972973"/>
          <c:w val="0.763888888889"/>
          <c:h val="0.713513513514"/>
        </c:manualLayout>
      </c:layout>
      <c:barChart>
        <c:barDir val="bar"/>
        <c:grouping val="clustered"/>
        <c:varyColors val="1"/>
        <c:ser>
          <c:idx val="0"/>
          <c:order val="0"/>
          <c:tx>
            <c:strRef>
              <c:f>Sheet1!$B$1</c:f>
              <c:strCache>
                <c:ptCount val="1"/>
                <c:pt idx="0">
                  <c:v>Annual fees ($m)</c:v>
                </c:pt>
              </c:strCache>
            </c:strRef>
          </c:tx>
          <c:spPr>
            <a:solidFill>
              <a:srgbClr val="4472C4"/>
            </a:solidFill>
            <a:ln>
              <a:solidFill>
                <a:srgbClr val="4472C4"/>
              </a:solidFill>
            </a:ln>
          </c:spPr>
          <c:invertIfNegative val="0"/>
          <c:dPt>
            <c:idx val="0"/>
            <c:invertIfNegative val="0"/>
            <c:spPr>
              <a:solidFill>
                <a:schemeClr val="accent1"/>
              </a:solidFill>
              <a:ln>
                <a:solidFill>
                  <a:schemeClr val="accent1"/>
                </a:solidFill>
              </a:ln>
            </c:spPr>
          </c:dPt>
          <c:dPt>
            <c:idx val="1"/>
            <c:invertIfNegative val="0"/>
            <c:spPr>
              <a:solidFill>
                <a:srgbClr val="4B7086"/>
              </a:solidFill>
              <a:ln>
                <a:solidFill>
                  <a:srgbClr val="4B7086"/>
                </a:solidFill>
              </a:ln>
            </c:spPr>
          </c:dPt>
          <c:dPt>
            <c:idx val="2"/>
            <c:invertIfNegative val="0"/>
            <c:spPr>
              <a:solidFill>
                <a:srgbClr val="8AA1AC"/>
              </a:solidFill>
              <a:ln>
                <a:solidFill>
                  <a:srgbClr val="8AA1AC"/>
                </a:solidFill>
              </a:ln>
            </c:spPr>
          </c:dPt>
          <c:cat>
            <c:strRef>
              <c:f>Sheet1!$A$2:$A$4</c:f>
              <c:strCache>
                <c:ptCount val="3"/>
                <c:pt idx="0">
                  <c:v>Original</c:v>
                </c:pt>
                <c:pt idx="1">
                  <c:v>Fee cut</c:v>
                </c:pt>
                <c:pt idx="2">
                  <c:v>Fee cut + smaller base</c:v>
                </c:pt>
              </c:strCache>
            </c:strRef>
          </c:cat>
          <c:val>
            <c:numRef>
              <c:f>Sheet1!$B$2:$B$4</c:f>
              <c:numCache>
                <c:formatCode>General</c:formatCode>
                <c:ptCount val="3"/>
                <c:pt idx="0">
                  <c:v>297</c:v>
                </c:pt>
                <c:pt idx="1">
                  <c:v>267.3</c:v>
                </c:pt>
                <c:pt idx="2">
                  <c:v>240.57</c:v>
                </c:pt>
              </c:numCache>
            </c:numRef>
          </c:val>
        </c:ser>
        <c:dLbls>
          <c:numFmt formatCode="0.00" sourceLinked="0"/>
          <c:txPr>
            <a:bodyPr/>
            <a:lstStyle/>
            <a:p>
              <a:pPr>
                <a:defRPr lang="en-US" sz="1050">
                  <a:solidFill>
                    <a:srgbClr val="5C6670"/>
                  </a:solidFill>
                  <a:latin typeface="Calibri"/>
                  <a:ea typeface="Microsoft YaHei"/>
                  <a:cs typeface="Calibri"/>
                </a:defRPr>
              </a:pPr>
              <a:endParaRPr lang="en-US"/>
            </a:p>
          </c:txPr>
          <c:dLblPos val="outEnd"/>
          <c:showLegendKey val="0"/>
          <c:showVal val="1"/>
          <c:showCatName val="0"/>
          <c:showSerName val="0"/>
          <c:showPercent val="0"/>
          <c:showBubbleSize val="0"/>
          <c:showLeaderLines val="0"/>
        </c:dLbls>
        <c:gapWidth val="83"/>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320"/>
          <c:min val="0"/>
        </c:scaling>
        <c:delete val="0"/>
        <c:axPos val="b"/>
        <c:majorGridlines>
          <c:spPr>
            <a:ln w="6350" cap="flat" cmpd="sng" algn="ctr">
              <a:solidFill>
                <a:srgbClr val="E6E0D4"/>
              </a:solidFill>
              <a:round/>
            </a:ln>
          </c:spPr>
        </c:majorGridlines>
        <c:title>
          <c:tx>
            <c:rich>
              <a:bodyPr/>
              <a:lstStyle/>
              <a:p>
                <a:pPr/>
                <a:r>
                  <a:rPr lang="en-US" sz="1050">
                    <a:solidFill>
                      <a:srgbClr val="5C6670"/>
                    </a:solidFill>
                    <a:latin typeface="Calibri"/>
                    <a:ea typeface="Microsoft YaHei"/>
                    <a:cs typeface="Calibri"/>
                  </a:rPr>
                  <a:t>Annual management fee revenue, USD m</a:t>
                </a:r>
              </a:p>
            </c:rich>
          </c:tx>
          <c:layout/>
          <c:overlay val="0"/>
        </c:title>
        <c:numFmt formatCode="0" sourceLinked="0"/>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068027336"/>
        <c:crosses val="max"/>
        <c:crossBetween val="between"/>
        <c:majorUnit val="50"/>
      </c:valAx>
      <c:spPr>
        <a:noFill/>
        <a:ln>
          <a:noFill/>
        </a:ln>
      </c:spPr>
    </c:plotArea>
    <c:plotVisOnly val="1"/>
    <c:dispBlanksAs val="gap"/>
  </c:chart>
  <c:spPr>
    <a:noFill/>
    <a:ln>
      <a:noFill/>
    </a:ln>
  </c:spPr>
  <c:txPr>
    <a:bodyPr/>
    <a:lstStyle/>
    <a:p>
      <a:pPr>
        <a:defRPr lang="en-US" sz="1050">
          <a:solidFill>
            <a:srgbClr val="5C6670"/>
          </a:solidFill>
          <a:latin typeface="Calibri"/>
          <a:ea typeface="Microsoft YaHei"/>
          <a:cs typeface="Calibri"/>
        </a:defRPr>
      </a:pPr>
      <a:endParaRPr lang="en-US"/>
    </a:p>
  </c:txPr>
  <c:externalData r:id="rId1">
    <c:autoUpdate val="0"/>
  </c:externalData>
</c:chartSpace>
</file>

<file path=ppt/charts/chart20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OPERF commitments to TPG funds, $m</a:t>
            </a:r>
          </a:p>
        </c:rich>
      </c:tx>
      <c:layout/>
      <c:overlay val="0"/>
    </c:title>
    <c:autoTitleDeleted val="0"/>
    <c:plotArea>
      <c:layout>
        <c:manualLayout>
          <c:layoutTarget val="inner"/>
          <c:xMode val="edge"/>
          <c:yMode val="edge"/>
          <c:wMode val="factor"/>
          <c:hMode val="factor"/>
          <c:x val="0.277777777778"/>
          <c:y val="0.22"/>
          <c:w val="0.652777777778"/>
          <c:h val="0.56"/>
        </c:manualLayout>
      </c:layout>
      <c:barChart>
        <c:barDir val="bar"/>
        <c:grouping val="clustered"/>
        <c:varyColors val="1"/>
        <c:ser>
          <c:idx val="0"/>
          <c:order val="0"/>
          <c:tx>
            <c:strRef>
              <c:f>Sheet1!$B$1</c:f>
              <c:strCache>
                <c:ptCount val="1"/>
                <c:pt idx="0">
                  <c:v>Commitment ($m)</c:v>
                </c:pt>
              </c:strCache>
            </c:strRef>
          </c:tx>
          <c:spPr>
            <a:solidFill>
              <a:srgbClr val="4472C4"/>
            </a:solidFill>
            <a:ln>
              <a:solidFill>
                <a:srgbClr val="4472C4"/>
              </a:solidFill>
            </a:ln>
          </c:spPr>
          <c:invertIfNegative val="0"/>
          <c:dPt>
            <c:idx val="0"/>
            <c:invertIfNegative val="0"/>
            <c:spPr>
              <a:solidFill>
                <a:srgbClr val="8AA1AC"/>
              </a:solidFill>
              <a:ln>
                <a:solidFill>
                  <a:srgbClr val="8AA1AC"/>
                </a:solidFill>
              </a:ln>
            </c:spPr>
          </c:dPt>
          <c:dPt>
            <c:idx val="1"/>
            <c:invertIfNegative val="0"/>
            <c:spPr>
              <a:solidFill>
                <a:schemeClr val="accent1"/>
              </a:solidFill>
              <a:ln>
                <a:solidFill>
                  <a:schemeClr val="accent1"/>
                </a:solidFill>
              </a:ln>
            </c:spPr>
          </c:dPt>
          <c:cat>
            <c:strRef>
              <c:f>Sheet1!$A$2:$A$3</c:f>
              <c:strCache>
                <c:ptCount val="2"/>
                <c:pt idx="0">
                  <c:v>Funds II–V (each)</c:v>
                </c:pt>
                <c:pt idx="1">
                  <c:v>Fund VI</c:v>
                </c:pt>
              </c:strCache>
            </c:strRef>
          </c:cat>
          <c:val>
            <c:numRef>
              <c:f>Sheet1!$B$2:$B$3</c:f>
              <c:numCache>
                <c:formatCode>General</c:formatCode>
                <c:ptCount val="2"/>
                <c:pt idx="0">
                  <c:v>300</c:v>
                </c:pt>
                <c:pt idx="1">
                  <c:v>750</c:v>
                </c:pt>
              </c:numCache>
            </c:numRef>
          </c:val>
        </c:ser>
        <c:dLbls>
          <c:numFmt formatCode="0" sourceLinked="0"/>
          <c:txPr>
            <a:bodyPr/>
            <a:lstStyle/>
            <a:p>
              <a:pPr>
                <a:defRPr lang="en-US" sz="1350">
                  <a:solidFill>
                    <a:schemeClr val="accent1"/>
                  </a:solidFill>
                  <a:latin typeface="Calibri"/>
                  <a:ea typeface="Microsoft YaHei"/>
                  <a:cs typeface="Calibri"/>
                </a:defRPr>
              </a:pPr>
              <a:endParaRPr lang="en-US"/>
            </a:p>
          </c:txPr>
          <c:dLblPos val="outEnd"/>
          <c:showLegendKey val="0"/>
          <c:showVal val="1"/>
          <c:showCatName val="0"/>
          <c:showSerName val="0"/>
          <c:showPercent val="0"/>
          <c:showBubbleSize val="0"/>
          <c:showLeaderLines val="0"/>
        </c:dLbls>
        <c:gapWidth val="75"/>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3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800"/>
          <c:min val="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350">
                <a:solidFill>
                  <a:schemeClr val="accent1"/>
                </a:solidFill>
                <a:latin typeface="Calibri"/>
                <a:ea typeface="Microsoft YaHei"/>
                <a:cs typeface="Calibri"/>
              </a:defRPr>
            </a:pPr>
            <a:endParaRPr lang="en-US"/>
          </a:p>
        </c:txPr>
        <c:crossAx val="2068027336"/>
        <c:crosses val="max"/>
        <c:crossBetween val="between"/>
        <c:majorUnit val="200"/>
      </c:valAx>
      <c:spPr>
        <a:noFill/>
        <a:ln>
          <a:noFill/>
        </a:ln>
      </c:spPr>
    </c:plotArea>
    <c:plotVisOnly val="1"/>
    <c:dispBlanksAs val="gap"/>
  </c:chart>
  <c:spPr>
    <a:no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21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Exhibit 7 snapshot, $m</a:t>
            </a:r>
          </a:p>
        </c:rich>
      </c:tx>
      <c:layout/>
      <c:overlay val="0"/>
    </c:title>
    <c:autoTitleDeleted val="0"/>
    <c:plotArea>
      <c:layout>
        <c:manualLayout>
          <c:layoutTarget val="inner"/>
          <c:xMode val="edge"/>
          <c:yMode val="edge"/>
          <c:wMode val="factor"/>
          <c:hMode val="factor"/>
          <c:x val="0.291237113402"/>
          <c:y val="0.19375"/>
          <c:w val="0.69587628866"/>
          <c:h val="0.525"/>
        </c:manualLayout>
      </c:layout>
      <c:barChart>
        <c:barDir val="bar"/>
        <c:grouping val="stacked"/>
        <c:varyColors val="0"/>
        <c:ser>
          <c:idx val="0"/>
          <c:order val="0"/>
          <c:tx>
            <c:strRef>
              <c:f>Sheet1!$B$1</c:f>
              <c:strCache>
                <c:ptCount val="1"/>
                <c:pt idx="0">
                  <c:v>Contributed capital</c:v>
                </c:pt>
              </c:strCache>
            </c:strRef>
          </c:tx>
          <c:spPr>
            <a:solidFill>
              <a:schemeClr val="accent1"/>
            </a:solidFill>
            <a:ln>
              <a:solidFill>
                <a:schemeClr val="accent1"/>
              </a:solidFill>
            </a:ln>
          </c:spPr>
          <c:invertIfNegative val="0"/>
          <c:cat>
            <c:strRef>
              <c:f>Sheet1!$A$2:$A$3</c:f>
              <c:strCache>
                <c:ptCount val="2"/>
                <c:pt idx="0">
                  <c:v>Contributed capital</c:v>
                </c:pt>
                <c:pt idx="1">
                  <c:v>Total value</c:v>
                </c:pt>
              </c:strCache>
            </c:strRef>
          </c:cat>
          <c:val>
            <c:numRef>
              <c:f>Sheet1!$B$2:$B$3</c:f>
              <c:numCache>
                <c:formatCode>General</c:formatCode>
                <c:ptCount val="2"/>
                <c:pt idx="0">
                  <c:v>79.9</c:v>
                </c:pt>
              </c:numCache>
            </c:numRef>
          </c:val>
        </c:ser>
        <c:ser>
          <c:idx val="1"/>
          <c:order val="1"/>
          <c:tx>
            <c:strRef>
              <c:f>Sheet1!$C$1</c:f>
              <c:strCache>
                <c:ptCount val="1"/>
                <c:pt idx="0">
                  <c:v>Distributions</c:v>
                </c:pt>
              </c:strCache>
            </c:strRef>
          </c:tx>
          <c:spPr>
            <a:solidFill>
              <a:schemeClr val="accent1"/>
            </a:solidFill>
            <a:ln>
              <a:solidFill>
                <a:schemeClr val="accent1"/>
              </a:solidFill>
            </a:ln>
          </c:spPr>
          <c:invertIfNegative val="0"/>
          <c:cat>
            <c:strRef>
              <c:f>Sheet1!$A$2:$A$3</c:f>
              <c:strCache>
                <c:ptCount val="2"/>
                <c:pt idx="0">
                  <c:v>Contributed capital</c:v>
                </c:pt>
                <c:pt idx="1">
                  <c:v>Total value</c:v>
                </c:pt>
              </c:strCache>
            </c:strRef>
          </c:cat>
          <c:val>
            <c:numRef>
              <c:f>Sheet1!$C$2:$C$3</c:f>
              <c:numCache>
                <c:formatCode>General</c:formatCode>
                <c:ptCount val="2"/>
                <c:pt idx="1">
                  <c:v>0.6</c:v>
                </c:pt>
              </c:numCache>
            </c:numRef>
          </c:val>
        </c:ser>
        <c:ser>
          <c:idx val="2"/>
          <c:order val="2"/>
          <c:tx>
            <c:strRef>
              <c:f>Sheet1!$D$1</c:f>
              <c:strCache>
                <c:ptCount val="1"/>
                <c:pt idx="0">
                  <c:v>Remaining FMV</c:v>
                </c:pt>
              </c:strCache>
            </c:strRef>
          </c:tx>
          <c:spPr>
            <a:solidFill>
              <a:srgbClr val="8AA1AC"/>
            </a:solidFill>
            <a:ln>
              <a:solidFill>
                <a:srgbClr val="8AA1AC"/>
              </a:solidFill>
            </a:ln>
          </c:spPr>
          <c:invertIfNegative val="0"/>
          <c:cat>
            <c:strRef>
              <c:f>Sheet1!$A$2:$A$3</c:f>
              <c:strCache>
                <c:ptCount val="2"/>
                <c:pt idx="0">
                  <c:v>Contributed capital</c:v>
                </c:pt>
                <c:pt idx="1">
                  <c:v>Total value</c:v>
                </c:pt>
              </c:strCache>
            </c:strRef>
          </c:cat>
          <c:val>
            <c:numRef>
              <c:f>Sheet1!$D$2:$D$3</c:f>
              <c:numCache>
                <c:formatCode>General</c:formatCode>
                <c:ptCount val="2"/>
                <c:pt idx="1">
                  <c:v>47.5</c:v>
                </c:pt>
              </c:numCache>
            </c:numRef>
          </c:val>
        </c:ser>
        <c:gapWidth val="75"/>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3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90"/>
          <c:min val="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350">
                <a:solidFill>
                  <a:schemeClr val="accent1"/>
                </a:solidFill>
                <a:latin typeface="Calibri"/>
                <a:ea typeface="Microsoft YaHei"/>
                <a:cs typeface="Calibri"/>
              </a:defRPr>
            </a:pPr>
            <a:endParaRPr lang="en-US"/>
          </a:p>
        </c:txPr>
        <c:crossAx val="2068027336"/>
        <c:crosses val="max"/>
        <c:crossBetween val="between"/>
        <c:majorUnit val="30"/>
      </c:valAx>
      <c:spPr>
        <a:noFill/>
        <a:ln>
          <a:noFill/>
        </a:ln>
      </c:spPr>
    </c:plotArea>
    <c:plotVisOnly val="1"/>
    <c:dispBlanksAs val="gap"/>
  </c:chart>
  <c:spPr>
    <a:no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23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rgbClr val="5C6670"/>
                </a:solidFill>
                <a:latin typeface="Calibri"/>
                <a:ea typeface="Microsoft YaHei"/>
                <a:cs typeface="Calibri"/>
              </a:rPr>
              <a:t>Net LP cash flow by cash-flow date, $bn</a:t>
            </a:r>
          </a:p>
        </c:rich>
      </c:tx>
      <c:layout/>
      <c:overlay val="0"/>
    </c:title>
    <c:autoTitleDeleted val="0"/>
    <c:plotArea>
      <c:layout>
        <c:manualLayout>
          <c:layoutTarget val="inner"/>
          <c:xMode val="edge"/>
          <c:yMode val="edge"/>
          <c:wMode val="factor"/>
          <c:hMode val="factor"/>
          <c:x val="0.07"/>
          <c:y val="0.0818181818182"/>
          <c:w val="0.9"/>
          <c:h val="0.681818181818"/>
        </c:manualLayout>
      </c:layout>
      <c:barChart>
        <c:barDir val="col"/>
        <c:grouping val="clustered"/>
        <c:varyColors val="1"/>
        <c:ser>
          <c:idx val="0"/>
          <c:order val="0"/>
          <c:tx>
            <c:strRef>
              <c:f>Sheet1!$B$1</c:f>
              <c:strCache>
                <c:ptCount val="1"/>
                <c:pt idx="0">
                  <c:v>Net LP cash flow ($bn)</c:v>
                </c:pt>
              </c:strCache>
            </c:strRef>
          </c:tx>
          <c:spPr>
            <a:solidFill>
              <a:srgbClr val="4472C4"/>
            </a:solidFill>
            <a:ln>
              <a:solidFill>
                <a:srgbClr val="4472C4"/>
              </a:solidFill>
            </a:ln>
          </c:spPr>
          <c:invertIfNegative val="0"/>
          <c:dPt>
            <c:idx val="0"/>
            <c:invertIfNegative val="0"/>
            <c:spPr>
              <a:solidFill>
                <a:srgbClr val="8AA1AC"/>
              </a:solidFill>
              <a:ln>
                <a:solidFill>
                  <a:srgbClr val="8AA1AC"/>
                </a:solidFill>
              </a:ln>
            </c:spPr>
          </c:dPt>
          <c:dPt>
            <c:idx val="1"/>
            <c:invertIfNegative val="0"/>
            <c:spPr>
              <a:solidFill>
                <a:srgbClr val="8AA1AC"/>
              </a:solidFill>
              <a:ln>
                <a:solidFill>
                  <a:srgbClr val="8AA1AC"/>
                </a:solidFill>
              </a:ln>
            </c:spPr>
          </c:dPt>
          <c:dPt>
            <c:idx val="2"/>
            <c:invertIfNegative val="0"/>
            <c:spPr>
              <a:solidFill>
                <a:srgbClr val="8AA1AC"/>
              </a:solidFill>
              <a:ln>
                <a:solidFill>
                  <a:srgbClr val="8AA1AC"/>
                </a:solidFill>
              </a:ln>
            </c:spPr>
          </c:dPt>
          <c:dPt>
            <c:idx val="3"/>
            <c:invertIfNegative val="0"/>
            <c:spPr>
              <a:solidFill>
                <a:srgbClr val="8AA1AC"/>
              </a:solidFill>
              <a:ln>
                <a:solidFill>
                  <a:srgbClr val="8AA1AC"/>
                </a:solidFill>
              </a:ln>
            </c:spPr>
          </c:dPt>
          <c:dPt>
            <c:idx val="4"/>
            <c:invertIfNegative val="0"/>
            <c:spPr>
              <a:solidFill>
                <a:srgbClr val="8AA1AC"/>
              </a:solidFill>
              <a:ln>
                <a:solidFill>
                  <a:srgbClr val="8AA1AC"/>
                </a:solidFill>
              </a:ln>
            </c:spPr>
          </c:dPt>
          <c:dPt>
            <c:idx val="5"/>
            <c:invertIfNegative val="0"/>
            <c:spPr>
              <a:solidFill>
                <a:srgbClr val="4B7086"/>
              </a:solidFill>
              <a:ln>
                <a:solidFill>
                  <a:srgbClr val="4B7086"/>
                </a:solidFill>
              </a:ln>
            </c:spPr>
          </c:dPt>
          <c:dPt>
            <c:idx val="6"/>
            <c:invertIfNegative val="0"/>
            <c:spPr>
              <a:solidFill>
                <a:srgbClr val="4B7086"/>
              </a:solidFill>
              <a:ln>
                <a:solidFill>
                  <a:srgbClr val="4B7086"/>
                </a:solidFill>
              </a:ln>
            </c:spPr>
          </c:dPt>
          <c:dPt>
            <c:idx val="7"/>
            <c:invertIfNegative val="0"/>
            <c:spPr>
              <a:solidFill>
                <a:srgbClr val="4B7086"/>
              </a:solidFill>
              <a:ln>
                <a:solidFill>
                  <a:srgbClr val="4B7086"/>
                </a:solidFill>
              </a:ln>
            </c:spPr>
          </c:dPt>
          <c:dPt>
            <c:idx val="8"/>
            <c:invertIfNegative val="0"/>
            <c:spPr>
              <a:solidFill>
                <a:srgbClr val="4B7086"/>
              </a:solidFill>
              <a:ln>
                <a:solidFill>
                  <a:srgbClr val="4B7086"/>
                </a:solidFill>
              </a:ln>
            </c:spPr>
          </c:dPt>
          <c:dPt>
            <c:idx val="9"/>
            <c:invertIfNegative val="0"/>
            <c:spPr>
              <a:solidFill>
                <a:srgbClr val="4B7086"/>
              </a:solidFill>
              <a:ln>
                <a:solidFill>
                  <a:srgbClr val="4B7086"/>
                </a:solidFill>
              </a:ln>
            </c:spPr>
          </c:dPt>
          <c:dPt>
            <c:idx val="10"/>
            <c:invertIfNegative val="0"/>
            <c:spPr>
              <a:solidFill>
                <a:schemeClr val="accent1"/>
              </a:solidFill>
              <a:ln>
                <a:solidFill>
                  <a:schemeClr val="accent1"/>
                </a:solidFill>
              </a:ln>
            </c:spPr>
          </c:dPt>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Sheet1!$B$2:$B$12</c:f>
              <c:numCache>
                <c:formatCode>General</c:formatCode>
                <c:ptCount val="11"/>
                <c:pt idx="0">
                  <c:v>-4</c:v>
                </c:pt>
                <c:pt idx="1">
                  <c:v>-4</c:v>
                </c:pt>
                <c:pt idx="2">
                  <c:v>-4</c:v>
                </c:pt>
                <c:pt idx="3">
                  <c:v>-4</c:v>
                </c:pt>
                <c:pt idx="4">
                  <c:v>-4</c:v>
                </c:pt>
                <c:pt idx="5">
                  <c:v>6.6081408</c:v>
                </c:pt>
                <c:pt idx="6">
                  <c:v>6.271815168</c:v>
                </c:pt>
                <c:pt idx="7">
                  <c:v>5.948942561</c:v>
                </c:pt>
                <c:pt idx="8">
                  <c:v>4.745408181</c:v>
                </c:pt>
                <c:pt idx="9">
                  <c:v>4.273140372</c:v>
                </c:pt>
                <c:pt idx="10">
                  <c:v>20.223073784</c:v>
                </c:pt>
              </c:numCache>
            </c:numRef>
          </c:val>
        </c:ser>
        <c:gapWidth val="64"/>
        <c:axId val="2068027336"/>
        <c:axId val="2113994440"/>
      </c:barChart>
      <c:catAx>
        <c:axId val="2068027336"/>
        <c:scaling>
          <c:orientation val="minMax"/>
        </c:scaling>
        <c:delete val="0"/>
        <c:axPos val="b"/>
        <c:title>
          <c:tx>
            <c:rich>
              <a:bodyPr/>
              <a:lstStyle/>
              <a:p>
                <a:pPr/>
                <a:r>
                  <a:rPr lang="en-US" sz="1050">
                    <a:solidFill>
                      <a:srgbClr val="5C6670"/>
                    </a:solidFill>
                    <a:latin typeface="Calibri"/>
                    <a:ea typeface="Microsoft YaHei"/>
                    <a:cs typeface="Calibri"/>
                  </a:rPr>
                  <a:t>Cash-flow date t (t = 0 is the start of Year 1)</a:t>
                </a:r>
              </a:p>
            </c:rich>
          </c:tx>
          <c:layout/>
          <c:overlay val="0"/>
        </c:title>
        <c:majorTickMark val="none"/>
        <c:minorTickMark val="none"/>
        <c:tickLblPos val="low"/>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25"/>
          <c:min val="-5"/>
        </c:scaling>
        <c:delete val="0"/>
        <c:axPos val="l"/>
        <c:majorGridlines>
          <c:spPr>
            <a:ln w="6350" cap="flat" cmpd="sng" algn="ctr">
              <a:solidFill>
                <a:srgbClr val="E6E0D4"/>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068027336"/>
        <c:crosses val="autoZero"/>
        <c:crossBetween val="between"/>
        <c:majorUnit val="5"/>
      </c:valAx>
      <c:spPr>
        <a:noFill/>
        <a:ln>
          <a:noFill/>
        </a:ln>
      </c:spPr>
    </c:plotArea>
    <c:plotVisOnly val="1"/>
    <c:dispBlanksAs val="gap"/>
  </c:chart>
  <c:spPr>
    <a:noFill/>
    <a:ln>
      <a:noFill/>
    </a:ln>
  </c:spPr>
  <c:txPr>
    <a:bodyPr/>
    <a:lstStyle/>
    <a:p>
      <a:pPr>
        <a:defRPr lang="en-US" sz="1050">
          <a:solidFill>
            <a:srgbClr val="5C6670"/>
          </a:solidFill>
          <a:latin typeface="Calibri"/>
          <a:ea typeface="Microsoft YaHei"/>
          <a:cs typeface="Calibri"/>
        </a:defRPr>
      </a:pPr>
      <a:endParaRPr lang="en-US"/>
    </a:p>
  </c:txPr>
  <c:externalData r:id="rId1">
    <c:autoUpdate val="0"/>
  </c:externalData>
</c:chartSpace>
</file>

<file path=ppt/charts/chart24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
          <c:y val="0.27"/>
          <c:w val="0.965277777778"/>
          <c:h val="0.46"/>
        </c:manualLayout>
      </c:layout>
      <c:barChart>
        <c:barDir val="bar"/>
        <c:grouping val="stacked"/>
        <c:varyColors val="0"/>
        <c:ser>
          <c:idx val="0"/>
          <c:order val="0"/>
          <c:tx>
            <c:strRef>
              <c:f>Sheet1!$B$1</c:f>
              <c:strCache>
                <c:ptCount val="1"/>
                <c:pt idx="0">
                  <c:v>Capital invested</c:v>
                </c:pt>
              </c:strCache>
            </c:strRef>
          </c:tx>
          <c:spPr>
            <a:solidFill>
              <a:schemeClr val="accent1"/>
            </a:solidFill>
            <a:ln>
              <a:solidFill>
                <a:schemeClr val="accent1"/>
              </a:solidFill>
            </a:ln>
          </c:spPr>
          <c:invertIfNegative val="0"/>
          <c:cat>
            <c:strRef>
              <c:f>Sheet1!$A$2:$A$2</c:f>
              <c:strCache>
                <c:ptCount val="1"/>
                <c:pt idx="0">
                  <c:v>First capital call: $4,000m</c:v>
                </c:pt>
              </c:strCache>
            </c:strRef>
          </c:cat>
          <c:val>
            <c:numRef>
              <c:f>Sheet1!$B$2:$B$2</c:f>
              <c:numCache>
                <c:formatCode>General</c:formatCode>
                <c:ptCount val="1"/>
                <c:pt idx="0">
                  <c:v>3700</c:v>
                </c:pt>
              </c:numCache>
            </c:numRef>
          </c:val>
        </c:ser>
        <c:ser>
          <c:idx val="1"/>
          <c:order val="1"/>
          <c:tx>
            <c:strRef>
              <c:f>Sheet1!$C$1</c:f>
              <c:strCache>
                <c:ptCount val="1"/>
                <c:pt idx="0">
                  <c:v>Management fee</c:v>
                </c:pt>
              </c:strCache>
            </c:strRef>
          </c:tx>
          <c:spPr>
            <a:solidFill>
              <a:schemeClr val="accent3"/>
            </a:solidFill>
            <a:ln>
              <a:solidFill>
                <a:schemeClr val="accent3"/>
              </a:solidFill>
            </a:ln>
          </c:spPr>
          <c:invertIfNegative val="0"/>
          <c:cat>
            <c:strRef>
              <c:f>Sheet1!$A$2:$A$2</c:f>
              <c:strCache>
                <c:ptCount val="1"/>
                <c:pt idx="0">
                  <c:v>First capital call: $4,000m</c:v>
                </c:pt>
              </c:strCache>
            </c:strRef>
          </c:cat>
          <c:val>
            <c:numRef>
              <c:f>Sheet1!$C$2:$C$2</c:f>
              <c:numCache>
                <c:formatCode>General</c:formatCode>
                <c:ptCount val="1"/>
                <c:pt idx="0">
                  <c:v>300</c:v>
                </c:pt>
              </c:numCache>
            </c:numRef>
          </c:val>
        </c:ser>
        <c:gapWidth val="40"/>
        <c:overlap val="100"/>
        <c:axId val="2068027336"/>
        <c:axId val="2113994440"/>
      </c:barChart>
      <c:catAx>
        <c:axId val="2068027336"/>
        <c:scaling>
          <c:orientation val="maxMin"/>
        </c:scaling>
        <c:delete val="1"/>
        <c:axPos val="l"/>
        <c:majorTickMark val="none"/>
        <c:minorTickMark val="none"/>
        <c:tickLblPos val="nextTo"/>
        <c:spPr>
          <a:ln w="9525" cap="flat" cmpd="sng" algn="ctr">
            <a:solidFill>
              <a:schemeClr val="accent1"/>
            </a:solidFill>
            <a:round/>
          </a:ln>
        </c:spPr>
        <c:txPr>
          <a:bodyPr/>
          <a:lstStyle/>
          <a:p>
            <a:pPr>
              <a:defRPr lang="en-US" sz="13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4000"/>
          <c:min val="0"/>
        </c:scaling>
        <c:delete val="1"/>
        <c:axPos val="b"/>
        <c:majorGridlines>
          <c:spPr>
            <a:ln w="6350" cap="flat" cmpd="sng" algn="ctr">
              <a:solidFill>
                <a:srgbClr val="D9DED8"/>
              </a:solidFill>
              <a:round/>
            </a:ln>
          </c:spPr>
        </c:majorGridlines>
        <c:majorTickMark val="none"/>
        <c:minorTickMark val="none"/>
        <c:tickLblPos val="nextTo"/>
        <c:spPr>
          <a:ln w="9525" cap="flat" cmpd="sng" algn="ctr">
            <a:solidFill>
              <a:schemeClr val="accent1"/>
            </a:solidFill>
            <a:round/>
          </a:ln>
        </c:spPr>
        <c:txPr>
          <a:bodyPr/>
          <a:lstStyle/>
          <a:p>
            <a:pPr>
              <a:defRPr lang="en-US" sz="1350">
                <a:solidFill>
                  <a:schemeClr val="accent1"/>
                </a:solidFill>
                <a:latin typeface="Calibri"/>
                <a:ea typeface="Microsoft YaHei"/>
                <a:cs typeface="Calibri"/>
              </a:defRPr>
            </a:pPr>
            <a:endParaRPr lang="en-US"/>
          </a:p>
        </c:txPr>
        <c:crossAx val="2068027336"/>
        <c:crosses val="max"/>
        <c:crossBetween val="between"/>
      </c:valAx>
      <c:spPr>
        <a:noFill/>
        <a:ln>
          <a:noFill/>
        </a:ln>
      </c:spPr>
    </c:plotArea>
    <c:plotVisOnly val="1"/>
    <c:dispBlanksAs val="gap"/>
  </c:chart>
  <c:spPr>
    <a:solidFill>
      <a:schemeClr val="accent1"/>
    </a:solid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25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
          <c:y val="0.448717948718"/>
          <c:w val="0.965277777778"/>
          <c:h val="0.551282051282"/>
        </c:manualLayout>
      </c:layout>
      <c:barChart>
        <c:barDir val="bar"/>
        <c:grouping val="stacked"/>
        <c:varyColors val="0"/>
        <c:ser>
          <c:idx val="0"/>
          <c:order val="0"/>
          <c:tx>
            <c:strRef>
              <c:f>Sheet1!$B$1</c:f>
              <c:strCache>
                <c:ptCount val="1"/>
                <c:pt idx="0">
                  <c:v>Returned capital</c:v>
                </c:pt>
              </c:strCache>
            </c:strRef>
          </c:tx>
          <c:spPr>
            <a:solidFill>
              <a:srgbClr val="8AA1AC"/>
            </a:solidFill>
            <a:ln>
              <a:solidFill>
                <a:srgbClr val="8AA1AC"/>
              </a:solidFill>
            </a:ln>
          </c:spPr>
          <c:invertIfNegative val="0"/>
          <c:cat>
            <c:strRef>
              <c:f>Sheet1!$A$2:$A$2</c:f>
              <c:strCache>
                <c:ptCount val="1"/>
                <c:pt idx="0">
                  <c:v>Year 8 gross distribution: $5.639bn</c:v>
                </c:pt>
              </c:strCache>
            </c:strRef>
          </c:cat>
          <c:val>
            <c:numRef>
              <c:f>Sheet1!$B$2:$B$2</c:f>
              <c:numCache>
                <c:formatCode>General</c:formatCode>
                <c:ptCount val="1"/>
                <c:pt idx="0">
                  <c:v>1171.101471</c:v>
                </c:pt>
              </c:numCache>
            </c:numRef>
          </c:val>
        </c:ser>
        <c:ser>
          <c:idx val="1"/>
          <c:order val="1"/>
          <c:tx>
            <c:strRef>
              <c:f>Sheet1!$C$1</c:f>
              <c:strCache>
                <c:ptCount val="1"/>
                <c:pt idx="0">
                  <c:v>LP profit</c:v>
                </c:pt>
              </c:strCache>
            </c:strRef>
          </c:tx>
          <c:spPr>
            <a:solidFill>
              <a:schemeClr val="accent1"/>
            </a:solidFill>
            <a:ln>
              <a:solidFill>
                <a:schemeClr val="accent1"/>
              </a:solidFill>
            </a:ln>
          </c:spPr>
          <c:invertIfNegative val="0"/>
          <c:cat>
            <c:strRef>
              <c:f>Sheet1!$A$2:$A$2</c:f>
              <c:strCache>
                <c:ptCount val="1"/>
                <c:pt idx="0">
                  <c:v>Year 8 gross distribution: $5.639bn</c:v>
                </c:pt>
              </c:strCache>
            </c:strRef>
          </c:cat>
          <c:val>
            <c:numRef>
              <c:f>Sheet1!$C$2:$C$2</c:f>
              <c:numCache>
                <c:formatCode>General</c:formatCode>
                <c:ptCount val="1"/>
                <c:pt idx="0">
                  <c:v>3574.30671</c:v>
                </c:pt>
              </c:numCache>
            </c:numRef>
          </c:val>
        </c:ser>
        <c:ser>
          <c:idx val="2"/>
          <c:order val="2"/>
          <c:tx>
            <c:strRef>
              <c:f>Sheet1!$D$1</c:f>
              <c:strCache>
                <c:ptCount val="1"/>
                <c:pt idx="0">
                  <c:v>GP carry</c:v>
                </c:pt>
              </c:strCache>
            </c:strRef>
          </c:tx>
          <c:spPr>
            <a:solidFill>
              <a:schemeClr val="accent2"/>
            </a:solidFill>
            <a:ln>
              <a:solidFill>
                <a:schemeClr val="accent2"/>
              </a:solidFill>
            </a:ln>
          </c:spPr>
          <c:invertIfNegative val="0"/>
          <c:cat>
            <c:strRef>
              <c:f>Sheet1!$A$2:$A$2</c:f>
              <c:strCache>
                <c:ptCount val="1"/>
                <c:pt idx="0">
                  <c:v>Year 8 gross distribution: $5.639bn</c:v>
                </c:pt>
              </c:strCache>
            </c:strRef>
          </c:cat>
          <c:val>
            <c:numRef>
              <c:f>Sheet1!$D$2:$D$2</c:f>
              <c:numCache>
                <c:formatCode>General</c:formatCode>
                <c:ptCount val="1"/>
                <c:pt idx="0">
                  <c:v>893.576678</c:v>
                </c:pt>
              </c:numCache>
            </c:numRef>
          </c:val>
        </c:ser>
        <c:gapWidth val="40"/>
        <c:overlap val="100"/>
        <c:axId val="2068027336"/>
        <c:axId val="2113994440"/>
      </c:barChart>
      <c:catAx>
        <c:axId val="2068027336"/>
        <c:scaling>
          <c:orientation val="maxMin"/>
        </c:scaling>
        <c:delete val="1"/>
        <c:axPos val="l"/>
        <c:majorTickMark val="none"/>
        <c:minorTickMark val="none"/>
        <c:tickLblPos val="nextTo"/>
        <c:spPr>
          <a:ln w="9525" cap="flat" cmpd="sng" algn="ctr">
            <a:solidFill>
              <a:schemeClr val="accent1"/>
            </a:solidFill>
            <a:round/>
          </a:ln>
        </c:spPr>
        <c:txPr>
          <a:bodyPr/>
          <a:lstStyle/>
          <a:p>
            <a:pPr>
              <a:defRPr lang="en-US" sz="13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5638.984859"/>
          <c:min val="0"/>
        </c:scaling>
        <c:delete val="1"/>
        <c:axPos val="b"/>
        <c:majorGridlines>
          <c:spPr>
            <a:ln w="6350" cap="flat" cmpd="sng" algn="ctr">
              <a:solidFill>
                <a:srgbClr val="D9DED8"/>
              </a:solidFill>
              <a:round/>
            </a:ln>
          </c:spPr>
        </c:majorGridlines>
        <c:majorTickMark val="none"/>
        <c:minorTickMark val="none"/>
        <c:tickLblPos val="nextTo"/>
        <c:spPr>
          <a:ln w="9525" cap="flat" cmpd="sng" algn="ctr">
            <a:solidFill>
              <a:schemeClr val="accent1"/>
            </a:solidFill>
            <a:round/>
          </a:ln>
        </c:spPr>
        <c:txPr>
          <a:bodyPr/>
          <a:lstStyle/>
          <a:p>
            <a:pPr>
              <a:defRPr lang="en-US" sz="1350">
                <a:solidFill>
                  <a:schemeClr val="accent1"/>
                </a:solidFill>
                <a:latin typeface="Calibri"/>
                <a:ea typeface="Microsoft YaHei"/>
                <a:cs typeface="Calibri"/>
              </a:defRPr>
            </a:pPr>
            <a:endParaRPr lang="en-US"/>
          </a:p>
        </c:txPr>
        <c:crossAx val="2068027336"/>
        <c:crosses val="max"/>
        <c:crossBetween val="between"/>
      </c:valAx>
      <c:spPr>
        <a:noFill/>
        <a:ln>
          <a:noFill/>
        </a:ln>
      </c:spPr>
    </c:plotArea>
    <c:plotVisOnly val="1"/>
    <c:dispBlanksAs val="gap"/>
  </c:chart>
  <c:spPr>
    <a:solidFill>
      <a:schemeClr val="accent1"/>
    </a:solid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29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204861111111"/>
          <c:y val="0.233333333333"/>
          <c:w val="0.694444444444"/>
          <c:h val="0.56"/>
        </c:manualLayout>
      </c:layout>
      <c:barChart>
        <c:barDir val="bar"/>
        <c:grouping val="percentStacked"/>
        <c:varyColors val="0"/>
        <c:ser>
          <c:idx val="0"/>
          <c:order val="0"/>
          <c:tx>
            <c:strRef>
              <c:f>Sheet1!$B$1</c:f>
              <c:strCache>
                <c:ptCount val="1"/>
                <c:pt idx="0">
                  <c:v>Management fees</c:v>
                </c:pt>
              </c:strCache>
            </c:strRef>
          </c:tx>
          <c:spPr>
            <a:solidFill>
              <a:schemeClr val="accent3"/>
            </a:solidFill>
            <a:ln>
              <a:solidFill>
                <a:schemeClr val="accent3"/>
              </a:solidFill>
            </a:ln>
          </c:spPr>
          <c:invertIfNegative val="0"/>
          <c:cat>
            <c:strRef>
              <c:f>Sheet1!$A$2:$A$3</c:f>
              <c:strCache>
                <c:ptCount val="2"/>
                <c:pt idx="0">
                  <c:v>Nominal receipts</c:v>
                </c:pt>
                <c:pt idx="1">
                  <c:v>Present value at 15%</c:v>
                </c:pt>
              </c:strCache>
            </c:strRef>
          </c:cat>
          <c:val>
            <c:numRef>
              <c:f>Sheet1!$B$2:$B$3</c:f>
              <c:numCache>
                <c:formatCode>General</c:formatCode>
                <c:ptCount val="2"/>
                <c:pt idx="0">
                  <c:v>3000</c:v>
                </c:pt>
                <c:pt idx="1">
                  <c:v>1731.475176</c:v>
                </c:pt>
              </c:numCache>
            </c:numRef>
          </c:val>
        </c:ser>
        <c:ser>
          <c:idx val="1"/>
          <c:order val="1"/>
          <c:tx>
            <c:strRef>
              <c:f>Sheet1!$C$1</c:f>
              <c:strCache>
                <c:ptCount val="1"/>
                <c:pt idx="0">
                  <c:v>Carry</c:v>
                </c:pt>
              </c:strCache>
            </c:strRef>
          </c:tx>
          <c:spPr>
            <a:solidFill>
              <a:schemeClr val="accent2"/>
            </a:solidFill>
            <a:ln>
              <a:solidFill>
                <a:schemeClr val="accent2"/>
              </a:solidFill>
            </a:ln>
          </c:spPr>
          <c:invertIfNegative val="0"/>
          <c:cat>
            <c:strRef>
              <c:f>Sheet1!$A$2:$A$3</c:f>
              <c:strCache>
                <c:ptCount val="2"/>
                <c:pt idx="0">
                  <c:v>Nominal receipts</c:v>
                </c:pt>
                <c:pt idx="1">
                  <c:v>Present value at 15%</c:v>
                </c:pt>
              </c:strCache>
            </c:strRef>
          </c:cat>
          <c:val>
            <c:numRef>
              <c:f>Sheet1!$C$2:$C$3</c:f>
              <c:numCache>
                <c:formatCode>General</c:formatCode>
                <c:ptCount val="2"/>
                <c:pt idx="0">
                  <c:v>7017.630216</c:v>
                </c:pt>
                <c:pt idx="1">
                  <c:v>1845.493736</c:v>
                </c:pt>
              </c:numCache>
            </c:numRef>
          </c:val>
        </c:ser>
        <c:gapWidth val="75"/>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chemeClr val="accent1"/>
            </a:solidFill>
            <a:round/>
          </a:ln>
        </c:spPr>
        <c:txPr>
          <a:bodyPr/>
          <a:lstStyle/>
          <a:p>
            <a:pPr>
              <a:defRPr lang="en-US" sz="13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scaling>
        <c:delete val="1"/>
        <c:axPos val="b"/>
        <c:majorGridlines>
          <c:spPr>
            <a:ln w="6350" cap="flat" cmpd="sng" algn="ctr">
              <a:solidFill>
                <a:srgbClr val="D9DED8"/>
              </a:solidFill>
              <a:round/>
            </a:ln>
          </c:spPr>
        </c:majorGridlines>
        <c:numFmt formatCode="0%" sourceLinked="0"/>
        <c:majorTickMark val="none"/>
        <c:minorTickMark val="none"/>
        <c:tickLblPos val="nextTo"/>
        <c:spPr>
          <a:ln w="9525" cap="flat" cmpd="sng" algn="ctr">
            <a:solidFill>
              <a:schemeClr val="accent1"/>
            </a:solidFill>
            <a:round/>
          </a:ln>
        </c:spPr>
        <c:txPr>
          <a:bodyPr/>
          <a:lstStyle/>
          <a:p>
            <a:pPr>
              <a:defRPr lang="en-US" sz="1350">
                <a:solidFill>
                  <a:schemeClr val="accent1"/>
                </a:solidFill>
                <a:latin typeface="Calibri"/>
                <a:ea typeface="Microsoft YaHei"/>
                <a:cs typeface="Calibri"/>
              </a:defRPr>
            </a:pPr>
            <a:endParaRPr lang="en-US"/>
          </a:p>
        </c:txPr>
        <c:crossAx val="2068027336"/>
        <c:crosses val="max"/>
        <c:crossBetween val="between"/>
      </c:valAx>
      <c:spPr>
        <a:noFill/>
        <a:ln>
          <a:noFill/>
        </a:ln>
      </c:spPr>
    </c:plotArea>
    <c:legend>
      <c:legendPos val="t"/>
      <c:layout/>
      <c:overlay val="0"/>
      <c:txPr>
        <a:bodyPr/>
        <a:lstStyle/>
        <a:p>
          <a:pPr>
            <a:defRPr lang="en-US" sz="1350">
              <a:solidFill>
                <a:schemeClr val="accent1"/>
              </a:solidFill>
              <a:latin typeface="Calibri"/>
              <a:ea typeface="Microsoft YaHei"/>
              <a:cs typeface="Calibri"/>
            </a:defRPr>
          </a:pPr>
          <a:endParaRPr lang="en-US"/>
        </a:p>
      </c:txPr>
    </c:legend>
    <c:plotVisOnly val="1"/>
    <c:dispBlanksAs val="gap"/>
  </c:chart>
  <c:spPr>
    <a:noFill/>
    <a:ln>
      <a:noFill/>
    </a:ln>
  </c:spPr>
  <c:txPr>
    <a:bodyPr/>
    <a:lstStyle/>
    <a:p>
      <a:pPr>
        <a:defRPr lang="en-US" sz="1350">
          <a:solidFill>
            <a:schemeClr val="accent1"/>
          </a:solidFill>
          <a:latin typeface="Calibri"/>
          <a:ea typeface="Microsoft YaHei"/>
          <a:cs typeface="Calibri"/>
        </a:defRPr>
      </a:pPr>
      <a:endParaRPr lang="en-US"/>
    </a:p>
  </c:txPr>
  <c:externalData r:id="rId1">
    <c:autoUpdate val="0"/>
  </c:externalData>
</c:chartSpace>
</file>

<file path=ppt/charts/chart30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LP IRR by asset growth</a:t>
            </a:r>
          </a:p>
        </c:rich>
      </c:tx>
      <c:layout/>
      <c:overlay val="0"/>
    </c:title>
    <c:autoTitleDeleted val="0"/>
    <c:plotArea>
      <c:layout>
        <c:manualLayout>
          <c:layoutTarget val="inner"/>
          <c:xMode val="edge"/>
          <c:yMode val="edge"/>
          <c:wMode val="factor"/>
          <c:hMode val="factor"/>
          <c:x val="0.196296296296"/>
          <c:y val="0.233333333333"/>
          <c:w val="0.685185185185"/>
          <c:h val="0.616666666667"/>
        </c:manualLayout>
      </c:layout>
      <c:barChart>
        <c:barDir val="bar"/>
        <c:grouping val="clustered"/>
        <c:varyColors val="0"/>
        <c:ser>
          <c:idx val="0"/>
          <c:order val="0"/>
          <c:tx>
            <c:strRef>
              <c:f>Sheet1!$B$1</c:f>
              <c:strCache>
                <c:ptCount val="1"/>
                <c:pt idx="0">
                  <c:v>LP IRR</c:v>
                </c:pt>
              </c:strCache>
            </c:strRef>
          </c:tx>
          <c:spPr>
            <a:solidFill>
              <a:schemeClr val="accent1"/>
            </a:solidFill>
            <a:ln>
              <a:solidFill>
                <a:schemeClr val="accent1"/>
              </a:solidFill>
            </a:ln>
          </c:spPr>
          <c:invertIfNegative val="0"/>
          <c:cat>
            <c:strRef>
              <c:f>Sheet1!$A$2:$A$4</c:f>
              <c:strCache>
                <c:ptCount val="3"/>
                <c:pt idx="0">
                  <c:v>0%</c:v>
                </c:pt>
                <c:pt idx="1">
                  <c:v>10%</c:v>
                </c:pt>
                <c:pt idx="2">
                  <c:v>20%</c:v>
                </c:pt>
              </c:strCache>
            </c:strRef>
          </c:cat>
          <c:val>
            <c:numRef>
              <c:f>Sheet1!$B$2:$B$4</c:f>
              <c:numCache>
                <c:formatCode>General</c:formatCode>
                <c:ptCount val="3"/>
                <c:pt idx="0">
                  <c:v>-2.8741</c:v>
                </c:pt>
                <c:pt idx="1">
                  <c:v>6.4191</c:v>
                </c:pt>
                <c:pt idx="2">
                  <c:v>15.7226</c:v>
                </c:pt>
              </c:numCache>
            </c:numRef>
          </c:val>
        </c:ser>
        <c:dLbls>
          <c:numFmt formatCode="0.00&quot;%&quot;" sourceLinked="0"/>
          <c:txPr>
            <a:bodyPr/>
            <a:lstStyle/>
            <a:p>
              <a:pPr>
                <a:defRPr lang="en-US" sz="1050">
                  <a:solidFill>
                    <a:schemeClr val="accent1"/>
                  </a:solidFill>
                  <a:latin typeface="Calibri"/>
                  <a:ea typeface="Microsoft YaHei"/>
                  <a:cs typeface="Calibri"/>
                </a:defRPr>
              </a:pPr>
              <a:endParaRPr lang="en-US"/>
            </a:p>
          </c:txPr>
          <c:dLblPos val="outEnd"/>
          <c:showLegendKey val="0"/>
          <c:showVal val="1"/>
          <c:showCatName val="0"/>
          <c:showSerName val="0"/>
          <c:showPercent val="0"/>
          <c:showBubbleSize val="0"/>
          <c:showLeaderLines val="0"/>
        </c:dLbls>
        <c:gapWidth val="54"/>
        <c:axId val="2068027336"/>
        <c:axId val="2113994440"/>
      </c:barChart>
      <c:catAx>
        <c:axId val="2068027336"/>
        <c:scaling>
          <c:orientation val="maxMin"/>
        </c:scaling>
        <c:delete val="0"/>
        <c:axPos val="l"/>
        <c:majorTickMark val="none"/>
        <c:minorTickMark val="none"/>
        <c:tickLblPos val="low"/>
        <c:spPr>
          <a:ln w="9525" cap="flat" cmpd="sng" algn="ctr">
            <a:solidFill>
              <a:srgbClr val="5C6670"/>
            </a:solidFill>
            <a:round/>
          </a:ln>
        </c:spPr>
        <c:txPr>
          <a:bodyPr/>
          <a:lstStyle/>
          <a:p>
            <a:pPr>
              <a:defRPr lang="en-US" sz="10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20"/>
          <c:min val="-5"/>
        </c:scaling>
        <c:delete val="0"/>
        <c:axPos val="b"/>
        <c:majorGridlines>
          <c:spPr>
            <a:ln w="6350" cap="flat" cmpd="sng" algn="ctr">
              <a:solidFill>
                <a:srgbClr val="5C6670"/>
              </a:solidFill>
              <a:round/>
            </a:ln>
          </c:spPr>
        </c:majorGridlines>
        <c:numFmt formatCode="0&quot;%&quot;" sourceLinked="0"/>
        <c:majorTickMark val="none"/>
        <c:minorTickMark val="none"/>
        <c:tickLblPos val="nextTo"/>
        <c:spPr>
          <a:ln w="9525" cap="flat" cmpd="sng" algn="ctr">
            <a:solidFill>
              <a:srgbClr val="5C6670"/>
            </a:solidFill>
            <a:round/>
          </a:ln>
        </c:spPr>
        <c:txPr>
          <a:bodyPr/>
          <a:lstStyle/>
          <a:p>
            <a:pPr>
              <a:defRPr lang="en-US" sz="1050">
                <a:solidFill>
                  <a:schemeClr val="accent1"/>
                </a:solidFill>
                <a:latin typeface="Calibri"/>
                <a:ea typeface="Microsoft YaHei"/>
                <a:cs typeface="Calibri"/>
              </a:defRPr>
            </a:pPr>
            <a:endParaRPr lang="en-US"/>
          </a:p>
        </c:txPr>
        <c:crossAx val="2068027336"/>
        <c:crosses val="max"/>
        <c:crossBetween val="between"/>
        <c:majorUnit val="5"/>
      </c:valAx>
      <c:spPr>
        <a:noFill/>
        <a:ln>
          <a:noFill/>
        </a:ln>
      </c:spPr>
    </c:plotArea>
    <c:plotVisOnly val="1"/>
    <c:dispBlanksAs val="gap"/>
  </c:chart>
  <c:spPr>
    <a:noFill/>
    <a:ln>
      <a:noFill/>
    </a:ln>
  </c:spPr>
  <c:txPr>
    <a:bodyPr/>
    <a:lstStyle/>
    <a:p>
      <a:pPr>
        <a:defRPr lang="en-US" sz="1050">
          <a:solidFill>
            <a:schemeClr val="accent1"/>
          </a:solidFill>
          <a:latin typeface="Calibri"/>
          <a:ea typeface="Microsoft YaHei"/>
          <a:cs typeface="Calibri"/>
        </a:defRPr>
      </a:pPr>
      <a:endParaRPr lang="en-US"/>
    </a:p>
  </c:txPr>
  <c:externalData r:id="rId1">
    <c:autoUpdate val="0"/>
  </c:externalData>
</c:chartSpace>
</file>

<file path=ppt/charts/chart3002.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GP receipts, PV at 15% ($m)</a:t>
            </a:r>
          </a:p>
        </c:rich>
      </c:tx>
      <c:layout/>
      <c:overlay val="0"/>
    </c:title>
    <c:autoTitleDeleted val="0"/>
    <c:plotArea>
      <c:layout>
        <c:manualLayout>
          <c:layoutTarget val="inner"/>
          <c:xMode val="edge"/>
          <c:yMode val="edge"/>
          <c:wMode val="factor"/>
          <c:hMode val="factor"/>
          <c:x val="0.208333333333"/>
          <c:y val="0.233333333333"/>
          <c:w val="0.722222222222"/>
          <c:h val="0.616666666667"/>
        </c:manualLayout>
      </c:layout>
      <c:barChart>
        <c:barDir val="bar"/>
        <c:grouping val="stacked"/>
        <c:varyColors val="0"/>
        <c:ser>
          <c:idx val="0"/>
          <c:order val="0"/>
          <c:tx>
            <c:strRef>
              <c:f>Sheet1!$B$1</c:f>
              <c:strCache>
                <c:ptCount val="1"/>
                <c:pt idx="0">
                  <c:v>Fee PV</c:v>
                </c:pt>
              </c:strCache>
            </c:strRef>
          </c:tx>
          <c:spPr>
            <a:solidFill>
              <a:schemeClr val="accent3"/>
            </a:solidFill>
            <a:ln>
              <a:solidFill>
                <a:schemeClr val="accent3"/>
              </a:solidFill>
            </a:ln>
          </c:spPr>
          <c:invertIfNegative val="0"/>
          <c:cat>
            <c:strRef>
              <c:f>Sheet1!$A$2:$A$4</c:f>
              <c:strCache>
                <c:ptCount val="3"/>
                <c:pt idx="0">
                  <c:v>0%</c:v>
                </c:pt>
                <c:pt idx="1">
                  <c:v>10%</c:v>
                </c:pt>
                <c:pt idx="2">
                  <c:v>20%</c:v>
                </c:pt>
              </c:strCache>
            </c:strRef>
          </c:cat>
          <c:val>
            <c:numRef>
              <c:f>Sheet1!$B$2:$B$4</c:f>
              <c:numCache>
                <c:formatCode>General</c:formatCode>
                <c:ptCount val="3"/>
                <c:pt idx="0">
                  <c:v>1731.475176</c:v>
                </c:pt>
                <c:pt idx="1">
                  <c:v>1731.475176</c:v>
                </c:pt>
                <c:pt idx="2">
                  <c:v>1731.475176</c:v>
                </c:pt>
              </c:numCache>
            </c:numRef>
          </c:val>
        </c:ser>
        <c:ser>
          <c:idx val="1"/>
          <c:order val="1"/>
          <c:tx>
            <c:strRef>
              <c:f>Sheet1!$C$1</c:f>
              <c:strCache>
                <c:ptCount val="1"/>
                <c:pt idx="0">
                  <c:v>Carry PV</c:v>
                </c:pt>
              </c:strCache>
            </c:strRef>
          </c:tx>
          <c:spPr>
            <a:solidFill>
              <a:schemeClr val="accent2"/>
            </a:solidFill>
            <a:ln>
              <a:solidFill>
                <a:schemeClr val="accent2"/>
              </a:solidFill>
            </a:ln>
          </c:spPr>
          <c:invertIfNegative val="0"/>
          <c:cat>
            <c:strRef>
              <c:f>Sheet1!$A$2:$A$4</c:f>
              <c:strCache>
                <c:ptCount val="3"/>
                <c:pt idx="0">
                  <c:v>0%</c:v>
                </c:pt>
                <c:pt idx="1">
                  <c:v>10%</c:v>
                </c:pt>
                <c:pt idx="2">
                  <c:v>20%</c:v>
                </c:pt>
              </c:strCache>
            </c:strRef>
          </c:cat>
          <c:val>
            <c:numRef>
              <c:f>Sheet1!$C$2:$C$4</c:f>
              <c:numCache>
                <c:formatCode>General</c:formatCode>
                <c:ptCount val="3"/>
                <c:pt idx="0">
                  <c:v>0</c:v>
                </c:pt>
                <c:pt idx="1">
                  <c:v>533.265584</c:v>
                </c:pt>
                <c:pt idx="2">
                  <c:v>1845.493736</c:v>
                </c:pt>
              </c:numCache>
            </c:numRef>
          </c:val>
        </c:ser>
        <c:dLbls>
          <c:numFmt formatCode="#,##0.00" sourceLinked="0"/>
          <c:txPr>
            <a:bodyPr/>
            <a:lstStyle/>
            <a:p>
              <a:pPr>
                <a:defRPr lang="en-US" sz="1050">
                  <a:solidFill>
                    <a:schemeClr val="accent1"/>
                  </a:solidFill>
                  <a:latin typeface="Calibri"/>
                  <a:ea typeface="Microsoft YaHei"/>
                  <a:cs typeface="Calibri"/>
                </a:defRPr>
              </a:pPr>
              <a:endParaRPr lang="en-US"/>
            </a:p>
          </c:txPr>
          <c:dLblPos val="inEnd"/>
          <c:showLegendKey val="0"/>
          <c:showVal val="1"/>
          <c:showCatName val="0"/>
          <c:showSerName val="0"/>
          <c:showPercent val="0"/>
          <c:showBubbleSize val="0"/>
          <c:showLeaderLines val="0"/>
        </c:dLbls>
        <c:gapWidth val="54"/>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05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4000"/>
          <c:min val="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050">
                <a:solidFill>
                  <a:schemeClr val="accent1"/>
                </a:solidFill>
                <a:latin typeface="Calibri"/>
                <a:ea typeface="Microsoft YaHei"/>
                <a:cs typeface="Calibri"/>
              </a:defRPr>
            </a:pPr>
            <a:endParaRPr lang="en-US"/>
          </a:p>
        </c:txPr>
        <c:crossAx val="2068027336"/>
        <c:crosses val="max"/>
        <c:crossBetween val="between"/>
        <c:majorUnit val="1000"/>
      </c:valAx>
      <c:spPr>
        <a:noFill/>
        <a:ln>
          <a:noFill/>
        </a:ln>
      </c:spPr>
    </c:plotArea>
    <c:legend>
      <c:legendPos val="t"/>
      <c:layout/>
      <c:overlay val="0"/>
      <c:txPr>
        <a:bodyPr/>
        <a:lstStyle/>
        <a:p>
          <a:pPr>
            <a:defRPr lang="en-US" sz="1050">
              <a:solidFill>
                <a:schemeClr val="accent1"/>
              </a:solidFill>
              <a:latin typeface="Calibri"/>
              <a:ea typeface="Microsoft YaHei"/>
              <a:cs typeface="Calibri"/>
            </a:defRPr>
          </a:pPr>
          <a:endParaRPr lang="en-US"/>
        </a:p>
      </c:txPr>
    </c:legend>
    <c:plotVisOnly val="1"/>
    <c:dispBlanksAs val="gap"/>
  </c:chart>
  <c:spPr>
    <a:noFill/>
    <a:ln>
      <a:noFill/>
    </a:ln>
  </c:spPr>
  <c:txPr>
    <a:bodyPr/>
    <a:lstStyle/>
    <a:p>
      <a:pPr>
        <a:defRPr lang="en-US" sz="1050">
          <a:solidFill>
            <a:schemeClr val="accent1"/>
          </a:solidFill>
          <a:latin typeface="Calibri"/>
          <a:ea typeface="Microsoft YaHei"/>
          <a:cs typeface="Calibri"/>
        </a:defRPr>
      </a:pPr>
      <a:endParaRPr lang="en-US"/>
    </a:p>
  </c:txPr>
  <c:externalData r:id="rId1">
    <c:autoUpdate val="0"/>
  </c:externalData>
</c:chartSpace>
</file>

<file path=ppt/charts/chart35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rgbClr val="5C6670"/>
                </a:solidFill>
                <a:latin typeface="Calibri"/>
                <a:ea typeface="Microsoft YaHei"/>
                <a:cs typeface="Calibri"/>
              </a:rPr>
              <a:t>Fund GP receipts, ten-year nominal change ($m)</a:t>
            </a:r>
          </a:p>
        </c:rich>
      </c:tx>
      <c:layout/>
      <c:overlay val="0"/>
    </c:title>
    <c:autoTitleDeleted val="0"/>
    <c:plotArea>
      <c:layout>
        <c:manualLayout>
          <c:layoutTarget val="inner"/>
          <c:xMode val="edge"/>
          <c:yMode val="edge"/>
          <c:wMode val="factor"/>
          <c:hMode val="factor"/>
          <c:x val="0.118055555556"/>
          <c:y val="0.233333333333"/>
          <c:w val="0.833333333333"/>
          <c:h val="0.6"/>
        </c:manualLayout>
      </c:layout>
      <c:barChart>
        <c:barDir val="bar"/>
        <c:grouping val="clustered"/>
        <c:varyColors val="1"/>
        <c:ser>
          <c:idx val="0"/>
          <c:order val="0"/>
          <c:tx>
            <c:strRef>
              <c:f>Sheet1!$B$1</c:f>
              <c:strCache>
                <c:ptCount val="1"/>
                <c:pt idx="0">
                  <c:v>Ten-year nominal change ($m)</c:v>
                </c:pt>
              </c:strCache>
            </c:strRef>
          </c:tx>
          <c:spPr>
            <a:solidFill>
              <a:srgbClr val="4472C4"/>
            </a:solidFill>
            <a:ln>
              <a:solidFill>
                <a:srgbClr val="4472C4"/>
              </a:solidFill>
            </a:ln>
          </c:spPr>
          <c:invertIfNegative val="0"/>
          <c:dPt>
            <c:idx val="0"/>
            <c:invertIfNegative val="0"/>
            <c:spPr>
              <a:solidFill>
                <a:schemeClr val="accent3"/>
              </a:solidFill>
              <a:ln>
                <a:solidFill>
                  <a:schemeClr val="accent3"/>
                </a:solidFill>
              </a:ln>
            </c:spPr>
          </c:dPt>
          <c:dPt>
            <c:idx val="1"/>
            <c:invertIfNegative val="0"/>
            <c:spPr>
              <a:solidFill>
                <a:schemeClr val="accent2"/>
              </a:solidFill>
              <a:ln>
                <a:solidFill>
                  <a:schemeClr val="accent2"/>
                </a:solidFill>
              </a:ln>
            </c:spPr>
          </c:dPt>
          <c:cat>
            <c:strRef>
              <c:f>Sheet1!$A$2:$A$3</c:f>
              <c:strCache>
                <c:ptCount val="2"/>
                <c:pt idx="0">
                  <c:v>Management fees</c:v>
                </c:pt>
                <c:pt idx="1">
                  <c:v>Carry</c:v>
                </c:pt>
              </c:strCache>
            </c:strRef>
          </c:cat>
          <c:val>
            <c:numRef>
              <c:f>Sheet1!$B$2:$B$3</c:f>
              <c:numCache>
                <c:formatCode>General</c:formatCode>
                <c:ptCount val="2"/>
                <c:pt idx="0">
                  <c:v>-300</c:v>
                </c:pt>
                <c:pt idx="1">
                  <c:v>140.216831</c:v>
                </c:pt>
              </c:numCache>
            </c:numRef>
          </c:val>
        </c:ser>
        <c:gapWidth val="75"/>
        <c:axId val="2068027336"/>
        <c:axId val="2113994440"/>
      </c:barChart>
      <c:catAx>
        <c:axId val="2068027336"/>
        <c:scaling>
          <c:orientation val="maxMin"/>
        </c:scaling>
        <c:delete val="0"/>
        <c:axPos val="l"/>
        <c:majorTickMark val="none"/>
        <c:minorTickMark val="none"/>
        <c:tickLblPos val="low"/>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200"/>
          <c:min val="-40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068027336"/>
        <c:crosses val="max"/>
        <c:crossBetween val="between"/>
        <c:majorUnit val="100"/>
      </c:valAx>
      <c:spPr>
        <a:noFill/>
        <a:ln>
          <a:noFill/>
        </a:ln>
      </c:spPr>
    </c:plotArea>
    <c:plotVisOnly val="1"/>
    <c:dispBlanksAs val="gap"/>
  </c:chart>
  <c:spPr>
    <a:noFill/>
    <a:ln>
      <a:noFill/>
    </a:ln>
  </c:spPr>
  <c:txPr>
    <a:bodyPr/>
    <a:lstStyle/>
    <a:p>
      <a:pPr>
        <a:defRPr lang="en-US" sz="1050">
          <a:solidFill>
            <a:srgbClr val="5C6670"/>
          </a:solidFill>
          <a:latin typeface="Calibri"/>
          <a:ea typeface="Microsoft YaHei"/>
          <a:cs typeface="Calibri"/>
        </a:defRPr>
      </a:pPr>
      <a:endParaRPr lang="en-US"/>
    </a:p>
  </c:txPr>
  <c:externalData r:id="rId1">
    <c:autoUpdate val="0"/>
  </c:externalData>
</c:chartSpace>
</file>

<file path=ppt/charts/chart36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rgbClr val="5C6670"/>
                </a:solidFill>
                <a:latin typeface="Calibri"/>
                <a:ea typeface="Microsoft YaHei"/>
                <a:cs typeface="Calibri"/>
              </a:rPr>
              <a:t>OPERF NPV gain from the fee cut, $m</a:t>
            </a:r>
          </a:p>
        </c:rich>
      </c:tx>
      <c:layout/>
      <c:overlay val="0"/>
    </c:title>
    <c:autoTitleDeleted val="0"/>
    <c:plotArea>
      <c:layout>
        <c:manualLayout>
          <c:layoutTarget val="inner"/>
          <c:xMode val="edge"/>
          <c:yMode val="edge"/>
          <c:wMode val="factor"/>
          <c:hMode val="factor"/>
          <c:x val="0.0823529411765"/>
          <c:y val="0.188235294118"/>
          <c:w val="0.882352941176"/>
          <c:h val="0.647058823529"/>
        </c:manualLayout>
      </c:layout>
      <c:barChart>
        <c:barDir val="col"/>
        <c:grouping val="clustered"/>
        <c:varyColors val="1"/>
        <c:ser>
          <c:idx val="0"/>
          <c:order val="0"/>
          <c:tx>
            <c:strRef>
              <c:f>Sheet1!$B$1</c:f>
              <c:strCache>
                <c:ptCount val="1"/>
                <c:pt idx="0">
                  <c:v>OPERF NPV gain ($m)</c:v>
                </c:pt>
              </c:strCache>
            </c:strRef>
          </c:tx>
          <c:spPr>
            <a:solidFill>
              <a:srgbClr val="4472C4"/>
            </a:solidFill>
            <a:ln>
              <a:solidFill>
                <a:srgbClr val="4472C4"/>
              </a:solidFill>
            </a:ln>
          </c:spPr>
          <c:invertIfNegative val="0"/>
          <c:dPt>
            <c:idx val="0"/>
            <c:invertIfNegative val="0"/>
            <c:spPr>
              <a:solidFill>
                <a:srgbClr val="8AA1AC"/>
              </a:solidFill>
              <a:ln>
                <a:solidFill>
                  <a:srgbClr val="8AA1AC"/>
                </a:solidFill>
              </a:ln>
            </c:spPr>
          </c:dPt>
          <c:dPt>
            <c:idx val="1"/>
            <c:invertIfNegative val="0"/>
            <c:spPr>
              <a:solidFill>
                <a:srgbClr val="8AA1AC"/>
              </a:solidFill>
              <a:ln>
                <a:solidFill>
                  <a:srgbClr val="8AA1AC"/>
                </a:solidFill>
              </a:ln>
            </c:spPr>
          </c:dPt>
          <c:dPt>
            <c:idx val="2"/>
            <c:invertIfNegative val="0"/>
            <c:spPr>
              <a:solidFill>
                <a:schemeClr val="accent1"/>
              </a:solidFill>
              <a:ln>
                <a:solidFill>
                  <a:schemeClr val="accent1"/>
                </a:solidFill>
              </a:ln>
            </c:spPr>
          </c:dPt>
          <c:dPt>
            <c:idx val="3"/>
            <c:invertIfNegative val="0"/>
            <c:spPr>
              <a:solidFill>
                <a:srgbClr val="8AA1AC"/>
              </a:solidFill>
              <a:ln>
                <a:solidFill>
                  <a:srgbClr val="8AA1AC"/>
                </a:solidFill>
              </a:ln>
            </c:spPr>
          </c:dPt>
          <c:cat>
            <c:strRef>
              <c:f>Sheet1!$A$2:$A$5</c:f>
              <c:strCache>
                <c:ptCount val="4"/>
                <c:pt idx="0">
                  <c:v>0%</c:v>
                </c:pt>
                <c:pt idx="1">
                  <c:v>10%</c:v>
                </c:pt>
                <c:pt idx="2">
                  <c:v>20%</c:v>
                </c:pt>
                <c:pt idx="3">
                  <c:v>30%</c:v>
                </c:pt>
              </c:strCache>
            </c:strRef>
          </c:cat>
          <c:val>
            <c:numRef>
              <c:f>Sheet1!$B$2:$B$5</c:f>
              <c:numCache>
                <c:formatCode>General</c:formatCode>
                <c:ptCount val="4"/>
                <c:pt idx="0">
                  <c:v>3.546595</c:v>
                </c:pt>
                <c:pt idx="1">
                  <c:v>4.440571</c:v>
                </c:pt>
                <c:pt idx="2">
                  <c:v>6.553578</c:v>
                </c:pt>
                <c:pt idx="3">
                  <c:v>9.994462</c:v>
                </c:pt>
              </c:numCache>
            </c:numRef>
          </c:val>
        </c:ser>
        <c:dLbls>
          <c:numFmt formatCode="0.00" sourceLinked="0"/>
          <c:txPr>
            <a:bodyPr/>
            <a:lstStyle/>
            <a:p>
              <a:pPr>
                <a:defRPr lang="en-US" sz="1050">
                  <a:solidFill>
                    <a:srgbClr val="5C6670"/>
                  </a:solidFill>
                  <a:latin typeface="Calibri"/>
                  <a:ea typeface="Microsoft YaHei"/>
                  <a:cs typeface="Calibri"/>
                </a:defRPr>
              </a:pPr>
              <a:endParaRPr lang="en-US"/>
            </a:p>
          </c:txPr>
          <c:dLblPos val="outEnd"/>
          <c:showLegendKey val="0"/>
          <c:showVal val="1"/>
          <c:showCatName val="0"/>
          <c:showSerName val="0"/>
          <c:showPercent val="0"/>
          <c:showBubbleSize val="0"/>
          <c:showLeaderLines val="0"/>
        </c:dLbls>
        <c:gapWidth val="88"/>
        <c:axId val="2068027336"/>
        <c:axId val="2113994440"/>
      </c:barChart>
      <c:catAx>
        <c:axId val="2068027336"/>
        <c:scaling>
          <c:orientation val="minMax"/>
        </c:scaling>
        <c:delete val="0"/>
        <c:axPos val="b"/>
        <c:title>
          <c:tx>
            <c:rich>
              <a:bodyPr/>
              <a:lstStyle/>
              <a:p>
                <a:pPr/>
                <a:r>
                  <a:rPr lang="en-US" sz="1050">
                    <a:solidFill>
                      <a:srgbClr val="5C6670"/>
                    </a:solidFill>
                    <a:latin typeface="Calibri"/>
                    <a:ea typeface="Microsoft YaHei"/>
                    <a:cs typeface="Calibri"/>
                  </a:rPr>
                  <a:t>Asset growth</a:t>
                </a:r>
              </a:p>
            </c:rich>
          </c:tx>
          <c:layout/>
          <c:overlay val="0"/>
        </c:title>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12"/>
          <c:min val="0"/>
        </c:scaling>
        <c:delete val="0"/>
        <c:axPos val="l"/>
        <c:majorGridlines>
          <c:spPr>
            <a:ln w="6350" cap="flat" cmpd="sng" algn="ctr">
              <a:solidFill>
                <a:srgbClr val="E6E0D4"/>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068027336"/>
        <c:crosses val="autoZero"/>
        <c:crossBetween val="between"/>
        <c:majorUnit val="4"/>
      </c:valAx>
      <c:spPr>
        <a:noFill/>
        <a:ln>
          <a:noFill/>
        </a:ln>
      </c:spPr>
    </c:plotArea>
    <c:plotVisOnly val="1"/>
    <c:dispBlanksAs val="gap"/>
  </c:chart>
  <c:spPr>
    <a:noFill/>
    <a:ln>
      <a:noFill/>
    </a:ln>
  </c:spPr>
  <c:txPr>
    <a:bodyPr/>
    <a:lstStyle/>
    <a:p>
      <a:pPr>
        <a:defRPr lang="en-US" sz="1050">
          <a:solidFill>
            <a:srgbClr val="5C6670"/>
          </a:solidFill>
          <a:latin typeface="Calibri"/>
          <a:ea typeface="Microsoft YaHei"/>
          <a:cs typeface="Calibri"/>
        </a:defRPr>
      </a:pPr>
      <a:endParaRPr lang="en-US"/>
    </a:p>
  </c:txPr>
  <c:externalData r:id="rId1">
    <c:autoUpdate val="0"/>
  </c:externalData>
</c:chartSpace>
</file>

<file path=ppt/charts/chart37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rgbClr val="5C6670"/>
                </a:solidFill>
                <a:latin typeface="Calibri"/>
                <a:ea typeface="Microsoft YaHei"/>
                <a:cs typeface="Calibri"/>
              </a:rPr>
              <a:t>Common baseline: 20% growth, 1.50% fee</a:t>
            </a:r>
          </a:p>
        </c:rich>
      </c:tx>
      <c:layout/>
      <c:overlay val="0"/>
    </c:title>
    <c:autoTitleDeleted val="0"/>
    <c:plotArea>
      <c:layout>
        <c:manualLayout>
          <c:layoutTarget val="inner"/>
          <c:xMode val="edge"/>
          <c:yMode val="edge"/>
          <c:wMode val="factor"/>
          <c:hMode val="factor"/>
          <c:x val="0.118055555556"/>
          <c:y val="0.178571428571"/>
          <c:w val="0.833333333333"/>
          <c:h val="0.642857142857"/>
        </c:manualLayout>
      </c:layout>
      <c:barChart>
        <c:barDir val="bar"/>
        <c:grouping val="clustered"/>
        <c:varyColors val="1"/>
        <c:ser>
          <c:idx val="0"/>
          <c:order val="0"/>
          <c:tx>
            <c:strRef>
              <c:f>Sheet1!$B$1</c:f>
              <c:strCache>
                <c:ptCount val="1"/>
                <c:pt idx="0">
                  <c:v>Change in OPERF NPV ($m)</c:v>
                </c:pt>
              </c:strCache>
            </c:strRef>
          </c:tx>
          <c:spPr>
            <a:solidFill>
              <a:srgbClr val="4472C4"/>
            </a:solidFill>
            <a:ln>
              <a:solidFill>
                <a:srgbClr val="4472C4"/>
              </a:solidFill>
            </a:ln>
          </c:spPr>
          <c:invertIfNegative val="0"/>
          <c:dPt>
            <c:idx val="0"/>
            <c:invertIfNegative val="0"/>
            <c:spPr>
              <a:solidFill>
                <a:srgbClr val="A33D3D"/>
              </a:solidFill>
              <a:ln>
                <a:solidFill>
                  <a:srgbClr val="A33D3D"/>
                </a:solidFill>
              </a:ln>
            </c:spPr>
          </c:dPt>
          <c:dPt>
            <c:idx val="1"/>
            <c:invertIfNegative val="0"/>
            <c:spPr>
              <a:solidFill>
                <a:srgbClr val="2E7D5B"/>
              </a:solidFill>
              <a:ln>
                <a:solidFill>
                  <a:srgbClr val="2E7D5B"/>
                </a:solidFill>
              </a:ln>
            </c:spPr>
          </c:dPt>
          <c:cat>
            <c:strRef>
              <c:f>Sheet1!$A$2:$A$3</c:f>
              <c:strCache>
                <c:ptCount val="2"/>
                <c:pt idx="0">
                  <c:v>Growth 20% → 19%, fee held at 1.50%</c:v>
                </c:pt>
                <c:pt idx="1">
                  <c:v>Fee 1.50% → 1.35%, growth held at 20%</c:v>
                </c:pt>
              </c:strCache>
            </c:strRef>
          </c:cat>
          <c:val>
            <c:numRef>
              <c:f>Sheet1!$B$2:$B$3</c:f>
              <c:numCache>
                <c:formatCode>General</c:formatCode>
                <c:ptCount val="2"/>
                <c:pt idx="0">
                  <c:v>-28.0906731</c:v>
                </c:pt>
                <c:pt idx="1">
                  <c:v>6.5535783</c:v>
                </c:pt>
              </c:numCache>
            </c:numRef>
          </c:val>
        </c:ser>
        <c:gapWidth val="75"/>
        <c:axId val="2068027336"/>
        <c:axId val="2113994440"/>
      </c:barChart>
      <c:catAx>
        <c:axId val="2068027336"/>
        <c:scaling>
          <c:orientation val="maxMin"/>
        </c:scaling>
        <c:delete val="0"/>
        <c:axPos val="l"/>
        <c:majorTickMark val="none"/>
        <c:minorTickMark val="none"/>
        <c:tickLblPos val="none"/>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10"/>
          <c:min val="-4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068027336"/>
        <c:crosses val="max"/>
        <c:crossBetween val="between"/>
        <c:majorUnit val="10"/>
      </c:valAx>
      <c:spPr>
        <a:noFill/>
        <a:ln>
          <a:noFill/>
        </a:ln>
      </c:spPr>
    </c:plotArea>
    <c:plotVisOnly val="1"/>
    <c:dispBlanksAs val="gap"/>
  </c:chart>
  <c:spPr>
    <a:noFill/>
    <a:ln>
      <a:noFill/>
    </a:ln>
  </c:spPr>
  <c:txPr>
    <a:bodyPr/>
    <a:lstStyle/>
    <a:p>
      <a:pPr>
        <a:defRPr lang="en-US" sz="1050">
          <a:solidFill>
            <a:srgbClr val="5C6670"/>
          </a:solidFill>
          <a:latin typeface="Calibri"/>
          <a:ea typeface="Microsoft YaHei"/>
          <a:cs typeface="Calibri"/>
        </a:defRPr>
      </a:pPr>
      <a:endParaRPr lang="en-US"/>
    </a:p>
  </c:txPr>
  <c:externalData r:id="rId1">
    <c:autoUpdate val="0"/>
  </c:externalData>
</c:chartSpace>
</file>

<file path=ppt/charts/chart44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452631578947"/>
          <c:y val="0.0534351145038"/>
          <c:w val="0.515789473684"/>
          <c:h val="0.824427480916"/>
        </c:manualLayout>
      </c:layout>
      <c:barChart>
        <c:barDir val="bar"/>
        <c:grouping val="stacked"/>
        <c:varyColors val="1"/>
        <c:ser>
          <c:idx val="0"/>
          <c:order val="0"/>
          <c:tx>
            <c:strRef>
              <c:f>Sheet1!$B$1</c:f>
              <c:strCache>
                <c:ptCount val="1"/>
                <c:pt idx="0">
                  <c:v>Standard-hurdle value</c:v>
                </c:pt>
              </c:strCache>
            </c:strRef>
          </c:tx>
          <c:spPr>
            <a:solidFill>
              <a:srgbClr val="AEB7C2"/>
            </a:solidFill>
            <a:ln>
              <a:solidFill>
                <a:srgbClr val="AEB7C2"/>
              </a:solidFill>
            </a:ln>
          </c:spPr>
          <c:invertIfNegative val="0"/>
          <c:cat>
            <c:strRef>
              <c:f>Sheet1!$A$2:$A$4</c:f>
              <c:strCache>
                <c:ptCount val="3"/>
                <c:pt idx="0">
                  <c:v>Reference: 8% hurdle · full catch-up · 20% carry</c:v>
                </c:pt>
                <c:pt idx="1">
                  <c:v>Package A: 8% hurdle · no catch-up · 20% carry</c:v>
                </c:pt>
                <c:pt idx="2">
                  <c:v>Package B: 8% hurdle · full catch-up · 15% carry</c:v>
                </c:pt>
              </c:strCache>
            </c:strRef>
          </c:cat>
          <c:val>
            <c:numRef>
              <c:f>Sheet1!$B$2:$B$4</c:f>
              <c:numCache>
                <c:formatCode>General</c:formatCode>
                <c:ptCount val="3"/>
                <c:pt idx="0">
                  <c:v>2.725632</c:v>
                </c:pt>
                <c:pt idx="1">
                  <c:v>2.725632</c:v>
                </c:pt>
                <c:pt idx="2">
                  <c:v>2.725632</c:v>
                </c:pt>
              </c:numCache>
            </c:numRef>
          </c:val>
        </c:ser>
        <c:ser>
          <c:idx val="1"/>
          <c:order val="1"/>
          <c:tx>
            <c:strRef>
              <c:f>Sheet1!$C$1</c:f>
              <c:strCache>
                <c:ptCount val="1"/>
                <c:pt idx="0">
                  <c:v>Further improvement</c:v>
                </c:pt>
              </c:strCache>
            </c:strRef>
          </c:tx>
          <c:spPr>
            <a:solidFill>
              <a:schemeClr val="accent1"/>
            </a:solidFill>
            <a:ln>
              <a:solidFill>
                <a:schemeClr val="accent1"/>
              </a:solidFill>
            </a:ln>
          </c:spPr>
          <c:invertIfNegative val="0"/>
          <c:dPt>
            <c:idx val="0"/>
            <c:invertIfNegative val="0"/>
            <c:spPr>
              <a:solidFill>
                <a:srgbClr val="AEB7C2"/>
              </a:solidFill>
              <a:ln>
                <a:solidFill>
                  <a:srgbClr val="AEB7C2"/>
                </a:solidFill>
              </a:ln>
            </c:spPr>
          </c:dPt>
          <c:dPt>
            <c:idx val="1"/>
            <c:invertIfNegative val="0"/>
            <c:spPr>
              <a:solidFill>
                <a:schemeClr val="accent1"/>
              </a:solidFill>
              <a:ln>
                <a:solidFill>
                  <a:schemeClr val="accent1"/>
                </a:solidFill>
              </a:ln>
            </c:spPr>
          </c:dPt>
          <c:dPt>
            <c:idx val="2"/>
            <c:invertIfNegative val="0"/>
            <c:spPr>
              <a:solidFill>
                <a:schemeClr val="accent2"/>
              </a:solidFill>
              <a:ln>
                <a:solidFill>
                  <a:schemeClr val="accent2"/>
                </a:solidFill>
              </a:ln>
            </c:spPr>
          </c:dPt>
          <c:cat>
            <c:strRef>
              <c:f>Sheet1!$A$2:$A$4</c:f>
              <c:strCache>
                <c:ptCount val="3"/>
                <c:pt idx="0">
                  <c:v>Reference: 8% hurdle · full catch-up · 20% carry</c:v>
                </c:pt>
                <c:pt idx="1">
                  <c:v>Package A: 8% hurdle · no catch-up · 20% carry</c:v>
                </c:pt>
                <c:pt idx="2">
                  <c:v>Package B: 8% hurdle · full catch-up · 15% carry</c:v>
                </c:pt>
              </c:strCache>
            </c:strRef>
          </c:cat>
          <c:val>
            <c:numRef>
              <c:f>Sheet1!$C$2:$C$4</c:f>
              <c:numCache>
                <c:formatCode>General</c:formatCode>
                <c:ptCount val="3"/>
                <c:pt idx="1">
                  <c:v>17.92034</c:v>
                </c:pt>
                <c:pt idx="2">
                  <c:v>16.587284</c:v>
                </c:pt>
              </c:numCache>
            </c:numRef>
          </c:val>
        </c:ser>
        <c:gapWidth val="100"/>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20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25"/>
          <c:min val="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200">
                <a:solidFill>
                  <a:schemeClr val="accent1"/>
                </a:solidFill>
                <a:latin typeface="Calibri"/>
                <a:ea typeface="Microsoft YaHei"/>
                <a:cs typeface="Calibri"/>
              </a:defRPr>
            </a:pPr>
            <a:endParaRPr lang="en-US"/>
          </a:p>
        </c:txPr>
        <c:crossAx val="2068027336"/>
        <c:crosses val="max"/>
        <c:crossBetween val="between"/>
        <c:majorUnit val="5"/>
      </c:valAx>
      <c:spPr>
        <a:noFill/>
        <a:ln>
          <a:noFill/>
        </a:ln>
      </c:spPr>
    </c:plotArea>
    <c:legend>
      <c:legendPos val="t"/>
      <c:layout/>
      <c:overlay val="0"/>
      <c:txPr>
        <a:bodyPr/>
        <a:lstStyle/>
        <a:p>
          <a:pPr>
            <a:defRPr lang="en-US" sz="1200">
              <a:solidFill>
                <a:schemeClr val="accent1"/>
              </a:solidFill>
              <a:latin typeface="Calibri"/>
              <a:ea typeface="Microsoft YaHei"/>
              <a:cs typeface="Calibri"/>
            </a:defRPr>
          </a:pPr>
          <a:endParaRPr lang="en-US"/>
        </a:p>
      </c:txPr>
    </c:legend>
    <c:plotVisOnly val="1"/>
    <c:dispBlanksAs val="gap"/>
  </c:chart>
  <c:spPr>
    <a:noFill/>
    <a:ln>
      <a:noFill/>
    </a:ln>
  </c:spPr>
  <c:txPr>
    <a:bodyPr/>
    <a:lstStyle/>
    <a:p>
      <a:pPr>
        <a:defRPr lang="en-US" sz="1200">
          <a:solidFill>
            <a:schemeClr val="accent1"/>
          </a:solidFill>
          <a:latin typeface="Calibri"/>
          <a:ea typeface="Microsoft YaHei"/>
          <a:cs typeface="Calibri"/>
        </a:defRPr>
      </a:pPr>
      <a:endParaRPr lang="en-US"/>
    </a:p>
  </c:txPr>
  <c:externalData r:id="rId1">
    <c:autoUpdate val="0"/>
  </c:externalData>
</c:chartSpace>
</file>

<file path=ppt/charts/chart46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204861111111"/>
          <c:y val="0.152"/>
          <c:w val="0.760416666667"/>
          <c:h val="0.72"/>
        </c:manualLayout>
      </c:layout>
      <c:barChart>
        <c:barDir val="bar"/>
        <c:grouping val="stacked"/>
        <c:varyColors val="0"/>
        <c:ser>
          <c:idx val="0"/>
          <c:order val="0"/>
          <c:tx>
            <c:strRef>
              <c:f>Sheet1!$B$1</c:f>
              <c:strCache>
                <c:ptCount val="1"/>
                <c:pt idx="0">
                  <c:v>Already contributed</c:v>
                </c:pt>
              </c:strCache>
            </c:strRef>
          </c:tx>
          <c:spPr>
            <a:solidFill>
              <a:schemeClr val="accent1"/>
            </a:solidFill>
            <a:ln>
              <a:solidFill>
                <a:schemeClr val="accent1"/>
              </a:solidFill>
            </a:ln>
          </c:spPr>
          <c:invertIfNegative val="0"/>
          <c:cat>
            <c:strRef>
              <c:f>Sheet1!$A$2:$A$3</c:f>
              <c:strCache>
                <c:ptCount val="2"/>
                <c:pt idx="0">
                  <c:v>Retain</c:v>
                </c:pt>
                <c:pt idx="1">
                  <c:v>Reduce by 10%</c:v>
                </c:pt>
              </c:strCache>
            </c:strRef>
          </c:cat>
          <c:val>
            <c:numRef>
              <c:f>Sheet1!$B$2:$B$3</c:f>
              <c:numCache>
                <c:formatCode>General</c:formatCode>
                <c:ptCount val="2"/>
                <c:pt idx="0">
                  <c:v>79.9</c:v>
                </c:pt>
                <c:pt idx="1">
                  <c:v>79.9</c:v>
                </c:pt>
              </c:numCache>
            </c:numRef>
          </c:val>
        </c:ser>
        <c:ser>
          <c:idx val="1"/>
          <c:order val="1"/>
          <c:tx>
            <c:strRef>
              <c:f>Sheet1!$C$1</c:f>
              <c:strCache>
                <c:ptCount val="1"/>
                <c:pt idx="0">
                  <c:v>Remaining obligation</c:v>
                </c:pt>
              </c:strCache>
            </c:strRef>
          </c:tx>
          <c:spPr>
            <a:solidFill>
              <a:srgbClr val="8AA1AC"/>
            </a:solidFill>
            <a:ln>
              <a:solidFill>
                <a:srgbClr val="8AA1AC"/>
              </a:solidFill>
            </a:ln>
          </c:spPr>
          <c:invertIfNegative val="0"/>
          <c:cat>
            <c:strRef>
              <c:f>Sheet1!$A$2:$A$3</c:f>
              <c:strCache>
                <c:ptCount val="2"/>
                <c:pt idx="0">
                  <c:v>Retain</c:v>
                </c:pt>
                <c:pt idx="1">
                  <c:v>Reduce by 10%</c:v>
                </c:pt>
              </c:strCache>
            </c:strRef>
          </c:cat>
          <c:val>
            <c:numRef>
              <c:f>Sheet1!$C$2:$C$3</c:f>
              <c:numCache>
                <c:formatCode>General</c:formatCode>
                <c:ptCount val="2"/>
                <c:pt idx="0">
                  <c:v>670.1</c:v>
                </c:pt>
                <c:pt idx="1">
                  <c:v>595.1</c:v>
                </c:pt>
              </c:numCache>
            </c:numRef>
          </c:val>
        </c:ser>
        <c:ser>
          <c:idx val="2"/>
          <c:order val="2"/>
          <c:tx>
            <c:strRef>
              <c:f>Sheet1!$D$1</c:f>
              <c:strCache>
                <c:ptCount val="1"/>
                <c:pt idx="0">
                  <c:v>Released obligations</c:v>
                </c:pt>
              </c:strCache>
            </c:strRef>
          </c:tx>
          <c:spPr>
            <a:solidFill>
              <a:srgbClr val="FBF8F2"/>
            </a:solidFill>
            <a:ln>
              <a:solidFill>
                <a:srgbClr val="FBF8F2"/>
              </a:solidFill>
            </a:ln>
          </c:spPr>
          <c:invertIfNegative val="0"/>
          <c:cat>
            <c:strRef>
              <c:f>Sheet1!$A$2:$A$3</c:f>
              <c:strCache>
                <c:ptCount val="2"/>
                <c:pt idx="0">
                  <c:v>Retain</c:v>
                </c:pt>
                <c:pt idx="1">
                  <c:v>Reduce by 10%</c:v>
                </c:pt>
              </c:strCache>
            </c:strRef>
          </c:cat>
          <c:val>
            <c:numRef>
              <c:f>Sheet1!$D$2:$D$3</c:f>
              <c:numCache>
                <c:formatCode>General</c:formatCode>
                <c:ptCount val="2"/>
                <c:pt idx="1">
                  <c:v>75</c:v>
                </c:pt>
              </c:numCache>
            </c:numRef>
          </c:val>
        </c:ser>
        <c:gapWidth val="75"/>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800"/>
          <c:min val="0"/>
        </c:scaling>
        <c:delete val="0"/>
        <c:axPos val="b"/>
        <c:majorGridlines>
          <c:spPr>
            <a:ln w="6350" cap="flat" cmpd="sng" algn="ctr">
              <a:solidFill>
                <a:schemeClr val="accent1"/>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050">
                <a:solidFill>
                  <a:srgbClr val="5C6670"/>
                </a:solidFill>
                <a:latin typeface="Calibri"/>
                <a:ea typeface="Microsoft YaHei"/>
                <a:cs typeface="Calibri"/>
              </a:defRPr>
            </a:pPr>
            <a:endParaRPr lang="en-US"/>
          </a:p>
        </c:txPr>
        <c:crossAx val="2068027336"/>
        <c:crosses val="max"/>
        <c:crossBetween val="between"/>
        <c:majorUnit val="200"/>
      </c:valAx>
      <c:spPr>
        <a:noFill/>
        <a:ln>
          <a:noFill/>
        </a:ln>
      </c:spPr>
    </c:plotArea>
    <c:legend>
      <c:legendPos val="t"/>
      <c:layout/>
      <c:overlay val="0"/>
      <c:txPr>
        <a:bodyPr/>
        <a:lstStyle/>
        <a:p>
          <a:pPr>
            <a:defRPr lang="en-US" sz="1050">
              <a:solidFill>
                <a:srgbClr val="5C6670"/>
              </a:solidFill>
              <a:latin typeface="Calibri"/>
              <a:ea typeface="Microsoft YaHei"/>
              <a:cs typeface="Calibri"/>
            </a:defRPr>
          </a:pPr>
          <a:endParaRPr lang="en-US"/>
        </a:p>
      </c:txPr>
    </c:legend>
    <c:plotVisOnly val="1"/>
    <c:dispBlanksAs val="gap"/>
  </c:chart>
  <c:spPr>
    <a:noFill/>
    <a:ln>
      <a:noFill/>
    </a:ln>
  </c:spPr>
  <c:txPr>
    <a:bodyPr/>
    <a:lstStyle/>
    <a:p>
      <a:pPr>
        <a:defRPr lang="en-US" sz="1050">
          <a:solidFill>
            <a:srgbClr val="5C6670"/>
          </a:solidFill>
          <a:latin typeface="Calibri"/>
          <a:ea typeface="Microsoft YaHei"/>
          <a:cs typeface="Calibri"/>
        </a:defRPr>
      </a:pPr>
      <a:endParaRPr lang="en-US"/>
    </a:p>
  </c:txPr>
  <c:externalData r:id="rId1">
    <c:autoUpdate val="0"/>
  </c:externalData>
</c:chartSpace>
</file>

<file path=ppt/charts/chart47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NPV of a hypothetical $75m inception commitment, $m</a:t>
            </a:r>
          </a:p>
        </c:rich>
      </c:tx>
      <c:layout/>
      <c:overlay val="0"/>
    </c:title>
    <c:autoTitleDeleted val="0"/>
    <c:plotArea>
      <c:layout>
        <c:manualLayout>
          <c:layoutTarget val="inner"/>
          <c:xMode val="edge"/>
          <c:yMode val="edge"/>
          <c:wMode val="factor"/>
          <c:hMode val="factor"/>
          <c:x val="0.468421052632"/>
          <c:y val="0.119496855346"/>
          <c:w val="0.5"/>
          <c:h val="0.723270440252"/>
        </c:manualLayout>
      </c:layout>
      <c:barChart>
        <c:barDir val="bar"/>
        <c:grouping val="clustered"/>
        <c:varyColors val="1"/>
        <c:ser>
          <c:idx val="0"/>
          <c:order val="0"/>
          <c:tx>
            <c:strRef>
              <c:f>Sheet1!$B$1</c:f>
              <c:strCache>
                <c:ptCount val="1"/>
                <c:pt idx="0">
                  <c:v>Marginal $75m inception NPV ($m)</c:v>
                </c:pt>
              </c:strCache>
            </c:strRef>
          </c:tx>
          <c:spPr>
            <a:solidFill>
              <a:srgbClr val="4472C4"/>
            </a:solidFill>
            <a:ln>
              <a:solidFill>
                <a:srgbClr val="4472C4"/>
              </a:solidFill>
            </a:ln>
          </c:spPr>
          <c:invertIfNegative val="0"/>
          <c:dPt>
            <c:idx val="0"/>
            <c:invertIfNegative val="0"/>
            <c:spPr>
              <a:solidFill>
                <a:srgbClr val="8AA1AC"/>
              </a:solidFill>
              <a:ln>
                <a:solidFill>
                  <a:srgbClr val="8AA1AC"/>
                </a:solidFill>
              </a:ln>
            </c:spPr>
          </c:dPt>
          <c:dPt>
            <c:idx val="1"/>
            <c:invertIfNegative val="0"/>
            <c:spPr>
              <a:solidFill>
                <a:schemeClr val="accent1"/>
              </a:solidFill>
              <a:ln>
                <a:solidFill>
                  <a:schemeClr val="accent1"/>
                </a:solidFill>
              </a:ln>
            </c:spPr>
          </c:dPt>
          <c:dPt>
            <c:idx val="2"/>
            <c:invertIfNegative val="0"/>
            <c:spPr>
              <a:solidFill>
                <a:srgbClr val="BFCDD5"/>
              </a:solidFill>
              <a:ln>
                <a:solidFill>
                  <a:srgbClr val="BFCDD5"/>
                </a:solidFill>
              </a:ln>
            </c:spPr>
          </c:dPt>
          <c:dPt>
            <c:idx val="3"/>
            <c:invertIfNegative val="0"/>
            <c:spPr>
              <a:solidFill>
                <a:srgbClr val="BFD4FF"/>
              </a:solidFill>
              <a:ln>
                <a:solidFill>
                  <a:srgbClr val="BFD4FF"/>
                </a:solidFill>
              </a:ln>
            </c:spPr>
          </c:dPt>
          <c:cat>
            <c:strRef>
              <c:f>Sheet1!$A$2:$A$5</c:f>
              <c:strCache>
                <c:ptCount val="4"/>
                <c:pt idx="0">
                  <c:v>Q3: 1.50% fee, 20% carry, no hurdle assumed</c:v>
                </c:pt>
                <c:pt idx="1">
                  <c:v>Q4: 1.35% fee, 20% carry, no hurdle assumed</c:v>
                </c:pt>
                <c:pt idx="2">
                  <c:v>Q5 Package A: 1.35% fee, 8% hurdle, no catch-up, 20% carry</c:v>
                </c:pt>
                <c:pt idx="3">
                  <c:v>Q5 Package B: 1.35% fee, 8% hurdle, full catch-up, 15% carry</c:v>
                </c:pt>
              </c:strCache>
            </c:strRef>
          </c:cat>
          <c:val>
            <c:numRef>
              <c:f>Sheet1!$B$2:$B$5</c:f>
              <c:numCache>
                <c:formatCode>General</c:formatCode>
                <c:ptCount val="4"/>
                <c:pt idx="0">
                  <c:v>2.168314</c:v>
                </c:pt>
                <c:pt idx="1">
                  <c:v>2.823672</c:v>
                </c:pt>
                <c:pt idx="2">
                  <c:v>4.888269</c:v>
                </c:pt>
                <c:pt idx="3">
                  <c:v>4.754964</c:v>
                </c:pt>
              </c:numCache>
            </c:numRef>
          </c:val>
        </c:ser>
        <c:gapWidth val="56"/>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0"/>
            </a:solidFill>
            <a:round/>
          </a:ln>
        </c:spPr>
        <c:txPr>
          <a:bodyPr/>
          <a:lstStyle/>
          <a:p>
            <a:pPr>
              <a:defRPr lang="en-US" sz="120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6"/>
          <c:min val="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200">
                <a:solidFill>
                  <a:schemeClr val="accent1"/>
                </a:solidFill>
                <a:latin typeface="Calibri"/>
                <a:ea typeface="Microsoft YaHei"/>
                <a:cs typeface="Calibri"/>
              </a:defRPr>
            </a:pPr>
            <a:endParaRPr lang="en-US"/>
          </a:p>
        </c:txPr>
        <c:crossAx val="2068027336"/>
        <c:crosses val="max"/>
        <c:crossBetween val="between"/>
        <c:majorUnit val="2"/>
      </c:valAx>
      <c:spPr>
        <a:noFill/>
        <a:ln>
          <a:noFill/>
        </a:ln>
      </c:spPr>
    </c:plotArea>
    <c:plotVisOnly val="1"/>
    <c:dispBlanksAs val="gap"/>
  </c:chart>
  <c:spPr>
    <a:noFill/>
    <a:ln>
      <a:noFill/>
    </a:ln>
  </c:spPr>
  <c:txPr>
    <a:bodyPr/>
    <a:lstStyle/>
    <a:p>
      <a:pPr>
        <a:defRPr lang="en-US" sz="1200">
          <a:solidFill>
            <a:schemeClr val="accent1"/>
          </a:solidFill>
          <a:latin typeface="Calibri"/>
          <a:ea typeface="Microsoft YaHei"/>
          <a:cs typeface="Calibri"/>
        </a:defRPr>
      </a:pPr>
      <a:endParaRPr lang="en-US"/>
    </a:p>
  </c:txPr>
  <c:externalData r:id="rId1">
    <c:autoUpdate val="0"/>
  </c:externalData>
</c:chartSpace>
</file>

<file path=ppt/charts/chart48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rgbClr val="5C6670"/>
                </a:solidFill>
                <a:latin typeface="Calibri"/>
                <a:ea typeface="Microsoft YaHei"/>
                <a:cs typeface="Calibri"/>
              </a:rPr>
              <a:t>Marginal $75m inception NPV after the fee cut, $m</a:t>
            </a:r>
          </a:p>
        </c:rich>
      </c:tx>
      <c:layout/>
      <c:overlay val="0"/>
    </c:title>
    <c:autoTitleDeleted val="0"/>
    <c:plotArea>
      <c:layout>
        <c:manualLayout>
          <c:layoutTarget val="inner"/>
          <c:xMode val="edge"/>
          <c:yMode val="edge"/>
          <c:wMode val="factor"/>
          <c:hMode val="factor"/>
          <c:x val="0.310526315789"/>
          <c:y val="0.122580645161"/>
          <c:w val="0.657894736842"/>
          <c:h val="0.741935483871"/>
        </c:manualLayout>
      </c:layout>
      <c:barChart>
        <c:barDir val="bar"/>
        <c:grouping val="clustered"/>
        <c:varyColors val="1"/>
        <c:ser>
          <c:idx val="0"/>
          <c:order val="0"/>
          <c:tx>
            <c:strRef>
              <c:f>Sheet1!$B$1</c:f>
              <c:strCache>
                <c:ptCount val="1"/>
                <c:pt idx="0">
                  <c:v>Marginal NPV ($m)</c:v>
                </c:pt>
              </c:strCache>
            </c:strRef>
          </c:tx>
          <c:spPr>
            <a:solidFill>
              <a:srgbClr val="4472C4"/>
            </a:solidFill>
            <a:ln>
              <a:solidFill>
                <a:srgbClr val="4472C4"/>
              </a:solidFill>
            </a:ln>
          </c:spPr>
          <c:invertIfNegative val="0"/>
          <c:dPt>
            <c:idx val="0"/>
            <c:invertIfNegative val="0"/>
            <c:spPr>
              <a:solidFill>
                <a:srgbClr val="A33D3D"/>
              </a:solidFill>
              <a:ln>
                <a:solidFill>
                  <a:srgbClr val="A33D3D"/>
                </a:solidFill>
              </a:ln>
            </c:spPr>
          </c:dPt>
          <c:dPt>
            <c:idx val="1"/>
            <c:invertIfNegative val="0"/>
            <c:spPr>
              <a:solidFill>
                <a:srgbClr val="A33D3D"/>
              </a:solidFill>
              <a:ln>
                <a:solidFill>
                  <a:srgbClr val="A33D3D"/>
                </a:solidFill>
              </a:ln>
            </c:spPr>
          </c:dPt>
          <c:dPt>
            <c:idx val="2"/>
            <c:invertIfNegative val="0"/>
            <c:spPr>
              <a:solidFill>
                <a:schemeClr val="accent1"/>
              </a:solidFill>
              <a:ln>
                <a:solidFill>
                  <a:schemeClr val="accent1"/>
                </a:solidFill>
              </a:ln>
            </c:spPr>
          </c:dPt>
          <c:dPt>
            <c:idx val="3"/>
            <c:invertIfNegative val="0"/>
            <c:spPr>
              <a:solidFill>
                <a:srgbClr val="2E7D5B"/>
              </a:solidFill>
              <a:ln>
                <a:solidFill>
                  <a:srgbClr val="2E7D5B"/>
                </a:solidFill>
              </a:ln>
            </c:spPr>
          </c:dPt>
          <c:cat>
            <c:strRef>
              <c:f>Sheet1!$A$2:$A$5</c:f>
              <c:strCache>
                <c:ptCount val="4"/>
                <c:pt idx="0">
                  <c:v>10%</c:v>
                </c:pt>
                <c:pt idx="1">
                  <c:v>18%</c:v>
                </c:pt>
                <c:pt idx="2">
                  <c:v>20% — base case</c:v>
                </c:pt>
                <c:pt idx="3">
                  <c:v>25%</c:v>
                </c:pt>
              </c:strCache>
            </c:strRef>
          </c:cat>
          <c:val>
            <c:numRef>
              <c:f>Sheet1!$B$2:$B$5</c:f>
              <c:numCache>
                <c:formatCode>General</c:formatCode>
                <c:ptCount val="4"/>
                <c:pt idx="0">
                  <c:v>-20.051574</c:v>
                </c:pt>
                <c:pt idx="1">
                  <c:v>-2.707005</c:v>
                </c:pt>
                <c:pt idx="2">
                  <c:v>2.823672</c:v>
                </c:pt>
                <c:pt idx="3">
                  <c:v>19.290518</c:v>
                </c:pt>
              </c:numCache>
            </c:numRef>
          </c:val>
        </c:ser>
        <c:gapWidth val="56"/>
        <c:axId val="2068027336"/>
        <c:axId val="2113994440"/>
      </c:barChart>
      <c:catAx>
        <c:axId val="2068027336"/>
        <c:scaling>
          <c:orientation val="maxMin"/>
        </c:scaling>
        <c:delete val="0"/>
        <c:axPos val="l"/>
        <c:title>
          <c:tx>
            <c:rich>
              <a:bodyPr/>
              <a:lstStyle/>
              <a:p>
                <a:pPr/>
                <a:r>
                  <a:rPr lang="en-US" sz="1350">
                    <a:solidFill>
                      <a:srgbClr val="5C6670"/>
                    </a:solidFill>
                    <a:latin typeface="Calibri"/>
                    <a:ea typeface="Microsoft YaHei"/>
                    <a:cs typeface="Calibri"/>
                  </a:rPr>
                  <a:t>Annual invested-asset growth</a:t>
                </a:r>
              </a:p>
            </c:rich>
          </c:tx>
          <c:layout/>
          <c:overlay val="0"/>
        </c:title>
        <c:majorTickMark val="none"/>
        <c:minorTickMark val="none"/>
        <c:tickLblPos val="low"/>
        <c:spPr>
          <a:ln w="9525" cap="flat" cmpd="sng" algn="ctr">
            <a:solidFill>
              <a:srgbClr val="5C6670"/>
            </a:solidFill>
            <a:round/>
          </a:ln>
        </c:spPr>
        <c:txPr>
          <a:bodyPr/>
          <a:lstStyle/>
          <a:p>
            <a:pPr>
              <a:defRPr lang="en-US" sz="1350">
                <a:solidFill>
                  <a:srgbClr val="5C6670"/>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30"/>
          <c:min val="-30"/>
        </c:scaling>
        <c:delete val="0"/>
        <c:axPos val="b"/>
        <c:majorGridlines>
          <c:spPr>
            <a:ln w="6350" cap="flat" cmpd="sng" algn="ctr">
              <a:solidFill>
                <a:srgbClr val="5C6670"/>
              </a:solidFill>
              <a:round/>
            </a:ln>
          </c:spPr>
        </c:majorGridlines>
        <c:numFmt formatCode="0" sourceLinked="0"/>
        <c:majorTickMark val="none"/>
        <c:minorTickMark val="none"/>
        <c:tickLblPos val="nextTo"/>
        <c:spPr>
          <a:ln w="9525" cap="flat" cmpd="sng" algn="ctr">
            <a:solidFill>
              <a:srgbClr val="5C6670"/>
            </a:solidFill>
            <a:round/>
          </a:ln>
        </c:spPr>
        <c:txPr>
          <a:bodyPr/>
          <a:lstStyle/>
          <a:p>
            <a:pPr>
              <a:defRPr lang="en-US" sz="1350">
                <a:solidFill>
                  <a:srgbClr val="5C6670"/>
                </a:solidFill>
                <a:latin typeface="Calibri"/>
                <a:ea typeface="Microsoft YaHei"/>
                <a:cs typeface="Calibri"/>
              </a:defRPr>
            </a:pPr>
            <a:endParaRPr lang="en-US"/>
          </a:p>
        </c:txPr>
        <c:crossAx val="2068027336"/>
        <c:crosses val="max"/>
        <c:crossBetween val="between"/>
        <c:majorUnit val="10"/>
      </c:valAx>
      <c:spPr>
        <a:noFill/>
        <a:ln>
          <a:noFill/>
        </a:ln>
      </c:spPr>
    </c:plotArea>
    <c:plotVisOnly val="1"/>
    <c:dispBlanksAs val="gap"/>
  </c:chart>
  <c:spPr>
    <a:noFill/>
    <a:ln>
      <a:noFill/>
    </a:ln>
  </c:spPr>
  <c:txPr>
    <a:bodyPr/>
    <a:lstStyle/>
    <a:p>
      <a:pPr>
        <a:defRPr lang="en-US" sz="1350">
          <a:solidFill>
            <a:srgbClr val="5C6670"/>
          </a:solidFill>
          <a:latin typeface="Calibri"/>
          <a:ea typeface="Microsoft YaHei"/>
          <a:cs typeface="Calibri"/>
        </a:defRPr>
      </a:pPr>
      <a:endParaRPr lang="en-US"/>
    </a:p>
  </c:txPr>
  <c:externalData r:id="rId1">
    <c:autoUpdate val="0"/>
  </c:externalData>
</c:chartSpace>
</file>

<file path=ppt/charts/chart56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pPr/>
            <a:r>
              <a:rPr lang="en-US" sz="1200">
                <a:solidFill>
                  <a:schemeClr val="accent1"/>
                </a:solidFill>
                <a:latin typeface="Calibri"/>
                <a:ea typeface="Microsoft YaHei"/>
                <a:cs typeface="Calibri"/>
              </a:rPr>
              <a:t>Total value to paid-in (TVPI) by TPG fund, case Exhibit 7</a:t>
            </a:r>
          </a:p>
        </c:rich>
      </c:tx>
      <c:layout/>
      <c:overlay val="0"/>
    </c:title>
    <c:autoTitleDeleted val="0"/>
    <c:plotArea>
      <c:layout>
        <c:manualLayout>
          <c:layoutTarget val="inner"/>
          <c:xMode val="edge"/>
          <c:yMode val="edge"/>
          <c:wMode val="factor"/>
          <c:hMode val="factor"/>
          <c:x val="0.08"/>
          <c:y val="0.133333333333"/>
          <c:w val="0.914285714286"/>
          <c:h val="0.722222222222"/>
        </c:manualLayout>
      </c:layout>
      <c:barChart>
        <c:barDir val="col"/>
        <c:grouping val="clustered"/>
        <c:varyColors val="1"/>
        <c:ser>
          <c:idx val="0"/>
          <c:order val="0"/>
          <c:tx>
            <c:strRef>
              <c:f>Sheet1!$B$1</c:f>
              <c:strCache>
                <c:ptCount val="1"/>
                <c:pt idx="0">
                  <c:v>TVPI (×)</c:v>
                </c:pt>
              </c:strCache>
            </c:strRef>
          </c:tx>
          <c:spPr>
            <a:solidFill>
              <a:srgbClr val="4472C4"/>
            </a:solidFill>
            <a:ln>
              <a:solidFill>
                <a:srgbClr val="4472C4"/>
              </a:solidFill>
            </a:ln>
          </c:spPr>
          <c:invertIfNegative val="0"/>
          <c:dPt>
            <c:idx val="0"/>
            <c:invertIfNegative val="0"/>
            <c:spPr>
              <a:solidFill>
                <a:schemeClr val="accent1"/>
              </a:solidFill>
              <a:ln>
                <a:solidFill>
                  <a:schemeClr val="accent1"/>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1"/>
              </a:solidFill>
              <a:ln>
                <a:solidFill>
                  <a:schemeClr val="accent1"/>
                </a:solidFill>
              </a:ln>
            </c:spPr>
          </c:dPt>
          <c:dPt>
            <c:idx val="5"/>
            <c:invertIfNegative val="0"/>
            <c:spPr>
              <a:solidFill>
                <a:schemeClr val="accent3"/>
              </a:solidFill>
              <a:ln>
                <a:solidFill>
                  <a:schemeClr val="accent3"/>
                </a:solidFill>
              </a:ln>
            </c:spPr>
          </c:dPt>
          <c:cat>
            <c:strRef>
              <c:f>Sheet1!$A$2:$A$7</c:f>
              <c:strCache>
                <c:ptCount val="6"/>
                <c:pt idx="0">
                  <c:v>Fund I</c:v>
                </c:pt>
                <c:pt idx="1">
                  <c:v>Fund II</c:v>
                </c:pt>
                <c:pt idx="2">
                  <c:v>Fund III</c:v>
                </c:pt>
                <c:pt idx="3">
                  <c:v>Fund IV</c:v>
                </c:pt>
                <c:pt idx="4">
                  <c:v>Fund V</c:v>
                </c:pt>
                <c:pt idx="5">
                  <c:v>Fund VI</c:v>
                </c:pt>
              </c:strCache>
            </c:strRef>
          </c:cat>
          <c:val>
            <c:numRef>
              <c:f>Sheet1!$B$2:$B$7</c:f>
              <c:numCache>
                <c:formatCode>General</c:formatCode>
                <c:ptCount val="6"/>
                <c:pt idx="0">
                  <c:v>3.530214</c:v>
                </c:pt>
                <c:pt idx="1">
                  <c:v>1.687844</c:v>
                </c:pt>
                <c:pt idx="2">
                  <c:v>2.282601</c:v>
                </c:pt>
                <c:pt idx="3">
                  <c:v>1.28688</c:v>
                </c:pt>
                <c:pt idx="4">
                  <c:v>0.710391</c:v>
                </c:pt>
                <c:pt idx="5">
                  <c:v>0.602003</c:v>
                </c:pt>
              </c:numCache>
            </c:numRef>
          </c:val>
        </c:ser>
        <c:dLbls>
          <c:numFmt formatCode="0.00&quot;×&quot;" sourceLinked="0"/>
          <c:txPr>
            <a:bodyPr/>
            <a:lstStyle/>
            <a:p>
              <a:pPr>
                <a:defRPr lang="en-US" sz="1200" b="1">
                  <a:solidFill>
                    <a:schemeClr val="accent1"/>
                  </a:solidFill>
                  <a:latin typeface="Calibri"/>
                  <a:ea typeface="Microsoft YaHei"/>
                  <a:cs typeface="Calibri"/>
                </a:defRPr>
              </a:pPr>
              <a:endParaRPr lang="en-US"/>
            </a:p>
          </c:txPr>
          <c:dLblPos val="outEnd"/>
          <c:showLegendKey val="0"/>
          <c:showVal val="1"/>
          <c:showCatName val="0"/>
          <c:showSerName val="0"/>
          <c:showPercent val="0"/>
          <c:showBubbleSize val="0"/>
          <c:showLeaderLines val="0"/>
        </c:dLbls>
        <c:gapWidth val="80"/>
        <c:axId val="2068027336"/>
        <c:axId val="2113994440"/>
      </c:barChart>
      <c:catAx>
        <c:axId val="2068027336"/>
        <c:scaling>
          <c:orientation val="minMax"/>
        </c:scaling>
        <c:delete val="0"/>
        <c:axPos val="b"/>
        <c:majorTickMark val="none"/>
        <c:minorTickMark val="none"/>
        <c:tickLblPos val="nextTo"/>
        <c:spPr>
          <a:ln w="9525" cap="flat" cmpd="sng" algn="ctr">
            <a:solidFill>
              <a:srgbClr val="5C6670"/>
            </a:solidFill>
            <a:round/>
          </a:ln>
        </c:spPr>
        <c:txPr>
          <a:bodyPr/>
          <a:lstStyle/>
          <a:p>
            <a:pPr>
              <a:defRPr lang="en-US" sz="1200">
                <a:solidFill>
                  <a:schemeClr val="accent1"/>
                </a:solidFill>
                <a:latin typeface="Calibri"/>
                <a:ea typeface="Microsoft YaHei"/>
                <a:cs typeface="Calibri"/>
              </a:defRPr>
            </a:pPr>
            <a:endParaRPr lang="en-US"/>
          </a:p>
        </c:txPr>
        <c:crossAx val="2113994440"/>
        <c:crosses val="autoZero"/>
        <c:auto val="1"/>
        <c:lblAlgn val="ctr"/>
        <c:lblOffset val="100"/>
        <c:noMultiLvlLbl val="0"/>
      </c:catAx>
      <c:valAx>
        <c:axId val="2113994440"/>
        <c:scaling>
          <c:orientation val="minMax"/>
          <c:max val="4"/>
          <c:min val="0"/>
        </c:scaling>
        <c:delete val="0"/>
        <c:axPos val="l"/>
        <c:majorGridlines>
          <c:spPr>
            <a:ln w="6350" cap="flat" cmpd="sng" algn="ctr">
              <a:solidFill>
                <a:srgbClr val="D6CFC2"/>
              </a:solidFill>
              <a:round/>
            </a:ln>
          </c:spPr>
        </c:majorGridlines>
        <c:numFmt formatCode="0.0&quot;×&quot;" sourceLinked="0"/>
        <c:majorTickMark val="none"/>
        <c:minorTickMark val="none"/>
        <c:tickLblPos val="nextTo"/>
        <c:spPr>
          <a:ln w="9525" cap="flat" cmpd="sng" algn="ctr">
            <a:solidFill>
              <a:srgbClr val="5C6670"/>
            </a:solidFill>
            <a:round/>
          </a:ln>
        </c:spPr>
        <c:txPr>
          <a:bodyPr/>
          <a:lstStyle/>
          <a:p>
            <a:pPr>
              <a:defRPr lang="en-US" sz="1200">
                <a:solidFill>
                  <a:schemeClr val="accent1"/>
                </a:solidFill>
                <a:latin typeface="Calibri"/>
                <a:ea typeface="Microsoft YaHei"/>
                <a:cs typeface="Calibri"/>
              </a:defRPr>
            </a:pPr>
            <a:endParaRPr lang="en-US"/>
          </a:p>
        </c:txPr>
        <c:crossAx val="2068027336"/>
        <c:crosses val="autoZero"/>
        <c:crossBetween val="between"/>
        <c:majorUnit val="1"/>
      </c:valAx>
      <c:spPr>
        <a:noFill/>
        <a:ln>
          <a:noFill/>
        </a:ln>
      </c:spPr>
    </c:plotArea>
    <c:plotVisOnly val="1"/>
    <c:dispBlanksAs val="gap"/>
  </c:chart>
  <c:spPr>
    <a:noFill/>
    <a:ln>
      <a:noFill/>
    </a:ln>
  </c:spPr>
  <c:txPr>
    <a:bodyPr/>
    <a:lstStyle/>
    <a:p>
      <a:pPr>
        <a:defRPr lang="en-US" sz="1200">
          <a:solidFill>
            <a:schemeClr val="accent1"/>
          </a:solidFill>
          <a:latin typeface="Calibri"/>
          <a:ea typeface="Microsoft YaHei"/>
          <a:cs typeface="Calibri"/>
        </a:defRPr>
      </a:pPr>
      <a:endParaRPr lang="en-US"/>
    </a:p>
  </c:txPr>
  <c:externalData r:id="rId1">
    <c:autoUpdate val="0"/>
  </c:externalData>
</c:chartSpace>
</file>

<file path=ppt/charts/chartEx260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No fees or carry</cx:pt>
          <cx:pt idx="1">Management fees</cx:pt>
          <cx:pt idx="2">Carry</cx:pt>
          <cx:pt idx="3">Net LP IRR</cx:pt>
        </cx:lvl>
      </cx:strDim>
      <cx:numDim type="val">
        <cx:f>Sheet1!$B$2:$B$5</cx:f>
        <cx:lvl ptCount="4" formatCode="General">
          <cx:pt idx="0">20</cx:pt>
          <cx:pt idx="1">-2.195108</cx:pt>
          <cx:pt idx="2">-2.082333</cx:pt>
          <cx:pt idx="3">15.722559</cx:pt>
        </cx:lvl>
      </cx:numDim>
    </cx:data>
  </cx:chartData>
  <cx:chart>
    <cx:plotArea>
      <cx:plotAreaRegion>
        <cx:series layoutId="waterfall" uniqueId="{00000000-0000-4000-8000-000000000001}">
          <cx:tx>
            <cx:txData>
              <cx:f>Sheet1!$B$1</cx:f>
              <cx:v>irr-bridge</cx:v>
            </cx:txData>
          </cx:tx>
          <cx:dataLabels pos="outEnd">
            <cx:visibility seriesName="0" categoryName="0" value="1"/>
          </cx:dataLabels>
          <cx:dataId val="0"/>
          <cx:layoutPr>
            <cx:subtotals>
              <cx:idx val="3"/>
            </cx:subtotals>
          </cx:layoutPr>
        </cx:series>
      </cx:plotAreaRegion>
      <cx:axis id="0">
        <cx:catScaling gapWidth="0.5"/>
        <cx:tickLabels/>
      </cx:axis>
      <cx:axis id="1">
        <cx:valScaling/>
        <cx:majorGridlines/>
        <cx:tickLabels/>
      </cx:axis>
    </cx:plotArea>
  </cx:chart>
</cx:chartSpace>
</file>

<file path=ppt/charts/chartEx280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No-fee, no-carry LP NPV</cx:pt>
          <cx:pt idx="1">Management fee PV</cx:pt>
          <cx:pt idx="2">Reinvestment value lost</cx:pt>
          <cx:pt idx="3">Carry PV</cx:pt>
          <cx:pt idx="4">Net LP NPV</cx:pt>
        </cx:lvl>
      </cx:strDim>
      <cx:numDim type="val">
        <cx:f>Sheet1!$B$2:$B$6</cx:f>
        <cx:lvl ptCount="5" formatCode="General">
          <cx:pt idx="0">4562.191163</cx:pt>
          <cx:pt idx="1">-1731.475176</cx:pt>
          <cx:pt idx="2">-407.005111</cx:pt>
          <cx:pt idx="3">-1845.493736</cx:pt>
          <cx:pt idx="4">578.21714</cx:pt>
        </cx:lvl>
      </cx:numDim>
    </cx:data>
  </cx:chartData>
  <cx:chart>
    <cx:title pos="t" align="ctr" overlay="0">
      <cx:tx>
        <cx:txData>
          <cx:v>Fund LP value, $m PV at 15%</cx:v>
        </cx:txData>
      </cx:tx>
    </cx:title>
    <cx:plotArea>
      <cx:plotAreaRegion>
        <cx:series layoutId="waterfall" uniqueId="{00000000-0000-4000-8000-000000000001}">
          <cx:tx>
            <cx:txData>
              <cx:f>Sheet1!$B$1</cx:f>
              <cx:v>Fund LP value, $m PV at 15%</cx:v>
            </cx:txData>
          </cx:tx>
          <cx:dataLabels pos="outEnd">
            <cx:visibility seriesName="0" categoryName="0" value="1"/>
          </cx:dataLabels>
          <cx:dataId val="0"/>
          <cx:layoutPr>
            <cx:subtotals>
              <cx:idx val="4"/>
            </cx:subtotals>
          </cx:layoutPr>
        </cx:series>
      </cx:plotAreaRegion>
      <cx:axis id="0">
        <cx:catScaling gapWidth="0.5"/>
        <cx:tickLabels/>
      </cx:axis>
      <cx:axis id="1">
        <cx:valScaling/>
        <cx:majorGridlines/>
        <cx:tickLabels/>
      </cx:axis>
    </cx:plotArea>
  </cx:chart>
</cx:chartSpace>
</file>

<file path=ppt/charts/chartEx340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Sheet1!$A$2:$A$4</cx:f>
        <cx:lvl ptCount="3">
          <cx:pt idx="0">Additional gross distributions</cx:pt>
          <cx:pt idx="1">Additional carry deduction</cx:pt>
          <cx:pt idx="2">Net OPERF NPV gain</cx:pt>
        </cx:lvl>
      </cx:strDim>
      <cx:numDim type="val">
        <cx:f>Sheet1!$B$2:$B$4</cx:f>
        <cx:lvl ptCount="3" formatCode="General">
          <cx:pt idx="0">8.019301</cx:pt>
          <cx:pt idx="1">-1.465723</cx:pt>
          <cx:pt idx="2">6.553578</cx:pt>
        </cx:lvl>
      </cx:numDim>
    </cx:data>
  </cx:chartData>
  <cx:chart>
    <cx:title pos="t" align="ctr" overlay="0">
      <cx:tx>
        <cx:txData>
          <cx:v>Lower fees leave more capital invested</cx:v>
        </cx:txData>
      </cx:tx>
    </cx:title>
    <cx:plotArea>
      <cx:plotAreaRegion>
        <cx:series layoutId="waterfall" uniqueId="{00000000-0000-4000-8000-000000000001}">
          <cx:tx>
            <cx:txData>
              <cx:f>Sheet1!$B$1</cx:f>
              <cx:v>Lower fees leave more capital invested</cx:v>
            </cx:txData>
          </cx:tx>
          <cx:dataLabels pos="outEnd">
            <cx:visibility seriesName="0" categoryName="0" value="1"/>
          </cx:dataLabels>
          <cx:dataId val="0"/>
          <cx:layoutPr>
            <cx:subtotals>
              <cx:idx val="2"/>
            </cx:subtotals>
          </cx:layoutPr>
        </cx:series>
      </cx:plotAreaRegion>
      <cx:axis id="0">
        <cx:catScaling gapWidth="0.5"/>
        <cx:tickLabels/>
      </cx:axis>
      <cx:axis id="1">
        <cx:valScaling/>
        <cx:majorGridlines/>
        <cx:tickLabels/>
      </cx:axis>
    </cx:plotArea>
  </cx:chart>
</cx:chartSpace>
</file>

<file path=ppt/charts/colors2601.xml><?xml version="1.0" encoding="utf-8"?>
<cs:colorStyle xmlns:cs="http://schemas.microsoft.com/office/drawing/2012/chartStyle" xmlns:a="http://schemas.openxmlformats.org/drawingml/2006/main" meth="cycle" id="10">
  <a:schemeClr val="accent1"/>
  <a:srgbClr val="A33D3D"/>
  <a:srgbClr val="A33D3D"/>
  <a:schemeClr val="accent1"/>
</cs:colorStyle>
</file>

<file path=ppt/charts/colors2801.xml><?xml version="1.0" encoding="utf-8"?>
<cs:colorStyle xmlns:cs="http://schemas.microsoft.com/office/drawing/2012/chartStyle" xmlns:a="http://schemas.openxmlformats.org/drawingml/2006/main" meth="cycle" id="10">
  <a:schemeClr val="accent1"/>
  <a:srgbClr val="A33D3D"/>
  <a:srgbClr val="A33D3D"/>
  <a:srgbClr val="A33D3D"/>
  <a:schemeClr val="accent1"/>
</cs:colorStyle>
</file>

<file path=ppt/charts/colors3401.xml><?xml version="1.0" encoding="utf-8"?>
<cs:colorStyle xmlns:cs="http://schemas.microsoft.com/office/drawing/2012/chartStyle" xmlns:a="http://schemas.openxmlformats.org/drawingml/2006/main" meth="cycle" id="10">
  <a:srgbClr val="2E7D5B"/>
  <a:srgbClr val="A33D3D"/>
  <a:schemeClr val="accent1"/>
</cs:colorStyle>
</file>

<file path=ppt/charts/style260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80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40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Our case is OPERF and TPG Partners VI, and the decision date is December 2008. The Oregon Public Employees Retirement Fund has a $750 million commitment to TPG's sixth fund, TPG has offered every investor a management-fee cut, and it has also offered a way to reduce that commitment by 10%. Over the next 35 minutes we answer the six preparation questions in order. Li presents Parts 1 to 3, Alex presents Part 4, and Jimmy presents Part 5. All of our figures come from the team's workbook, and the facts come only from the case and material available by December 2008.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the route. Part 1 sets up the parties, the fund and the decision, and asks what is at stake. Part 2 answers Question 1: why TPG is revising its terms in the middle of the 2008 crisis. Part 3 answers Question 2: whether management fees and carried interest actually align the GP's and the LPs' interests. Alex then takes Part 4, Questions 3 and 4, which quantify the fund economics for OPERF and TPG and the value of the fee cut. Jimmy closes with Part 5, Questions 5 and 6: what OPERF should negotiate and whether it should reduce its commitment. Three appendix slides hold the full compensation comparison, the marginal-commitment NPV grid and TPG's track record. One convention throughout: all NPVs are measured at model inception, using the preparation question's $20 billion fund, 20% annual asset growth and a 15% discount rate.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1 asks what is at stake in OPERF's decision on TPG. Li presents this Part. Before anyone can judge TPG's offer, we need to know who the parties are, how large the fund is, how it works, and exactly what the December letter changes.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two parties are a pension investor and a private-equity manager. OPERF is Oregon's public pension investor and a limited partner in this case. TPG is the private-equity firm that manages TPG Partners VI as its general partner. OPERF committed $750 million in February 2008, which is about 3.8% of the fund's $19.8 billion of commitments. So this is a question about adjusting an existing commitment, not about making a new one. From here we look only at the fund that carries that commitment. The footnote matters: the 3.8% is OPERF's share of the fund's committed capital, not its asset allocation and not paid-in capital.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TPG VI held its final close in September 2008 and focuses on buyouts, restructurings and distressed opportunities. The previous slide showed OPERF's share inside the fund; this one shows the fund's size against the market. At $19.8 billion it accounted for about 46% of the $42.7 billion raised by global buyout funds that closed in the third quarter of 2008, using Preqin's figures as published at the time. Size alone says nothing about investment quality. The next step is to see who manages this capital and how it reaches the underlying investments.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Read the diagram top to bottom first. TPG, meaning its management and GP entities, selects and manages investments, and TPG VI, the fund, holds them, directly or through vehicles. Then read the side flows. OPERF and the other limited partners pay in capital when it is called, and TPG also puts in its own capital. When an investment is realised, the proceeds come back to the fund first and are then distributed under the partnership agreement. The GP's return on its own capital is shown separately from its fees and conditional carry. The point is that the results of the underlying investments, including the WaMu equity stake you can see here, reach the investors only through the fund. Keep this map in mind, because the December letter changes the commitment, the fees and the call arrangements that sit on these very flows.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With that map, the letter's effects are clear. The optional 10% reduction would take OPERF's commitment from $750 million to $675 million. The fee reduction, offered to all LPs, takes the management fee from 1.50% to 1.35%. And calls above 30% of commitments in the following year would need advisory-committee approval, which is a conditional limit on capital calls, not an absolute cap. OPERF has to decide whether to accept the reduction and whether to seek other terms. Why would TPG make these concessions at this moment? That is Question 1, and to answer it we go back to how the 2008 crisis changed both sides' positions.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2 asks why TPG is revising its terms amid the 2008 crisis. This is the strategic question, Question 1, and Li continues. We will look at the crisis, at one specific investment, at the investors' own pressures, and then at what each concession does for TPG.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Start with the external shock to this investment structure. The crisis hit through two channels. In the financing channel, the credit contraction made it harder to finance acquisitions and refinance debt, which limits what a fund can buy and support. In the exit channel, falling public-market valuations and an uncertain outlook weakened sale valuations, IPO prospects and exit timing, so getting capital back became slower and less certain. These are industry-level shocks. The transmission mechanism here is the team's analysis, read with the Federal Reserve's statement of 16 December 2008 on credit conditions and the weaker outlook. For TPG, one specific investment made the question of risk judgment much more direct, and that is next.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return to the WaMu stake that appeared in the structure diagram. On 11 April 2008, Washington Mutual, Inc. disclosed an investment agreement that named TPG VI. On 25 September 2008, Washington Mutual Bank was closed. Note that the holding company and the bank are different legal entities, and the timeline is a sequence, not to scale. By December, limited partners had reason to scrutinise TPG's investment selection and risk assessment. That may add to TPG's pressure to maintain investor confidence, but one investment does not represent the performance of the whole fund. Beyond how they view the manager, LPs faced a more practical problem: when distributions are uncertain, what happens to their existing commitments and their asset allocation?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Two separate pressures. On the liquidity side, less predictable distributions meet binding commitments, which can create funding strain for some LPs. OPERF's own team, however, believed it could meet its calls, so the case for reducing cannot simply be that OPERF lacks cash. On the allocation side, the PE weight is PE value divided by total portfolio value. When public assets fall faster than private-equity marks adjust, the PE weight can rise passively, and that calls for a separate allocation judgment. We assume no fixed PE value here; it is a qualitative mechanism. The closing line is the one to keep: payment capacity and portfolio allocation are separate decisions. These different constraints shape how willing LPs are to keep supporting the fund, so now we turn the perspective back to TPG.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From TPG's side, LP support matters in two places. For the current fund, reliable capital calls support investment execution. For future funds, LP willingness to reinvest affects access to new capital, and that is a possible future effect rather than a confirmed one. The case gives us Schmitz's view of the fundraising environment, not a statement of TPG's intentions, so protecting future capital is a plausible motive, not a proven one. This explains why a manager would feel pressure to respond. The next slide compares what each concession resolves and what it costs TPG.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Each concession has an economic cost, but each can also make funding more predictable and strengthen the relationship. The commitment option can ease funding strain and reduce the risk of LPs failing to meet calls, at the cost of less deployable capital if LPs exercise it. The fee cut shares the burden and supports LP confidence, at the cost of lower fee revenue. The call-approval threshold improves cash-planning predictability, at the cost of an extra approval step above the threshold. Our conclusion for Question 1 is that TPG could accept limited economic concessions to preserve reliable LP support while keeping the fund able to invest. This is a possible explanation; it does not prove that defaults were avoided or that confidence was restored. Question 2 now asks what management fees and carry each do, and what incentive problems remain after these concessions.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3 asks whether management fees and carry align GP and LP interests. This is the incentive question, Question 2, and Li presents it. We look at what each form of compensation is for, how the fee base creates its own incentive, and how the GP's own capital changes the picture.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have explained why TPG was willing to cut its fee; now look at the compensation mechanism being adjusted. Management fees support the team and its operating costs; they are charged periodically on the fee base agreed in the partnership agreement. Carried interest rewards distributable investment profits, determined under the distribution waterfall, and it is paid only when the agreed conditions are met. A salary-and-bonus analogy helps, with two cautions: the fee is not a personal salary, and carry is not an annual charge on fund size. In a whole-fund structure the steps are to return contributed capital, apply the agreed waterfall terms, and then allocate the remaining profits. Any preferred return, catch-up and other provisions depend on the LPA, and this illustration follows Metrick and Yasuda's description rather than TPG VI's actual contract. Because the two forms of pay rest on different bases, what the fee cut changes about incentives depends on the scale of fees, which is next.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Put the letter back into this fee mechanism. The bars are illustrative annual management-fee revenue on the $19.8 billion fund: $297 million at the original 1.50%, $267.3 million after the cut to 1.35%, and $240.57 million if the fee base were also 10% smaller, which is a hypothetical. The fee cut works through the rate and the commitment reduction works through the base, and together they lower the fee burden. But neither turns the management fee into pay that depends on realised profits, so a size incentive can remain. These are uniform annual figures before offsets and costs, not actual receipts. Still, it would be wrong to describe the GP as collecting fees without bearing investment risk, and for that we go back to the manager's own capital in the structure diagram.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the structure diagram the GP is also an investor, so if investments fail, its own capital can be lost. The matrix sets carry beside GP invested capital. Carry offers potential performance compensation when there are qualifying profits and may simply be absent when there are losses. GP capital earns an investment return under the agreed terms when things go well and can be lost when they do not. The case notes TPG's roughly $500 million own commitment. So the manager has a profit motive and also a real downside exposure. That strengthens alignment, but it does not remove every conflict, and the actual sharing of losses depends on fund terms including any clawback. Question 2 has described the mechanisms. Question 3 translates them into cash flows and quantifies what each side actually gets, and Alex takes it from here.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4 asks what the financial consequences are for OPERF and TPG. This is the economic question, covering Questions 3 and 4, and Alex presents it. We turn the mechanisms Li described into ten years of cash flows and put numbers on the LP's return, the GP's compensation and the value of the offered fee cut.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Li has shown OPERF's allocation pressure and its ability to pay. My part turns the problem into two calculations. First, under the question's assumptions, the LP's net IRR after management fees and carry is 15.72%, only a little above the 15% assumed discount rate that serves as the model benchmark. Second, cutting the management fee to 1.35% adds about $6.55 million to OPERF's inception-model NPV and about 21 basis points to LP IRR. So better fee terms help, but growth and exit assumptions remain critical. I will explain how these results are formed and why the improvement is still limited, moving from the baseline economics to the fee-cut value and then to performance sensitivity. These are model results under prescribed assumptions, not forecasts of actual returns.</a:t>
            </a:r>
          </a:p>
          <a:p>
            <a:pPr/>
            <a:endParaRPr lang="en-US" dirty="0"/>
          </a:p>
          <a:p>
            <a:pPr/>
            <a:r>
              <a:rPr lang="en-US" dirty="0"/>
              <a:t>Detail. Sources are Q3 Base case cells C50 and C64, Q4 Analysis cells C25 and C28, and the Inputs sheet rows C8 to C9 and C18 to C19. Every NPV is measured at model inception at the 15% rate.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Two facts frame OPERF's position. Its private-equity allocation was 21.9% at the end of 2008 against a 16% target, so it was over-allocated. And its $750 million commitment to Fund VI is 2.5 times the $300 million it committed to each of Funds II to V. The case also reports that OPERF has enough cash to meet future capital calls. Treat that as a feasibility condition: it tells us OPERF can participate, not whether the investment is worth it. Allocation and investment value still have to be judged separately, so none of this on its own says reduce or retain. The two charts use independent scales.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Exhibit 7 gives the actual snapshot of OPERF's Fund VI investment. Contributed capital is $79.9 million; distributions of $0.6 million plus a remaining fair value of $47.5 million give a total value of $48.1 million, so the reported total value to paid-in multiple is about 0.60 times. The remaining value has not been turned into cash, and the exhibit lists the IRR as not meaningful. Please do not read this as a realised 40% loss, and do not annualise it. The 15.72% you will see next comes from the question's ten-year hypothetical model, with a different time frame and a different metric, so the two are not comparable and the snapshot is not a forecast of a rebound. That is why we next set out the model assumptions on their own.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model uses a $20 billion fund, with $4 billion called at the start of each of Years 1 to 5. The management fee is 1.50% of commitments, paid in advance in each of the ten years. Assets grow 20% a year. The fund exits 20% of the year-end portfolio in each of Years 5 to 9 and liquidates fully in Year 10. Exit cash returns contributed capital first and the remaining profit is split 80% to the LPs and 20% to the GP. Valuation is at model inception, with a 15% assumed discount rate, and OPERF's model share is 3.75%. The case's actual fund size is $19.8 billion; the question's model uses $20 billion throughout. The baseline assumes no hurdle, while the case says TPG typically offers a preferred return, so Fund VI's exact terms are not confirmed, and the model does not treat TPG's own co-investment as a separate investor cash flow. Now we place these assumptions on a timeline.</a:t>
            </a:r>
          </a:p>
          <a:p>
            <a:pPr/>
            <a:endParaRPr lang="en-US" dirty="0"/>
          </a:p>
          <a:p>
            <a:pPr/>
            <a:r>
              <a:rPr lang="en-US" dirty="0"/>
              <a:t>Detail. Sources are Inputs cells C6 to C9, C13 to L14, C18, C20 and C26, Q3 Base case cell C63, and case pages 1 and 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cash flows start with the first call at the beginning of Year 1, so the first contribution sits at t equals 0 and the five calls of $4 billion run from t equals 0 to 4. LPs receive nothing until the end of Year 5, when the first distribution of $6.61 billion arrives. The Year 10 liquidation then delivers $20.22 billion, which is 42% of all nominal LP distributions. The model's results therefore depend heavily on the final liquidation, and we have not separately quantified the loss from delayed exits. One convention: these are LP distributions after carry, and fees are already reflected through smaller invested assets, so nothing is deducted twice.</a:t>
            </a:r>
          </a:p>
          <a:p>
            <a:pPr/>
            <a:endParaRPr lang="en-US" dirty="0"/>
          </a:p>
          <a:p>
            <a:pPr/>
            <a:r>
              <a:rPr lang="en-US" dirty="0"/>
              <a:t>Detail. Year 10 LP distribution $20,223.07 million divided by total nominal LP distributions $48,070.52 million equals 42.07%. That is a share of nominal distributions, not of present value. Sources are Q3 Base case cells B41 to L43, L35 and C53.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Fees are charged on the full $20 billion of commitments every year, so the annual fee is $300 million, and the fee base includes uncalled commitments. Of the first $4 billion call, only $3.7 billion goes into the investment pool after the fee; at 20% growth that becomes $4.44 billion by year-end. Management fees therefore remove capital and also remove the growth that capital would have earned. This is the first layer of the reduction in net returns that follows.</a:t>
            </a:r>
          </a:p>
          <a:p>
            <a:pPr/>
            <a:endParaRPr lang="en-US" dirty="0"/>
          </a:p>
          <a:p>
            <a:pPr/>
            <a:r>
              <a:rPr lang="en-US" dirty="0"/>
              <a:t>Detail. $300 million divided by $4,000 million is 7.5%, but that is the share of the first call used for the fee, not the fee rate; the contractual model rate stays 1.50%. Sources are Inputs cells C6 and C18, and Q3 Base case cells C15 to C17 and C20 to C21.</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how a distribution is shared once exits begin, using Year 8 as the example. The gross distribution is $5.639 billion. About $1.171 billion of capital has still not been returned, so that is paid back first. The remaining profit pool of $4.468 billion is then split 80 to 20: $3.574 billion to the LPs and $0.894 billion of carry to the GP. The LPs' total receipt of $4.745 billion is returned capital plus profit. The GP does not simply take 20% of every gross distribution, and the 15% discount rate is not a distribution hurdle in this model. Labels are rounded, so differences of $0.01 million are rounding. Next, the net return these mechanics produce.</a:t>
            </a:r>
          </a:p>
          <a:p>
            <a:pPr/>
            <a:endParaRPr lang="en-US" dirty="0"/>
          </a:p>
          <a:p>
            <a:pPr/>
            <a:r>
              <a:rPr lang="en-US" dirty="0"/>
              <a:t>Detail. Returned capital $1,171.10 million; profit pool $4,467.88 million; LP profit 80% equals $3,574.31 million; GP carry 20% equals $893.58 million. Sources are Q3 Base case cells J23, J27 to J28 and J34 to J36. The waterfall describes this model only and does not claim to verify the real contract.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Hold the growth and exit schedule fixed. With no fees and no carry, LP IRR is 20%. Adding management fees takes it to 17.80%, and adding carry takes it to 15.72%. In that order, the two steps are about 220 and 208 basis points, roughly 428 basis points in total. These differences come from recomputing the full cash flows, not from subtracting the 1.50% fee rate or the 20% carry rate, and the split depends on the order in which the charges are added. Is 15.72% enough for OPERF? That is the next slide.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Under the prescribed assumptions, the LP IRR of 15.72% exceeds the 15% model benchmark by about 0.72 percentage points, or 72 basis points, and that corresponds to a positive NPV for OPERF of $21.68 million at model inception. Two cautions. The 15% rate is the preparation question's assumed discount rate; nothing in the material shows it is OPERF's actual policy requirement. And NPV is not nominal profit or recovered principal; OPERF's 3.75% model share scales amounts, not the IRR. So the baseline creates value, but only given this growth and exit schedule, and the margin is not large. We therefore also need to see how the LP's return and the GP's income move when growth is weaker.</a:t>
            </a:r>
          </a:p>
          <a:p>
            <a:pPr/>
            <a:endParaRPr lang="en-US" dirty="0"/>
          </a:p>
          <a:p>
            <a:pPr/>
            <a:r>
              <a:rPr lang="en-US" dirty="0"/>
              <a:t>Detail. The margin is 15.7226% minus 15% times 10,000, which is 72.26 basis points. Sources are Q3 Base case cells C50 to C51 and C63 to C64, and Inputs cell C9.</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same result in value terms for the whole fund. With no fees and no carry, LP NPV would be about $4,562 million. The present value of management fees is about $1,731 million. On top of that, once fee dollars leave the investment pool, the growth they would have earned is lost; the model reconciles that at about $407 million. Deducting about $1,845 million of carry present value leaves a net LP NPV of $578 million. Every item uses the same 15% rate and the same inception date. The $407 million step is a model reconciliation, not a payment the GP receives, and these three present values are not the contractual profit split.</a:t>
            </a:r>
          </a:p>
          <a:p>
            <a:pPr/>
            <a:endParaRPr lang="en-US" dirty="0"/>
          </a:p>
          <a:p>
            <a:pPr/>
            <a:r>
              <a:rPr lang="en-US" dirty="0"/>
              <a:t>Detail. The check is Q3 Analysis cell B29 minus B26 minus B30 minus B27 equals B25: 4,562.19 minus 1,731.48 minus 407.01 minus 1,845.49 equals 578.22. Sources are Q3 Analysis cells B25 to B30 and Engine cells L16 to L17.</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Management fees are about 30% of the GP's nominal receipts over the ten years, but about 48% once everything is discounted at 15%. The reason is timing: fees start at t equals 0, while the baseline carry first appears at the end of Year 8. Each bar is 100% of its own total, and the two bars are separate measures. This shows how much cash-flow timing matters; it is not a GP profit share, not an estimate of the GP's own cost of capital, and it is before operating costs.</a:t>
            </a:r>
          </a:p>
          <a:p>
            <a:pPr/>
            <a:endParaRPr lang="en-US" dirty="0"/>
          </a:p>
          <a:p>
            <a:pPr/>
            <a:r>
              <a:rPr lang="en-US" dirty="0"/>
              <a:t>Detail. Nominal fees $3,000.00 million against carry $7,017.63 million, total $10,017.63 million, so fees are 29.95%. Present values are $1,731.48 million and $1,845.49 million, total $3,576.97 million, so fees are 48.41%. Sources are Q3 Base case cells C55 to C60, C62 and B44 to L45.</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vary growth. At 10% asset growth the LP IRR is 6.42%, below the 15% model benchmark, yet the GP still receives carry worth about $533 million in present value; at 0% growth the IRR is negative 2.87% and carry is zero. The fee present value of $1,731 million is the same in every case. This shows that carry can arise when the LP's return is below the assumed discount rate; it does not show a breach of the real contract. The reason is that this model returns nominal capital and then shares profit, without requiring the LP to reach 15% first. The 10% case is still a positive IRR, not a nominal loss. And carry does move with performance, while the case records TPG's roughly $500 million co-investment, so this is not a claim that the GP bears no risk.</a:t>
            </a:r>
          </a:p>
          <a:p>
            <a:pPr/>
            <a:endParaRPr lang="en-US" dirty="0"/>
          </a:p>
          <a:p>
            <a:pPr/>
            <a:r>
              <a:rPr lang="en-US" dirty="0"/>
              <a:t>Detail. Sources are Q3 Analysis cells A34 to E34, A36 to E36 and A38 to E38, and case pages 4 to 5. GP receipts are present values at model inception; the co-investment and operating costs are not modelled.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Question 3 in summary: the two sides' cash flows carry different risks. The LP receives investment distributions, and its IRR and NPV move with growth and timing, with capital committed before any return is realised. The GP receives management fees and carry; carry changes with fund performance, and the GP also has about $500 million of its own capital at stake and operating costs to cover. Fixed fees support part of the GP's income, but they do not eliminate GP risk, so the receipts chart is not a picture of net profit or of the full risk position. That gives Question 4 a precise job: how much does lowering the fixed fee improve things?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Question 4 changes one thing: the management fee goes from 1.50% to 1.35%. At the fund level that is $30 million less fee each year. Working through investable capital and distributions, LP IRR rises from 15.72% to 15.94%, about 21 basis points, and fund LP NPV at 15% rises by about $174.76 million, from $578.22 million to $752.98 million. The 15 basis points of fee rate and the 21.36 basis points of IRR are two different measures of the same change. Next we convert this into OPERF's own amounts.</a:t>
            </a:r>
          </a:p>
          <a:p>
            <a:pPr/>
            <a:endParaRPr lang="en-US" dirty="0"/>
          </a:p>
          <a:p>
            <a:pPr/>
            <a:r>
              <a:rPr lang="en-US" dirty="0"/>
              <a:t>Detail. The IRR change is computed at full precision, 21.3581 basis points. OPERF's 3.75% share scales amounts only, never the IRR. Sources are Inputs cells C6 and C18 to C19 and Q4 Analysis cells B6 to D7.</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With the fee at 1.35% and everything else constant, OPERF's model NPV rises from $21.68 million to $28.24 million, a gain of about $6.55 million, while LP IRR moves from 15.72% to 15.94%. OPERF's model share is 750 divided by 20,000, which is 3.75%. The nominal fee saving is $1.125 million a year, or $11.25 million over ten years, but those are savings, not NPV. The next slide explains why the two differ. One boundary: this is a ten-year inception-model comparison, not a valuation of the remaining investment in December 2008.</a:t>
            </a:r>
          </a:p>
          <a:p>
            <a:pPr/>
            <a:endParaRPr lang="en-US" dirty="0"/>
          </a:p>
          <a:p>
            <a:pPr/>
            <a:r>
              <a:rPr lang="en-US" dirty="0"/>
              <a:t>Detail. The gain uses full precision, 6.5536, rather than the rounded difference 28.24 minus 21.68, which shows as 6.56; do not restate the increment from rounded figures. Sources are Q4 Analysis cells C17 to C21, C25 and C28, Q3 Base case cell C64 and Q4 Fee cut cell C64.</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After the fee cut, more money stays in the fund and keeps growing, so future distributions rise. OPERF's share of those additional gross distributions is worth about $8.02 million in present value. The extra carry on that profit costs about $1.47 million in present value, and the net gain is the $6.55 million. The retained fees are already counted inside the additional distributions, so the direct saving must not be added again.</a:t>
            </a:r>
          </a:p>
          <a:p>
            <a:pPr/>
            <a:endParaRPr lang="en-US" dirty="0"/>
          </a:p>
          <a:p>
            <a:pPr/>
            <a:r>
              <a:rPr lang="en-US" dirty="0"/>
              <a:t>Detail. 8.019301 minus 1.465723 equals 6.553578. The present value of the direct fee saving, Q4 Analysis cell C22, is $6.49 million and is an alternative view only. The $1.47 million is not simply 20% of $8.02 million, because the timing of capital return and carry changes period by period. Sources are Q4 Analysis cells C23 to C25.</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fee savings that stay in the pool also raise the GP's carry. But over the ten years, in nominal whole-fund terms, the GP gives up $300 million of management fees and gains only about $140 million of carry, so its total receipts fall by about $160 million. Extra carry offsets only part of the fee concession, so a rise in carry does not mean the GP earns more overall. Note the switch in measure on this page: whole-fund nominal amounts over ten years, before GP operating costs.</a:t>
            </a:r>
          </a:p>
          <a:p>
            <a:pPr/>
            <a:endParaRPr lang="en-US" dirty="0"/>
          </a:p>
          <a:p>
            <a:pPr/>
            <a:r>
              <a:rPr lang="en-US" dirty="0"/>
              <a:t>Detail. Negative 300.00 plus 140.216831 equals negative 159.783169. Sources are Q4 Analysis cells B10 to D11.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fee cut helps in every tested growth case, but the size of the improvement depends on the measure. OPERF's NPV gain rises with growth, from $3.55 million at 0% to $9.99 million at 30%, while the IRR gain falls from about 31 basis points to about 20. At 10% growth the IRR improves from 6.42% to 6.65% but stays well below the 15% benchmark. These are single-variable scenarios with other assumptions fixed, not probabilities, and the model does not test whether a lower fee changes how the GP behaves, so this is not evidence that the fee cut has no effect on incentives.</a:t>
            </a:r>
          </a:p>
          <a:p>
            <a:pPr/>
            <a:endParaRPr lang="en-US" dirty="0"/>
          </a:p>
          <a:p>
            <a:pPr/>
            <a:r>
              <a:rPr lang="en-US" dirty="0"/>
              <a:t>Detail. NPV gains by growth: 0% $3.55 million, 10% $4.44 million, 20% $6.55 million, 30% $9.99 million. IRR gains: 31.15, 22.84, 21.36 and 20.46 basis points. Sources are Q4 Analysis rows 37, 39, 41 and 43.</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Start from the same baseline of 20% growth and a 1.50% fee. Lowering growth by one percentage point to 19% takes OPERF's NPV from plus $21.68 million to minus $6.41 million, a loss of $28.09 million. Lowering only the fee to 1.35% adds $6.55 million. The loss is about 4.3 times the benefit, so in this specific comparison the fee cut provides little cushion against weaker performance. One point means one percentage point, the two bars are not additive, and the 4.3 ratio holds only for this comparison. The end-of-life exit assumption also still matters: the concentration of cash in Year 10 is not resolved by the fee cut.</a:t>
            </a:r>
          </a:p>
          <a:p>
            <a:pPr/>
            <a:endParaRPr lang="en-US" dirty="0"/>
          </a:p>
          <a:p>
            <a:pPr/>
            <a:r>
              <a:rPr lang="en-US" dirty="0"/>
              <a:t>Detail. Break-even growth is about 19.23% at the 1.50% fee and about 19.00% at 1.35%, both interpolated, so 19% is approximately rather than exactly break-even. Sources are Engine cells L40 to L41 times Q3 Base case cell C63, Q4 Analysis cell C25 and Sensitivity cells B38 to C38; case page 5 on the exit environment.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close Questions 3 and 4: the baseline model creates positive value with a narrow margin, 15.72% against 15%. The fee reduction adds approximately $6.55 million to OPERF's inception-model NPV and about 21 basis points of IRR, which is worth counting, but it provides limited protection against weaker performance, as the growth test just showed. That gain is a ten-year inception comparison and does not by itself justify keeping the full $750 million. Two decisions remain: whether different carry terms, a hurdle or lower carry, improve investor outcomes, and whether OPERF should retain its full commitment at the case date. Jimmy takes both.</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5 asks what OPERF should negotiate and whether it should reduce its commitment. Jimmy presents Questions 5 and 6. Question 5 asks whether a hurdle rate or a lower carry would be reasonable for OPERF to request; we evaluate what each does, its value and the evidence supporting the request, before deciding on the $75 million.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two changes affect investors in different ways. A hurdle determines what investors receive before TPG earns carry: investors get the accrued preferred return first, although the hurdle does not guarantee that return. Catch-up determines how much of that advantage persists; with full catch-up TPG can recover its agreed profit share after investors receive the preference, and without catch-up investors keep more of the benefit. Lower carry changes the share of eligible profit TPG receives, but on its own it does not create a preferred return. Contemporary evidence gives a market reference: in Metrick and Yasuda's July 2007 sample, 93.1% of 144 buyout funds used hurdles and 8% was the most common rate, while the same terms table recorded no buyout funds with carry below 20%. That is a historical sample, not the whole market, and TPG VI's exact hurdle and catch-up terms remain unconfirmed. In this discussion LP means the investors and GP means TPG, and the model returns contributed capital, including contributions used for fees, before paying the preferred return and carry. First, how does value change as we vary the hurdle while keeping carry at 20%?</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table changes only the hurdle rate and distinguishes the two catch-up structures, with carry held at 20%. Values are additional LP NPV per $100 committed at inception, at 20% growth, a 15% discount rate, the 1.35% fee and the workbook's timing. Higher hurdles preserve or increase investor value. Removing catch-up gives investors more value at the same hurdle, until both structures reach the same endpoint at a 20% hurdle, where the gain is $9.42 in either column. At 8% the gain is $0.36 with full catch-up and $2.75 without. Higher hurdles reach a plateau once carry becomes zero, and the model does not identify 8% as a unique optimum. We will use the 8% row when we evaluate Question 5's specified terms.</a:t>
            </a:r>
          </a:p>
          <a:p>
            <a:pPr/>
            <a:endParaRPr lang="en-US" dirty="0"/>
          </a:p>
          <a:p>
            <a:pPr/>
            <a:r>
              <a:rPr lang="en-US" dirty="0"/>
              <a:t>Detail. The table is a selected illustrative slice of the completed sensitivity test; growth, discounting and timing remain necessary conditions. The underlying sweep uses 0.25-point hurdle steps, growth from 0% to 40% in 1-point steps and discount rates from 0% to 30% in 5-point steps. At the displayed 20% growth input, carry disappears at a hurdle of about 18.03%, and higher hurdles then tie. Full-catch-up values can stay flat when nominal carry and payment dates are unchanged. Manager response and acceptance probabilities are not modelled. Sources are Inputs cells C13 to L14 and C19 to C23 and the reproduced Question 5 waterfall.</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second table isolates a reduction in carry, with no hurdle assumed so that the carry effect is clean. Holding the investment inputs fixed, every carry reduction leaves more profit with investors: $1.18 per $100 at 17.5%, $2.36 at 15%, $4.71 at 10%, $7.07 at 5% and $9.42 at zero carry. The five-point reduction takes carry from 20% to 15%; that is five percentage points, not a 5% relative cut. Zero carry gives the model's greatest LP value, but the model does not tell us what TPG would accept, so it does not establish a feasible negotiated optimum. The zero-hurdle assumption is an analytical control, not a proposal to surrender existing protection. We can now use the 8% hurdle and 15% carry rows to evaluate Question 5.</a:t>
            </a:r>
          </a:p>
          <a:p>
            <a:pPr/>
            <a:endParaRPr lang="en-US" dirty="0"/>
          </a:p>
          <a:p>
            <a:pPr/>
            <a:r>
              <a:rPr lang="en-US" dirty="0"/>
              <a:t>Detail. These are selected results from the same broader grid as the previous slide. Under the no-hurdle control, eligible profits and timing stay fixed, so gains are proportional to the carry reduction. The $100 normalisation is for comparability; the next slide scales unrounded outputs to the $750 million commitment rather than multiplying rounded cells. Sources are Inputs cells C13 to L14 and C19 to C23 and the reproduced lower-carry waterfall.</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model's endpoints are a hurdle high enough to eliminate carry, or zero carry. Those are not automatically reasonable requests, so we distinguish the LP-value optimum within a chosen range from a reasonable negotiated term, which also needs market and contract evidence. Now evaluate the terms Question 5 actually asks about, scaled to the $750 million commitment with the workbook timing and the 1.35% fee. At the case inputs, the 8% hurdle adds $2.73 million with full catch-up and $20.65 million without it. Cutting carry from 20% to 15% adds $17.67 million in the isolated no-hurdle comparison. So the catch-up clause is essential: with full catch-up, the hurdle gives a smaller gain than the isolated carry cut. These findings guide how we build the proposals, which should capture these benefits while preserving any preferred return already in TPG VI's agreement.</a:t>
            </a:r>
          </a:p>
          <a:p>
            <a:pPr/>
            <a:endParaRPr lang="en-US" dirty="0"/>
          </a:p>
          <a:p>
            <a:pPr/>
            <a:r>
              <a:rPr lang="en-US" dirty="0"/>
              <a:t>Detail. The maximum LP-only gain within the displayed ranges is $70.67 million over baseline, reached by zero carry or by a hurdle high enough to eliminate carry; that is an analytical endpoint, not a recommendation. Baseline OPERF NPV is $28.24 million, so the three test points give total NPVs of $30.96 million, $48.88 million and $45.90 million, as alternative scenarios. At 10% growth, either hurdle gives a 7.83% LP IRR and adds $20.84 million, while isolated 15% carry gives 6.96% and adds $5.21 million; at 30% growth the gains are $2.63 million with full catch-up, $20.76 million without catch-up and $40.12 million with isolated lower carry. The 8% hurdle has contemporary market support; the cited buyout sample contains no carry below 20%; neither fact supplies an acceptance probability. Sources are Q5 Analysis cells C10 to E10, A24 to E24 and A34 to E34, and Summary cells C29 to F29.</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evidence now supports two complete proposals, and both preserve an 8% preferred return. Package A removes the GP catch-up while keeping 20% carry. Package B retains full catch-up and reduces carry to 15%. Both share the common terms: the offered 1.35% fee, return of LP contributed capital including contributions used for fees before carry, and an 8% annual preferred return compounded on unreturned capital and unpaid preferred return, while preserving any stronger protection that already exists. On the chart, the grey segment is the $2.73 million value of a standard 8% hurdle with full catch-up and 20% carry, and the coloured segment is the further improvement: $17.92 million for A, giving $20.65 million in total, and $16.59 million for B, giving $19.31 million. If TPG VI already has the reference hurdle, only the coloured gains are new value, and that is a conditional illustration because the actual LPA is unverified. The two bars are alternatives, not cumulative demands, and the gap between them at the base case is $1.33 million. Given the research, the scenario results and that small gap, what should our negotiating priority be?</a:t>
            </a:r>
          </a:p>
          <a:p>
            <a:pPr/>
            <a:endParaRPr lang="en-US" dirty="0"/>
          </a:p>
          <a:p>
            <a:pPr/>
            <a:r>
              <a:rPr lang="en-US" dirty="0"/>
              <a:t>Detail. Package B deliberately differs from the isolated 15% carry with no hurdle: retaining the hurdle lifts the total modelled gain from $17.67 million to $19.31 million, and we never offer to surrender an existing preferred return for the lower-carry comparison scenario. A separate test of the complete packages across growth rates finds a crossover at about 20.90% growth when discounting at 15%: above it B has the higher NPV, and below it A leads; an illustrative all-capital-at-inception schedule lowers the crossover to 19.88%, which is a robustness check, not a forecast of TPG's calls. If no catch-up and 15% carry could both be obtained with the 8% hurdle, that combination adds $33.15 million over baseline and weakly dominates the six tested structures, but no acceptance probabilities exist, so A and B remain alternative packages. Both are ambitious; the July 2007 evidence supports an 8% preferred return more strongly than 15% carry or no catch-up. Fee-equivalents and the combined structure are in appendix A1. Values are hypothetical inception comparisons, not refunds or a live cancellation valuation. Sources are Q5 Analysis cells D10, C10 and G10; the increments are C10 minus D10, which is 17.920340, and G10 minus D10, which is 16.587284.</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recommendation is not just a menu; it is an order. First, secure or preserve the 8% protection: confirm annual compounding, return of contributed capital including fees, and the existing catch-up clause, and keep any stronger protection. Our opening economic request is Package A, 8% preferred return, no GP catch-up, 20% carry, the first economic choice at the assigned 20% growth and worth $17.92 million if the reference hurdle already exists. If A is refused, pursue Package B, which retains the 8% return with full catch-up targeting 15% and a 15% carry, worth $16.59 million on the same conditional comparison; B remains valuable because the model gap is only $1.33 million. Where the hurdle is missing, a standard 8% hurdle with full catch-up and 20% carry is the fallback request, and if it already exists it is simply the status quo. Two boundaries: we will not give up an existing preferred return to obtain 15% carry, and we will not count the already-offered 1.35% fee as a new negotiating win. If TPG refuses amendments, keep the existing protection, accept the fee cut available to all LPs, seek better terms in future funds, and decide the $75 million question separately on the terms actually available. That is our negotiating order. We now decide whether the extra $75 million commitment is worth keeping, using the terms actually available.</a:t>
            </a:r>
          </a:p>
          <a:p>
            <a:pPr/>
            <a:endParaRPr lang="en-US" dirty="0"/>
          </a:p>
          <a:p>
            <a:pPr/>
            <a:r>
              <a:rPr lang="en-US" dirty="0"/>
              <a:t>Detail. A's priority rests on the prescribed base case and the original cash-flow schedule, where it leads B by only $1.33 million; above about 20.90% growth at 15% discounting, B leads, and a different draw schedule can reverse the ranking even at 20% growth. No acceptance probabilities are established, and obtaining A is not a condition for accepting an otherwise attractive B. If a stronger no-catch-up hurdle already exists, removing catch-up is not a new request; preserve it and assess the carry reduction against the actual agreement. The $17.92 million and $16.59 million figures assume an existing 8% full-catch-up, 20%-carry reference. An 8% hurdle is not a guaranteed investment return. Any amendment should be in writing and cover capital and fee treatment, compounding, the catch-up target, the carry rate, the effective date, excess-carry repayment and required consents; the advisory committee cannot be presumed able to rewrite compensation. If no amendment can be completed before the reduction offer expires, assess Question 6 on the available terms. Sources are case pages 1 and 4 to 6 and Q5 Analysis cells C10, D10 and G10.</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recommendation is to retain the full commitment under the assigned base case. To explain why, first define the choice. The offer releases $75 million of future obligations. The $79.9 million already contributed remains invested in either case, and reducing would still leave a $675 million commitment with $595.1 million of remaining obligation, against $670.1 million if OPERF retains. So the economic question is whether the additional $75 million obligation is worth keeping. A commitment reduction is not an immediate $75 million cash refund and not an immediate $75 million reduction in private-equity NAV. The ordinary 2009 call threshold would be $225 million if retaining or $202.5 million if reducing, with calls above 30% needing advisory-committee approval, but capacity to meet calls does not make the extra $75 million attractive. Start with the evidence from our previous calculations: what value does that marginal commitment have under the assigned assumptions?</a:t>
            </a:r>
          </a:p>
          <a:p>
            <a:pPr/>
            <a:endParaRPr lang="en-US" dirty="0"/>
          </a:p>
          <a:p>
            <a:pPr/>
            <a:r>
              <a:rPr lang="en-US" dirty="0"/>
              <a:t>Detail. The 30% threshold applied to the revised commitment gives 0.30 times 675, which is $202.5 million. The case suggests that accepting TPG's broadly offered reduction is unlikely to damage access, so we do not use an assumed relationship penalty to force a retain recommendation. Sources are Q6 OPERF decision cells B6 to C9, Inputs cells C26 to C31 and case pages 1 and 6.</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base-case result supports keeping. Under the original terms, a hypothetical $75 million inception commitment is worth about $2.17 million, and the offered fee cut raises that to $2.82 million; that is our base case using the offered fee rate. The two outlined bars show that Package A would lift it to $4.89 million and Package B to $4.75 million, but those are conditional on obtaining the package, and our base recommendation cannot count on concessions TPG has not agreed to. On sign convention: the workbook's minus $2.82 million is the NPV change from reducing, $25.413 million minus $28.237 million; the value of retaining the extra commitment is plus $2.82 million. All values scale the $750 million model by 10%, holding fund size, timing and proportional cash-flow rights fixed, and this is not a December valuation of cancelling the remaining obligations. Positive value is the reason to retain in the base case. How easily could weaker performance reverse it?</a:t>
            </a:r>
          </a:p>
          <a:p>
            <a:pPr/>
            <a:endParaRPr lang="en-US" dirty="0"/>
          </a:p>
          <a:p>
            <a:pPr/>
            <a:r>
              <a:rPr lang="en-US" dirty="0"/>
              <a:t>Detail. The fee-cut gain of $6.55 million on the full $750 million scales to about $0.66 million on $75 million; with unrounded values, 2.168314 plus 0.655358 equals 2.823672. Package A adds about $2.06 million and Package B about $1.93 million above the $2.82 million marginal baseline, and B retains the hurdle unlike the isolated no-hurdle, 15%-carry comparison. The workbook's first OPERF contribution is $150 million while the case reports $79.9 million contributed to date, so a December valuation must preserve sunk contributions and model only the changed future rights and obligations. If the actual LPA already has a preferred return, the no-hurdle comparison is not the live contractual baseline. Sources are Summary cells B29, C29 and D29 times Inputs cell C27; Package B is Summary cell C29 plus Q5 Analysis cell G10, times Inputs cell C27; the fee gain is Q4 Analysis cell C25 times Inputs cell C27; the sign check is Q6 OPERF decision cells B20 to D20.</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Alex already established the roughly 19% break-even. Its new use here is to measure the cushion on the extra $75 million. Moving growth from 20% to 19% removes $2.84 million of value, essentially all of the $2.82 million base-case value; at exactly 19% the marginal NPV is about zero, minus $0.013 million unrounded. The decline is far larger than the roughly $0.66 million the fee cut adds to the marginal tranche. The chart shows the range: minus $20.05 million at 10% growth, minus $2.71 million at 18%, plus $2.82 million at the 20% base case and plus $19.29 million at 25%. At 18% the LP IRR of 14.06% is still positive but below the assumed 15% discount rate, so positive IRR can still mean negative NPV. At 10% growth, either hurdle lifts the marginal NPV only to minus $17.97 million, so better terms cannot rescue every weak case. We therefore need a defensible outlook for this additional exposure; the fee cut alone is not enough to justify keeping it. The economic margin is thin, so Alex's allocation and liquidity facts now tell us what else we must test before using scarce capacity for this additional $75 million.</a:t>
            </a:r>
          </a:p>
          <a:p>
            <a:pPr/>
            <a:endParaRPr lang="en-US" dirty="0"/>
          </a:p>
          <a:p>
            <a:pPr/>
            <a:r>
              <a:rPr lang="en-US" dirty="0"/>
              <a:t>Detail. A negative downside scenario alone does not establish a negative expected NPV; we assign no probabilities, do not average selected scenarios and do not call the 20% assumption an expected return. The interpolated break-even is about 19.0045%, so we say approximately 19% rather than an exact rule. Two margins stay distinct: 20% growth exceeds break-even by about one point, and the 15.94% LP IRR exceeds the 15% discount rate by about 0.94 points. Negative forward incremental NPV favours taking the permitted 10% reduction after accounting for the cancellation terms; it does not imply OPERF may abandon the remaining contractual commitment. Sources are Q6 OPERF decision cells D42, D44, D45 and D47, equivalently Engine cells L62, L70, L72 and L77 times 75 over 20,000; Engine cell K70 for the 18% IRR; Engine cells L71 to L72 for the 19% point; Engine cells L93 and L124 for the 10% hurdle cases; Sensitivity cell C38.</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are not repeating the allocation and cash figures as background; each one becomes a test. Because private equity is 21.9% against a 16% target, capacity for additional PE exposure is scarce, so the incremental TPG opportunity must be compared with other investments and with manager and asset-class concentration; a cut frees future capacity but does not immediately reduce current PE NAV by $75 million. Because OPERF expects to meet TPG's calls, funding is feasible on the case's statement, but pension payments and all-manager calls still need to be stressed against weak distributions and falling liquid assets, and the ability to pay does not make the investment attractive. Because the inception model gives plus $2.82 million of marginal value, the remaining work is to validate the actual future cash-flow differences under the cancellation terms, use a defensible opportunity-cost benchmark, preserve the $79.9 million already contributed and count only agreed compensation terms. The comparison to complete is keeping versus taking the reduction and preserving flexibility or using capacity elsewhere, on a consistent valuation date and a defensible basis for risk, liquidity and timing, without implying that a superior alternative has already been found. The limitations strip reminds us that 20% growth and 15% discounting are prescribed, deployment and exits are fixed, the actual cancellation and waterfall terms are unverified, and the workbook starts at inception. Our recommendation follows from value, with separate portfolio feasibility conditions and clear reasons to reverse it.</a:t>
            </a:r>
          </a:p>
          <a:p>
            <a:pPr/>
            <a:endParaRPr lang="en-US" dirty="0"/>
          </a:p>
          <a:p>
            <a:pPr/>
            <a:r>
              <a:rPr lang="en-US" dirty="0"/>
              <a:t>Detail. The $75 million is roughly 0.16% of total assets, but that is not a reason to ignore opportunity cost. No full stress test, verified December marginal NPV or comparison proving TPG superior to alternatives has been completed. The 21.9% and 16% figures are stipulated case snapshots; the approximate $2.70 billion overweight is 21.9% minus 16% times $45.8 billion, and the case's rounded $9.8 billion does not reconcile exactly to 21.9%. We infer no market bottom, do not substitute TPG's historical 27% IRR for a forecast, and would have to justify any lower discount rate rather than choose one to make NPV positive. Sources are Inputs cells C8 to C9, C28 and C34 to C35, Guide cells B28 to B35, Q6 OPERF decision cells B25 to L28 and C64 to C71, and case pages 4 to 6.</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answer remains no reduction under the assigned base case: retain the full $750 million. The reason is $2.82 million of positive marginal inception value, retain-model NPV of $28.24 million against $25.41 million for a hypothetical smaller inception commitment, not simply that OPERF has cash. The LP IRR of 15.94% against the 15% discount rate is the same model result expressed differently, not independent evidence. That value has a thin growth cushion: moving growth from 20% to 19% removes about $2.84 million, so the retain answer needs a defensible outlook and an opportunity-cost benchmark. Feasibility is a separate condition: test pension payments, aggregate calls, liquid assets and concentration, because meeting expected TPG calls is neither a full stress test nor an economic reason to retain. The decision rule is this. Retain when the actual forward marginal investment is attractive relative to alternative uses of capacity, on the terms actually available, and liquidity and concentration constraints are acceptable. Use the 10% reduction when forward incremental NPV is negative, superior alternatives or concentration constraints make the extra exposure unattractive, or liquidity pressure is unacceptable. If those checks reject the additional exposure, we would take the permitted reduction. Either way, accept the 1.35% fee cut and follow the Question 5 negotiating order without counting unagreed improvements. We can now state both decisions clearly: the ranked compensation requests and the base-case commitment recommendation.</a:t>
            </a:r>
          </a:p>
          <a:p>
            <a:pPr/>
            <a:endParaRPr lang="en-US" dirty="0"/>
          </a:p>
          <a:p>
            <a:pPr/>
            <a:r>
              <a:rPr lang="en-US" dirty="0"/>
              <a:t>Detail. The workbook's minus $2.82 million measures the change caused by reducing; keeping has plus $2.82 million in the base case, and a genuinely negative actual forward marginal NPV would support reducing, which cash availability or relationship history should not override. The actual forward valuation, the alternative-opportunity comparison and the portfolio stress test remain uncompleted in the supplied materials, so key terms and constraints should be resolved before the offer expires, without implying the cancellation right remains afterwards. Taking the reduction leaves a $675 million commitment. No later market recovery is used to justify retaining. Sources are Q6 OPERF decision cells B20 to D21, Summary cell C11, Engine cells L71 to L72 times 75 over 20,000, Inputs cell C9 and case pages 5 to 6.</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are both decisions together. On Question 6: do not take the 10% reduction under the prescribed base case; retain $750 million, and accept the fee cut, which is available either way. The plus $2.82 million marginal inception value supports retaining; reverse if actual forward incremental value is negative, if better alternatives or concentration constraints make the extra exposure unattractive, or if liquidity pressure is unacceptable. On Question 5: confirm or preserve 8% protection; lead with Package A, 8%, no catch-up, 20% carry; if refused, pursue Package B, 8%, full catch-up, 15% carry; and seek the standard 8% hurdle as a fallback only where it is absent. Existing protection and the already-offered fee cut are not new concessions. The branch diagram puts values on each path in OPERF inception NPV: the original terms give $21.68 million, the fee-cut baseline gives $28.24 million, and from there Package A reaches $48.88 million, Package B $47.55 million and the fallback $30.96 million. The branches are ranked alternatives, not cumulative demands, and if a reference hurdle already exists only the incremental improvement counts. All NPVs are at model inception at 20% growth and 15% discounting, and TPG VI's actual terms may differ. The isolated 15%-carry, no-hurdle case at $45.90 million remains an analytical scenario, not the recommended package.</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How should OPERF approach TPG now? TPG's voluntary concessions create an opening for discussion, while OPERF's existing commitments limit its unilateral leverage. The context is December 2008: the Federal Reserve's statement of 16 December reports deteriorating activity and tight credit while announcing substantial support, and the direction and timing of recovery are unknown. Apollo's April 2008 filing describes an 8% preferred return with catch-up, management-fee offsets and clawback provisions; these are examples available at the decision date, not proof that OPERF can secure identical terms. The five steps follow. Accept the fee reduction available to all LPs. Evaluate commitment size independently of that common concession. Check TPG VI's actual LPA and amendment requirements. Preserve or seek 8% protection, request A first, pursue B if A is refused, then the standard hurdle fallback where it is missing. And use future commitments as additional negotiating opportunities without promising them now. Throughout, preserve a constructive relationship whether retaining or accepting TPG's offered reduction; a reducing LP is not abandoning the manager. Later material, including the 2009 ILPA principles, the March 2009 TPG write-down and later surveys, is deliberately excluded.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Finally, what the model establishes and what the decision still needs. Growth of 20% and a 15% discount rate are the preparation question's assumptions, so the base-case value is conditional and sensitivity matters. The workbook's comparison starts at inception, so a December valuation must preserve sunk contributions and model only the changed future rights and obligations. Deployment is modelled as five equal 20% draws while actual contributions to date are only 10.7% of the commitment, so different timing can change returns and fee drag and the direction should be recalculated rather than asserted. The exact Fund VI hurdle, catch-up and cancellation terms are not established here, so confirm them before claiming a concession is new or valuing a cancellation. GP co-investment, fee offsets, fee step-downs, financing detail, clawback detail and taxes are omitted, so the results explain the assigned framework, not every feature of the live fund. Private valuations are estimates and the case reports early losses, so review current information without using later write-down announcements. And the five main scenarios with their 31-point growth grids were independently reproduced for core returns, NPV and GP compensation, which supports arithmetic consistency but does not validate forecasts or every native Excel feature. So: retain in the assigned base case, subject to the investment and liquidity review before the offer expires, and reassess future investment decisions as information improves; retaining now does not establish a right to cancel this commitment later. Thank you. The appendix slides hold the full compensation comparison, the marginal NPV grid and TPG's record for questions.</a:t>
            </a:r>
          </a:p>
          <a:p>
            <a:pPr/>
            <a:endParaRPr lang="en-US" dirty="0"/>
          </a:p>
          <a:p>
            <a:pPr/>
            <a:r>
              <a:rPr lang="en-US" dirty="0"/>
              <a:t>Detail. 79.9 divided by 750 equals 10.7%. Sources are Inputs cells A6 to D23, Guide cells B28 to B35, Q6 OPERF decision cells B7 and B26 to L28, and case page 5.</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Reference slide. Every modelled compensation alternative is compared with the fee-cut baseline of a 1.35% fee, 20% carry and no hurdle, at 20% growth and a 15% discount rate, with NPV at model inception and nominal carry and GP present value for the whole fund. The baseline gives a 15.94% LP IRR, $7.16 billion of nominal GP carry and $3.44 billion of GP compensation present value. A full-catch-up hurdle adds only 9 basis points and $2.73 million. A no-catch-up hurdle adds 66 basis points and $20.65 million. Fifteen percent carry with no hurdle adds 55 basis points and $17.67 million. The full-catch-up hurdle with 15% carry adds 61 basis points and $19.31 million. The no-catch-up hurdle with 15% carry is the model's maximum at 103 basis points and $33.15 million, with GP compensation present value falling to $2.56 billion. The gains share the same no-hurdle baseline, so if the full-catch-up hurdle were already in place, adding 15% carry would give about $16.59 million, which is $19.31 million minus $2.73 million unrounded. The approximate fee-equivalent column uses $11.65 million of whole-fund LP NPV per basis point of management fee from Q5 Analysis cell C18; it is a base-case comparison, not proof of equal incentives or available fee offsets. Sources are Q5 Analysis cells B6 to G18 and Engine rows 12 to 13.</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Reference slide. The grid shows the NPV of the marginal $75 million inception commitment, in millions, across asset growth rates in the rows and assumed discount rates in the columns; the columns are assumptions, not independently established OPERF required returns. Positive values favour retaining within the model and negative values favour the hypothetical lower inception commitment. The base case, 20% growth at 15% discounting, is plus $2.8 million. The extra tranche is worth keeping only when growth is high relative to the discount rate: at 15% discounting it turns negative at 18% growth, and at 20% discounting it is negative until growth reaches 25%. At 10% discounting it is positive from 15% growth upwards. Source is Q6 OPERF decision cells A39 to F48. These are inception-date values; explain that limitation if anyone applies the grid directly to the December 2008 cancellation.</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Reference slide. Total value to paid-in by TPG fund from case Exhibit 7: Fund I 3.53 times, Fund II 1.69 times, Fund III 2.28 times, Fund IV 1.29 times, Fund V 0.71 times and Fund VI 0.60 times, with the 1.0 times line marking capital returned. The case reports IRRs of 36.3% for Fund I, 24.5% for Fund III and minus 16.7% for Fund V, and Fund VI's IRR is not meaningful in the exhibit. The case's approximately 27% cumulative IRR for OPERF's TPG investments is not a return earned every year and not a forecast for Fund VI. Different fund ages and unrealised values limit direct comparisons; the early Fund VI losses warrant scrutiny without determining the return on the remaining investments. Sources are case Exhibit 7 and page 5 and Q6 OPERF decision cells A53 to H61.</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operf_tpg_case_stu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operf_tpg_case_stu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en-US">
          <a:solidFill>
            <a:schemeClr val="tx1"/>
          </a:solidFill>
          <a:latin typeface="+mn-lt"/>
          <a:ea typeface="+mn-ea"/>
          <a:cs typeface="+mn-cs"/>
        </a:defRPr>
      </a:lvl9pPr>
    </p:bodyStyle>
    <p:otherStyle>
      <a:defPPr>
        <a:defRPr lang="en-US"/>
      </a:defPPr>
      <a:lvl1pPr marL="0" algn="l" defTabSz="457200" rtl="0" eaLnBrk="1" latinLnBrk="0" hangingPunct="1">
        <a:defRPr sz="1650" kern="1200" lang="en-US">
          <a:solidFill>
            <a:schemeClr val="tx1"/>
          </a:solidFill>
          <a:latin typeface="+mn-lt"/>
          <a:ea typeface="+mn-ea"/>
          <a:cs typeface="+mn-cs"/>
        </a:defRPr>
      </a:lvl1pPr>
      <a:lvl2pPr marL="457200" algn="l" defTabSz="457200" rtl="0" eaLnBrk="1" latinLnBrk="0" hangingPunct="1">
        <a:defRPr sz="1550" kern="1200" lang="en-US">
          <a:solidFill>
            <a:schemeClr val="tx1"/>
          </a:solidFill>
          <a:latin typeface="+mn-lt"/>
          <a:ea typeface="+mn-ea"/>
          <a:cs typeface="+mn-cs"/>
        </a:defRPr>
      </a:lvl2pPr>
      <a:lvl3pPr marL="914400" algn="l" defTabSz="457200" rtl="0" eaLnBrk="1" latinLnBrk="0" hangingPunct="1">
        <a:defRPr sz="1450" kern="1200" lang="en-US">
          <a:solidFill>
            <a:schemeClr val="tx1"/>
          </a:solidFill>
          <a:latin typeface="+mn-lt"/>
          <a:ea typeface="+mn-ea"/>
          <a:cs typeface="+mn-cs"/>
        </a:defRPr>
      </a:lvl3pPr>
      <a:lvl4pPr marL="1371600" algn="l" defTabSz="457200" rtl="0" eaLnBrk="1" latinLnBrk="0" hangingPunct="1">
        <a:defRPr sz="1350" kern="1200" lang="en-US">
          <a:solidFill>
            <a:schemeClr val="tx1"/>
          </a:solidFill>
          <a:latin typeface="+mn-lt"/>
          <a:ea typeface="+mn-ea"/>
          <a:cs typeface="+mn-cs"/>
        </a:defRPr>
      </a:lvl4pPr>
      <a:lvl5pPr marL="1828800" algn="l" defTabSz="457200" rtl="0" eaLnBrk="1" latinLnBrk="0" hangingPunct="1">
        <a:defRPr sz="1250" kern="1200" lang="en-US">
          <a:solidFill>
            <a:schemeClr val="tx1"/>
          </a:solidFill>
          <a:latin typeface="+mn-lt"/>
          <a:ea typeface="+mn-ea"/>
          <a:cs typeface="+mn-cs"/>
        </a:defRPr>
      </a:lvl5pPr>
      <a:lvl6pPr marL="2286000" algn="l" defTabSz="457200" rtl="0" eaLnBrk="1" latinLnBrk="0" hangingPunct="1">
        <a:defRPr sz="1150" kern="1200" lang="en-US">
          <a:solidFill>
            <a:schemeClr val="tx1"/>
          </a:solidFill>
          <a:latin typeface="+mn-lt"/>
          <a:ea typeface="+mn-ea"/>
          <a:cs typeface="+mn-cs"/>
        </a:defRPr>
      </a:lvl6pPr>
      <a:lvl7pPr marL="2743200" algn="l" defTabSz="457200" rtl="0" eaLnBrk="1" latinLnBrk="0" hangingPunct="1">
        <a:defRPr sz="1050" kern="1200" lang="en-US">
          <a:solidFill>
            <a:schemeClr val="tx1"/>
          </a:solidFill>
          <a:latin typeface="+mn-lt"/>
          <a:ea typeface="+mn-ea"/>
          <a:cs typeface="+mn-cs"/>
        </a:defRPr>
      </a:lvl7pPr>
      <a:lvl8pPr marL="3200400" algn="l" defTabSz="457200" rtl="0" eaLnBrk="1" latinLnBrk="0" hangingPunct="1">
        <a:defRPr sz="950" kern="1200" lang="en-US">
          <a:solidFill>
            <a:schemeClr val="tx1"/>
          </a:solidFill>
          <a:latin typeface="+mn-lt"/>
          <a:ea typeface="+mn-ea"/>
          <a:cs typeface="+mn-cs"/>
        </a:defRPr>
      </a:lvl8pPr>
      <a:lvl9pPr marL="3657600" algn="l" defTabSz="457200" rtl="0" eaLnBrk="1" latinLnBrk="0" hangingPunct="1">
        <a:defRPr sz="8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01.xm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601.xml"/>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001.xml"/>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101.xml"/>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301.xml"/>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401.xml"/>
  <Relationship Id="rId3"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501.xml"/>
  <Relationship Id="rId3"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microsoft.com/office/2014/relationships/chartEx" Target="../charts/chartEx2601.xml"/>
  <Relationship Id="rId3"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microsoft.com/office/2014/relationships/chartEx" Target="../charts/chartEx2801.xml"/>
  <Relationship Id="rId3"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901.xml"/>
  <Relationship Id="rId3"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01.xml"/>
  <Relationship Id="rId3" Type="http://schemas.openxmlformats.org/officeDocument/2006/relationships/chart" Target="../charts/chart3002.xml"/>
  <Relationship Id="rId4"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microsoft.com/office/2014/relationships/chartEx" Target="../charts/chartEx3401.xml"/>
  <Relationship Id="rId3"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501.xml"/>
  <Relationship Id="rId3"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601.xml"/>
  <Relationship Id="rId3"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701.xml"/>
  <Relationship Id="rId3"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401.xml"/>
  <Relationship Id="rId3"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601.xml"/>
  <Relationship Id="rId3"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701.xml"/>
  <Relationship Id="rId3"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801.xml"/>
  <Relationship Id="rId3"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601.xml"/>
  <Relationship Id="rId3" Type="http://schemas.openxmlformats.org/officeDocument/2006/relationships/notesSlide" Target="../notesSlides/notesSlide5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cover-field"/>
          <p:cNvGrpSpPr/>
          <p:nvPr/>
        </p:nvGrpSpPr>
        <p:grpSpPr>
          <a:xfrm>
            <a:off x="0" y="0"/>
            <a:ext cx="4381500" cy="6858000"/>
            <a:chOff x="0" y="0"/>
            <a:chExt cx="4381500" cy="6858000"/>
          </a:xfrm>
        </p:grpSpPr>
        <p:sp>
          <p:nvSpPr>
            <p:cNvPr id="2" name="Rectangle 2"/>
            <p:cNvSpPr/>
            <p:nvPr/>
          </p:nvSpPr>
          <p:spPr>
            <a:xfrm>
              <a:off x="0" y="0"/>
              <a:ext cx="4381500" cy="6858000"/>
            </a:xfrm>
            <a:prstGeom prst="rect">
              <a:avLst/>
            </a:prstGeom>
            <a:solidFill>
              <a:schemeClr val="accent1"/>
            </a:solidFill>
            <a:ln>
              <a:noFill/>
            </a:ln>
          </p:spPr>
        </p:sp>
        <p:sp>
          <p:nvSpPr>
            <p:cNvPr id="3" name="TextBox 3"/>
            <p:cNvSpPr txBox="1"/>
            <p:nvPr/>
          </p:nvSpPr>
          <p:spPr>
            <a:xfrm>
              <a:off x="527304" y="1289050"/>
              <a:ext cx="1241709"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DECISION</a:t>
              </a:r>
            </a:p>
          </p:txBody>
        </p:sp>
        <p:sp>
          <p:nvSpPr>
            <p:cNvPr id="4" name="TextBox 4"/>
            <p:cNvSpPr txBox="1"/>
            <p:nvPr/>
          </p:nvSpPr>
          <p:spPr>
            <a:xfrm>
              <a:off x="514350" y="1955800"/>
              <a:ext cx="3267258" cy="1790700"/>
            </a:xfrm>
            <a:prstGeom prst="rect">
              <a:avLst/>
            </a:prstGeom>
            <a:noFill/>
            <a:ln>
              <a:noFill/>
            </a:ln>
          </p:spPr>
          <p:txBody>
            <a:bodyPr wrap="none" lIns="0" tIns="0" rIns="0" bIns="0" anchor="t" anchorCtr="0">
              <a:spAutoFit/>
            </a:bodyPr>
            <a:lstStyle/>
            <a:p>
              <a:pPr algn="l">
                <a:lnSpc>
                  <a:spcPts val="5850"/>
                </a:lnSpc>
              </a:pPr>
              <a:r>
                <a:rPr lang="en-US" sz="5400" b="1" dirty="0">
                  <a:solidFill>
                    <a:srgbClr val="FBF8F2"/>
                  </a:solidFill>
                  <a:latin typeface="+mj-lt"/>
                  <a:ea typeface="+mj-ea"/>
                  <a:cs typeface="+mj-cs"/>
                </a:rPr>
                <a:t>December</a:t>
              </a:r>
              <a:br>
                <a:rPr lang="en-US" sz="5400" b="1" dirty="0">
                  <a:solidFill>
                    <a:srgbClr val="FBF8F2"/>
                  </a:solidFill>
                  <a:latin typeface="+mj-lt"/>
                  <a:ea typeface="+mj-ea"/>
                  <a:cs typeface="+mj-cs"/>
                </a:rPr>
              </a:br>
              <a:r>
                <a:rPr lang="en-US" sz="5400" b="1" dirty="0">
                  <a:solidFill>
                    <a:srgbClr val="FBF8F2"/>
                  </a:solidFill>
                  <a:latin typeface="+mj-lt"/>
                  <a:ea typeface="+mj-ea"/>
                  <a:cs typeface="+mj-cs"/>
                </a:rPr>
                <a:t>2008</a:t>
              </a:r>
            </a:p>
          </p:txBody>
        </p:sp>
        <p:sp>
          <p:nvSpPr>
            <p:cNvPr id="5" name="Line 5"/>
            <p:cNvSpPr/>
            <p:nvPr/>
          </p:nvSpPr>
          <p:spPr>
            <a:xfrm>
              <a:off x="533400" y="3657600"/>
              <a:ext cx="762000" cy="9525"/>
            </a:xfrm>
            <a:custGeom>
              <a:avLst/>
              <a:gdLst/>
              <a:ahLst/>
              <a:cxnLst/>
              <a:rect l="l" t="t" r="r" b="b"/>
              <a:pathLst>
                <a:path w="762000" h="9525">
                  <a:moveTo>
                    <a:pt x="0" y="0"/>
                  </a:moveTo>
                  <a:lnTo>
                    <a:pt x="762000" y="0"/>
                  </a:lnTo>
                </a:path>
              </a:pathLst>
            </a:custGeom>
            <a:noFill/>
            <a:ln w="19050">
              <a:solidFill>
                <a:schemeClr val="accent3"/>
              </a:solidFill>
            </a:ln>
          </p:spPr>
        </p:sp>
        <p:sp>
          <p:nvSpPr>
            <p:cNvPr id="6" name="TextBox 6"/>
            <p:cNvSpPr txBox="1"/>
            <p:nvPr/>
          </p:nvSpPr>
          <p:spPr>
            <a:xfrm>
              <a:off x="523494" y="3892550"/>
              <a:ext cx="2885667" cy="1105281"/>
            </a:xfrm>
            <a:prstGeom prst="rect">
              <a:avLst/>
            </a:prstGeom>
            <a:noFill/>
            <a:ln>
              <a:noFill/>
            </a:ln>
          </p:spPr>
          <p:txBody>
            <a:bodyPr wrap="none" lIns="0" tIns="0" rIns="0" bIns="0" anchor="t" anchorCtr="0">
              <a:spAutoFit/>
            </a:bodyPr>
            <a:lstStyle/>
            <a:p>
              <a:pPr algn="l">
                <a:lnSpc>
                  <a:spcPts val="2850"/>
                </a:lnSpc>
              </a:pPr>
              <a:r>
                <a:rPr lang="en-US" sz="1950" dirty="0">
                  <a:solidFill>
                    <a:srgbClr val="FBF8F2"/>
                  </a:solidFill>
                  <a:latin typeface="+mn-lt"/>
                  <a:ea typeface="+mn-ea"/>
                  <a:cs typeface="+mn-cs"/>
                </a:rPr>
                <a:t>A $750 million commitment,</a:t>
              </a:r>
              <a:br>
                <a:rPr lang="en-US" sz="1950" dirty="0">
                  <a:solidFill>
                    <a:srgbClr val="FBF8F2"/>
                  </a:solidFill>
                  <a:latin typeface="+mn-lt"/>
                  <a:ea typeface="+mn-ea"/>
                  <a:cs typeface="+mn-cs"/>
                </a:rPr>
              </a:br>
              <a:r>
                <a:rPr lang="en-US" sz="1950" dirty="0">
                  <a:solidFill>
                    <a:srgbClr val="FBF8F2"/>
                  </a:solidFill>
                  <a:latin typeface="+mn-lt"/>
                  <a:ea typeface="+mn-ea"/>
                  <a:cs typeface="+mn-cs"/>
                </a:rPr>
                <a:t>a fee cut on the table,</a:t>
              </a:r>
              <a:br>
                <a:rPr lang="en-US" sz="1950" dirty="0">
                  <a:solidFill>
                    <a:srgbClr val="FBF8F2"/>
                  </a:solidFill>
                  <a:latin typeface="+mn-lt"/>
                  <a:ea typeface="+mn-ea"/>
                  <a:cs typeface="+mn-cs"/>
                </a:rPr>
              </a:br>
              <a:r>
                <a:rPr lang="en-US" sz="1950" dirty="0">
                  <a:solidFill>
                    <a:srgbClr val="FBF8F2"/>
                  </a:solidFill>
                  <a:latin typeface="+mn-lt"/>
                  <a:ea typeface="+mn-ea"/>
                  <a:cs typeface="+mn-cs"/>
                </a:rPr>
                <a:t>and a 10% way out.</a:t>
              </a:r>
            </a:p>
          </p:txBody>
        </p:sp>
      </p:grpSp>
      <p:grpSp>
        <p:nvGrpSpPr>
          <p:cNvPr id="9" name="cover-title"/>
          <p:cNvGrpSpPr/>
          <p:nvPr/>
        </p:nvGrpSpPr>
        <p:grpSpPr>
          <a:xfrm>
            <a:off x="4937760" y="2755900"/>
            <a:ext cx="4949114" cy="1501140"/>
            <a:chOff x="4937760" y="2755900"/>
            <a:chExt cx="4949114" cy="1501140"/>
          </a:xfrm>
        </p:grpSpPr>
        <p:sp>
          <p:nvSpPr>
            <p:cNvPr id="8" name="TextBox 8"/>
            <p:cNvSpPr txBox="1"/>
            <p:nvPr/>
          </p:nvSpPr>
          <p:spPr>
            <a:xfrm>
              <a:off x="4937760" y="2755900"/>
              <a:ext cx="4949114" cy="15011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OPERF and TPG Partners VI:</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Push and Pull Over</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GP/LP Compensation</a:t>
              </a:r>
            </a:p>
          </p:txBody>
        </p:sp>
      </p:grpSp>
      <p:grpSp>
        <p:nvGrpSpPr>
          <p:cNvPr id="11" name="cover-subtitle"/>
          <p:cNvGrpSpPr/>
          <p:nvPr/>
        </p:nvGrpSpPr>
        <p:grpSpPr>
          <a:xfrm>
            <a:off x="4942332" y="4279900"/>
            <a:ext cx="5632953" cy="410718"/>
            <a:chOff x="4942332" y="4279900"/>
            <a:chExt cx="5632953" cy="410718"/>
          </a:xfrm>
        </p:grpSpPr>
        <p:sp>
          <p:nvSpPr>
            <p:cNvPr id="10" name="TextBox 10"/>
            <p:cNvSpPr txBox="1"/>
            <p:nvPr/>
          </p:nvSpPr>
          <p:spPr>
            <a:xfrm>
              <a:off x="4942332" y="4279900"/>
              <a:ext cx="5632953"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Case analysis — Preparation Questions Q1 to Q6</a:t>
              </a:r>
            </a:p>
          </p:txBody>
        </p:sp>
      </p:grpSp>
      <p:grpSp>
        <p:nvGrpSpPr>
          <p:cNvPr id="14" name="cover-presenters"/>
          <p:cNvGrpSpPr/>
          <p:nvPr/>
        </p:nvGrpSpPr>
        <p:grpSpPr>
          <a:xfrm>
            <a:off x="4944618" y="4953000"/>
            <a:ext cx="6637782" cy="513207"/>
            <a:chOff x="4944618" y="4953000"/>
            <a:chExt cx="6637782" cy="513207"/>
          </a:xfrm>
        </p:grpSpPr>
        <p:sp>
          <p:nvSpPr>
            <p:cNvPr id="12" name="Line 12"/>
            <p:cNvSpPr/>
            <p:nvPr/>
          </p:nvSpPr>
          <p:spPr>
            <a:xfrm>
              <a:off x="4953000" y="495300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13" name="TextBox 13"/>
            <p:cNvSpPr txBox="1"/>
            <p:nvPr/>
          </p:nvSpPr>
          <p:spPr>
            <a:xfrm>
              <a:off x="4944618" y="5143500"/>
              <a:ext cx="369922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Li</a:t>
              </a:r>
              <a:r>
                <a:rPr lang="en-US" sz="1650" dirty="0">
                  <a:solidFill>
                    <a:schemeClr val="accent1"/>
                  </a:solidFill>
                  <a:latin typeface="+mn-lt"/>
                  <a:ea typeface="+mn-ea"/>
                  <a:cs typeface="+mn-cs"/>
                </a:rPr>
                <a:t xml:space="preserve"> · Parts 1–3 </a:t>
              </a:r>
              <a:r>
                <a:rPr lang="en-US" sz="1650" b="1" dirty="0">
                  <a:solidFill>
                    <a:schemeClr val="accent1"/>
                  </a:solidFill>
                  <a:latin typeface="+mn-lt"/>
                  <a:ea typeface="+mn-ea"/>
                  <a:cs typeface="+mn-cs"/>
                </a:rPr>
                <a:t>Alex</a:t>
              </a:r>
              <a:r>
                <a:rPr lang="en-US" sz="1650" dirty="0">
                  <a:solidFill>
                    <a:schemeClr val="accent1"/>
                  </a:solidFill>
                  <a:latin typeface="+mn-lt"/>
                  <a:ea typeface="+mn-ea"/>
                  <a:cs typeface="+mn-cs"/>
                </a:rPr>
                <a:t xml:space="preserve"> · Part 4 </a:t>
              </a:r>
              <a:r>
                <a:rPr lang="en-US" sz="1650" b="1" dirty="0">
                  <a:solidFill>
                    <a:schemeClr val="accent1"/>
                  </a:solidFill>
                  <a:latin typeface="+mn-lt"/>
                  <a:ea typeface="+mn-ea"/>
                  <a:cs typeface="+mn-cs"/>
                </a:rPr>
                <a:t>Jimmy</a:t>
              </a:r>
              <a:r>
                <a:rPr lang="en-US" sz="1650" dirty="0">
                  <a:solidFill>
                    <a:schemeClr val="accent1"/>
                  </a:solidFill>
                  <a:latin typeface="+mn-lt"/>
                  <a:ea typeface="+mn-ea"/>
                  <a:cs typeface="+mn-cs"/>
                </a:rPr>
                <a:t xml:space="preserve"> · Part 5</a:t>
              </a:r>
            </a:p>
          </p:txBody>
        </p:sp>
      </p:grpSp>
      <p:grpSp>
        <p:nvGrpSpPr>
          <p:cNvPr id="16" name="cover-footnote"/>
          <p:cNvGrpSpPr/>
          <p:nvPr/>
        </p:nvGrpSpPr>
        <p:grpSpPr>
          <a:xfrm>
            <a:off x="4947666" y="6350000"/>
            <a:ext cx="5505692" cy="205359"/>
            <a:chOff x="4947666" y="6350000"/>
            <a:chExt cx="5505692" cy="205359"/>
          </a:xfrm>
        </p:grpSpPr>
        <p:sp>
          <p:nvSpPr>
            <p:cNvPr id="15" name="TextBox 15"/>
            <p:cNvSpPr txBox="1"/>
            <p:nvPr/>
          </p:nvSpPr>
          <p:spPr>
            <a:xfrm>
              <a:off x="4947666" y="6350000"/>
              <a:ext cx="550569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Based on Darden case UV5622 and the team's analysis workbook (OPERF_Analysis_Jimmy.xlsx)</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362839" cy="244475"/>
            <a:chOff x="603504" y="546100"/>
            <a:chExt cx="2362839" cy="244475"/>
          </a:xfrm>
        </p:grpSpPr>
        <p:sp>
          <p:nvSpPr>
            <p:cNvPr id="2" name="TextBox 2"/>
            <p:cNvSpPr txBox="1"/>
            <p:nvPr/>
          </p:nvSpPr>
          <p:spPr>
            <a:xfrm>
              <a:off x="603504" y="546100"/>
              <a:ext cx="236283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 × TPG PARTNERS VI</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1813663" cy="586740"/>
            <a:chOff x="594360" y="812800"/>
            <a:chExt cx="1813663" cy="586740"/>
          </a:xfrm>
        </p:grpSpPr>
        <p:sp>
          <p:nvSpPr>
            <p:cNvPr id="5" name="TextBox 5"/>
            <p:cNvSpPr txBox="1"/>
            <p:nvPr/>
          </p:nvSpPr>
          <p:spPr>
            <a:xfrm>
              <a:off x="594360" y="812800"/>
              <a:ext cx="181366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Contents</a:t>
              </a:r>
            </a:p>
          </p:txBody>
        </p:sp>
      </p:grpSp>
      <p:grpSp>
        <p:nvGrpSpPr>
          <p:cNvPr id="15" name="toc-part-1"/>
          <p:cNvGrpSpPr/>
          <p:nvPr/>
        </p:nvGrpSpPr>
        <p:grpSpPr>
          <a:xfrm>
            <a:off x="594360" y="1593850"/>
            <a:ext cx="10135215" cy="767207"/>
            <a:chOff x="594360" y="1593850"/>
            <a:chExt cx="10135215" cy="767207"/>
          </a:xfrm>
        </p:grpSpPr>
        <p:sp>
          <p:nvSpPr>
            <p:cNvPr id="7" name="Line 7"/>
            <p:cNvSpPr/>
            <p:nvPr/>
          </p:nvSpPr>
          <p:spPr>
            <a:xfrm>
              <a:off x="1181100" y="16383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8" name="TextBox 8"/>
            <p:cNvSpPr txBox="1"/>
            <p:nvPr/>
          </p:nvSpPr>
          <p:spPr>
            <a:xfrm>
              <a:off x="594360" y="15938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1</a:t>
              </a:r>
            </a:p>
          </p:txBody>
        </p:sp>
        <p:sp>
          <p:nvSpPr>
            <p:cNvPr id="9" name="TextBox 9"/>
            <p:cNvSpPr txBox="1"/>
            <p:nvPr/>
          </p:nvSpPr>
          <p:spPr>
            <a:xfrm>
              <a:off x="1325118" y="1771650"/>
              <a:ext cx="222545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Case setup and decision</a:t>
              </a:r>
            </a:p>
          </p:txBody>
        </p:sp>
        <p:sp>
          <p:nvSpPr>
            <p:cNvPr id="10" name="TextBox 10"/>
            <p:cNvSpPr txBox="1"/>
            <p:nvPr/>
          </p:nvSpPr>
          <p:spPr>
            <a:xfrm>
              <a:off x="1325118" y="2038350"/>
              <a:ext cx="4103043"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What is at stake in OPERF's decision on TPG?</a:t>
              </a:r>
            </a:p>
          </p:txBody>
        </p:sp>
        <p:grpSp>
          <p:nvGrpSpPr>
            <p:cNvPr id="13" name="Group 13"/>
            <p:cNvGrpSpPr/>
            <p:nvPr/>
          </p:nvGrpSpPr>
          <p:grpSpPr>
            <a:xfrm>
              <a:off x="10131060" y="1754784"/>
              <a:ext cx="229599" cy="229956"/>
              <a:chOff x="10131060" y="1754784"/>
              <a:chExt cx="229599" cy="229956"/>
            </a:xfrm>
          </p:grpSpPr>
          <p:sp>
            <p:nvSpPr>
              <p:cNvPr id="11" name="Freeform 11"/>
              <p:cNvSpPr/>
              <p:nvPr/>
            </p:nvSpPr>
            <p:spPr>
              <a:xfrm>
                <a:off x="10131060" y="1754784"/>
                <a:ext cx="229599" cy="229956"/>
              </a:xfrm>
              <a:custGeom>
                <a:avLst/>
                <a:gdLst/>
                <a:ahLst/>
                <a:cxnLst/>
                <a:rect l="l" t="t" r="r" b="b"/>
                <a:pathLst>
                  <a:path w="229599" h="229956">
                    <a:moveTo>
                      <a:pt x="92440" y="356"/>
                    </a:moveTo>
                    <a:cubicBezTo>
                      <a:pt x="37449" y="13104"/>
                      <a:pt x="0" y="64088"/>
                      <a:pt x="4282" y="120374"/>
                    </a:cubicBezTo>
                    <a:cubicBezTo>
                      <a:pt x="8564" y="176660"/>
                      <a:pt x="53295" y="221391"/>
                      <a:pt x="109582" y="225673"/>
                    </a:cubicBezTo>
                    <a:cubicBezTo>
                      <a:pt x="165868" y="229956"/>
                      <a:pt x="216851" y="192507"/>
                      <a:pt x="229599" y="137516"/>
                    </a:cubicBezTo>
                    <a:cubicBezTo>
                      <a:pt x="229599" y="130502"/>
                      <a:pt x="223913" y="124816"/>
                      <a:pt x="216899" y="124816"/>
                    </a:cubicBezTo>
                    <a:lnTo>
                      <a:pt x="130540" y="124816"/>
                    </a:lnTo>
                    <a:cubicBezTo>
                      <a:pt x="116512" y="124816"/>
                      <a:pt x="105140" y="113444"/>
                      <a:pt x="105140" y="99416"/>
                    </a:cubicBezTo>
                    <a:lnTo>
                      <a:pt x="105140" y="10516"/>
                    </a:lnTo>
                    <a:cubicBezTo>
                      <a:pt x="104821" y="7477"/>
                      <a:pt x="103299" y="4692"/>
                      <a:pt x="100912" y="2783"/>
                    </a:cubicBezTo>
                    <a:cubicBezTo>
                      <a:pt x="98526" y="874"/>
                      <a:pt x="95475" y="0"/>
                      <a:pt x="92440" y="356"/>
                    </a:cubicBezTo>
                  </a:path>
                </a:pathLst>
              </a:custGeom>
              <a:noFill/>
              <a:ln w="25400">
                <a:solidFill>
                  <a:srgbClr val="5C6670"/>
                </a:solidFill>
              </a:ln>
            </p:spPr>
          </p:sp>
          <p:sp>
            <p:nvSpPr>
              <p:cNvPr id="12" name="Freeform 12"/>
              <p:cNvSpPr/>
              <p:nvPr/>
            </p:nvSpPr>
            <p:spPr>
              <a:xfrm>
                <a:off x="10287000" y="1758950"/>
                <a:ext cx="69850" cy="69850"/>
              </a:xfrm>
              <a:custGeom>
                <a:avLst/>
                <a:gdLst/>
                <a:ahLst/>
                <a:cxnLst/>
                <a:rect l="l" t="t" r="r" b="b"/>
                <a:pathLst>
                  <a:path w="69850" h="69850">
                    <a:moveTo>
                      <a:pt x="0" y="0"/>
                    </a:moveTo>
                    <a:cubicBezTo>
                      <a:pt x="32662" y="11501"/>
                      <a:pt x="58349" y="37188"/>
                      <a:pt x="69850" y="69850"/>
                    </a:cubicBezTo>
                    <a:lnTo>
                      <a:pt x="12700" y="69850"/>
                    </a:lnTo>
                    <a:cubicBezTo>
                      <a:pt x="5686" y="69850"/>
                      <a:pt x="0" y="64164"/>
                      <a:pt x="0" y="57150"/>
                    </a:cubicBezTo>
                    <a:lnTo>
                      <a:pt x="0" y="0"/>
                    </a:lnTo>
                  </a:path>
                </a:pathLst>
              </a:custGeom>
              <a:noFill/>
              <a:ln w="25400">
                <a:solidFill>
                  <a:srgbClr val="5C6670"/>
                </a:solidFill>
              </a:ln>
            </p:spPr>
          </p:sp>
        </p:grpSp>
        <p:sp>
          <p:nvSpPr>
            <p:cNvPr id="14" name="TextBox 14"/>
            <p:cNvSpPr txBox="1"/>
            <p:nvPr/>
          </p:nvSpPr>
          <p:spPr>
            <a:xfrm>
              <a:off x="10564368" y="1771650"/>
              <a:ext cx="16520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a:t>
              </a:r>
            </a:p>
          </p:txBody>
        </p:sp>
      </p:grpSp>
      <p:grpSp>
        <p:nvGrpSpPr>
          <p:cNvPr id="25" name="toc-part-2"/>
          <p:cNvGrpSpPr/>
          <p:nvPr/>
        </p:nvGrpSpPr>
        <p:grpSpPr>
          <a:xfrm>
            <a:off x="594360" y="2317750"/>
            <a:ext cx="10135215" cy="767207"/>
            <a:chOff x="594360" y="2317750"/>
            <a:chExt cx="10135215" cy="767207"/>
          </a:xfrm>
        </p:grpSpPr>
        <p:sp>
          <p:nvSpPr>
            <p:cNvPr id="16" name="Line 16"/>
            <p:cNvSpPr/>
            <p:nvPr/>
          </p:nvSpPr>
          <p:spPr>
            <a:xfrm>
              <a:off x="1181100" y="23622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17" name="TextBox 17"/>
            <p:cNvSpPr txBox="1"/>
            <p:nvPr/>
          </p:nvSpPr>
          <p:spPr>
            <a:xfrm>
              <a:off x="594360" y="23177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2</a:t>
              </a:r>
            </a:p>
          </p:txBody>
        </p:sp>
        <p:sp>
          <p:nvSpPr>
            <p:cNvPr id="18" name="TextBox 18"/>
            <p:cNvSpPr txBox="1"/>
            <p:nvPr/>
          </p:nvSpPr>
          <p:spPr>
            <a:xfrm>
              <a:off x="1325118" y="2495550"/>
              <a:ext cx="385685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The 2008 crisis and TPG's motivation · Q1</a:t>
              </a:r>
            </a:p>
          </p:txBody>
        </p:sp>
        <p:sp>
          <p:nvSpPr>
            <p:cNvPr id="19" name="TextBox 19"/>
            <p:cNvSpPr txBox="1"/>
            <p:nvPr/>
          </p:nvSpPr>
          <p:spPr>
            <a:xfrm>
              <a:off x="1325118" y="2762250"/>
              <a:ext cx="4583467"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Why is TPG revising its terms amid the 2008 crisis?</a:t>
              </a:r>
            </a:p>
          </p:txBody>
        </p:sp>
        <p:grpSp>
          <p:nvGrpSpPr>
            <p:cNvPr id="23" name="Group 23"/>
            <p:cNvGrpSpPr/>
            <p:nvPr/>
          </p:nvGrpSpPr>
          <p:grpSpPr>
            <a:xfrm>
              <a:off x="10120819" y="2472281"/>
              <a:ext cx="256151" cy="220068"/>
              <a:chOff x="10120819" y="2472281"/>
              <a:chExt cx="256151" cy="220068"/>
            </a:xfrm>
          </p:grpSpPr>
          <p:sp>
            <p:nvSpPr>
              <p:cNvPr id="20" name="Freeform 20"/>
              <p:cNvSpPr/>
              <p:nvPr/>
            </p:nvSpPr>
            <p:spPr>
              <a:xfrm>
                <a:off x="10248900" y="2552700"/>
                <a:ext cx="9525" cy="50800"/>
              </a:xfrm>
              <a:custGeom>
                <a:avLst/>
                <a:gdLst/>
                <a:ahLst/>
                <a:cxnLst/>
                <a:rect l="l" t="t" r="r" b="b"/>
                <a:pathLst>
                  <a:path w="9525" h="50800">
                    <a:moveTo>
                      <a:pt x="0" y="0"/>
                    </a:moveTo>
                    <a:lnTo>
                      <a:pt x="0" y="50800"/>
                    </a:lnTo>
                  </a:path>
                </a:pathLst>
              </a:custGeom>
              <a:noFill/>
              <a:ln w="25400">
                <a:solidFill>
                  <a:srgbClr val="5C6670"/>
                </a:solidFill>
              </a:ln>
            </p:spPr>
          </p:sp>
          <p:sp>
            <p:nvSpPr>
              <p:cNvPr id="21" name="Freeform 21"/>
              <p:cNvSpPr/>
              <p:nvPr/>
            </p:nvSpPr>
            <p:spPr>
              <a:xfrm>
                <a:off x="10120819" y="247228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rgbClr val="5C6670"/>
                </a:solidFill>
              </a:ln>
            </p:spPr>
          </p:sp>
          <p:sp>
            <p:nvSpPr>
              <p:cNvPr id="22" name="Freeform 22"/>
              <p:cNvSpPr/>
              <p:nvPr/>
            </p:nvSpPr>
            <p:spPr>
              <a:xfrm>
                <a:off x="10248900" y="2641599"/>
                <a:ext cx="9525" cy="9525"/>
              </a:xfrm>
              <a:custGeom>
                <a:avLst/>
                <a:gdLst/>
                <a:ahLst/>
                <a:cxnLst/>
                <a:rect l="l" t="t" r="r" b="b"/>
                <a:pathLst>
                  <a:path w="9525" h="9525">
                    <a:moveTo>
                      <a:pt x="0" y="0"/>
                    </a:moveTo>
                    <a:lnTo>
                      <a:pt x="127" y="0"/>
                    </a:lnTo>
                  </a:path>
                </a:pathLst>
              </a:custGeom>
              <a:noFill/>
              <a:ln w="25400">
                <a:solidFill>
                  <a:srgbClr val="5C6670"/>
                </a:solidFill>
              </a:ln>
            </p:spPr>
          </p:sp>
        </p:grpSp>
        <p:sp>
          <p:nvSpPr>
            <p:cNvPr id="24" name="TextBox 24"/>
            <p:cNvSpPr txBox="1"/>
            <p:nvPr/>
          </p:nvSpPr>
          <p:spPr>
            <a:xfrm>
              <a:off x="10564368" y="2495550"/>
              <a:ext cx="16520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a:t>
              </a:r>
            </a:p>
          </p:txBody>
        </p:sp>
      </p:grpSp>
      <p:grpSp>
        <p:nvGrpSpPr>
          <p:cNvPr id="37" name="toc-part-3"/>
          <p:cNvGrpSpPr/>
          <p:nvPr/>
        </p:nvGrpSpPr>
        <p:grpSpPr>
          <a:xfrm>
            <a:off x="594360" y="3041650"/>
            <a:ext cx="10135215" cy="767207"/>
            <a:chOff x="594360" y="3041650"/>
            <a:chExt cx="10135215" cy="767207"/>
          </a:xfrm>
        </p:grpSpPr>
        <p:sp>
          <p:nvSpPr>
            <p:cNvPr id="26" name="Line 26"/>
            <p:cNvSpPr/>
            <p:nvPr/>
          </p:nvSpPr>
          <p:spPr>
            <a:xfrm>
              <a:off x="1181100" y="30861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27" name="TextBox 27"/>
            <p:cNvSpPr txBox="1"/>
            <p:nvPr/>
          </p:nvSpPr>
          <p:spPr>
            <a:xfrm>
              <a:off x="594360" y="30416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3</a:t>
              </a:r>
            </a:p>
          </p:txBody>
        </p:sp>
        <p:sp>
          <p:nvSpPr>
            <p:cNvPr id="28" name="TextBox 28"/>
            <p:cNvSpPr txBox="1"/>
            <p:nvPr/>
          </p:nvSpPr>
          <p:spPr>
            <a:xfrm>
              <a:off x="1325118" y="3219450"/>
              <a:ext cx="411109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GP/LP compensation and misalignment · Q2</a:t>
              </a:r>
            </a:p>
          </p:txBody>
        </p:sp>
        <p:sp>
          <p:nvSpPr>
            <p:cNvPr id="29" name="TextBox 29"/>
            <p:cNvSpPr txBox="1"/>
            <p:nvPr/>
          </p:nvSpPr>
          <p:spPr>
            <a:xfrm>
              <a:off x="1325118" y="3486150"/>
              <a:ext cx="5256833"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Do management fees and carry align GP and LP interests?</a:t>
              </a:r>
            </a:p>
          </p:txBody>
        </p:sp>
        <p:grpSp>
          <p:nvGrpSpPr>
            <p:cNvPr id="35" name="Group 35"/>
            <p:cNvGrpSpPr/>
            <p:nvPr/>
          </p:nvGrpSpPr>
          <p:grpSpPr>
            <a:xfrm>
              <a:off x="10134600" y="3200400"/>
              <a:ext cx="228600" cy="225424"/>
              <a:chOff x="10134600" y="3200400"/>
              <a:chExt cx="228600" cy="225424"/>
            </a:xfrm>
          </p:grpSpPr>
          <p:sp>
            <p:nvSpPr>
              <p:cNvPr id="30" name="Freeform 30"/>
              <p:cNvSpPr/>
              <p:nvPr/>
            </p:nvSpPr>
            <p:spPr>
              <a:xfrm>
                <a:off x="10185400" y="3416299"/>
                <a:ext cx="127000" cy="9525"/>
              </a:xfrm>
              <a:custGeom>
                <a:avLst/>
                <a:gdLst/>
                <a:ahLst/>
                <a:cxnLst/>
                <a:rect l="l" t="t" r="r" b="b"/>
                <a:pathLst>
                  <a:path w="127000" h="9525">
                    <a:moveTo>
                      <a:pt x="0" y="0"/>
                    </a:moveTo>
                    <a:lnTo>
                      <a:pt x="127000" y="0"/>
                    </a:lnTo>
                  </a:path>
                </a:pathLst>
              </a:custGeom>
              <a:noFill/>
              <a:ln w="25400">
                <a:solidFill>
                  <a:srgbClr val="5C6670"/>
                </a:solidFill>
              </a:ln>
            </p:spPr>
          </p:sp>
          <p:sp>
            <p:nvSpPr>
              <p:cNvPr id="31" name="Freeform 31"/>
              <p:cNvSpPr/>
              <p:nvPr/>
            </p:nvSpPr>
            <p:spPr>
              <a:xfrm>
                <a:off x="10172700" y="3225800"/>
                <a:ext cx="152400" cy="12700"/>
              </a:xfrm>
              <a:custGeom>
                <a:avLst/>
                <a:gdLst/>
                <a:ahLst/>
                <a:cxnLst/>
                <a:rect l="l" t="t" r="r" b="b"/>
                <a:pathLst>
                  <a:path w="152400" h="12700">
                    <a:moveTo>
                      <a:pt x="0" y="12700"/>
                    </a:moveTo>
                    <a:lnTo>
                      <a:pt x="76200" y="0"/>
                    </a:lnTo>
                    <a:lnTo>
                      <a:pt x="152400" y="12700"/>
                    </a:lnTo>
                  </a:path>
                </a:pathLst>
              </a:custGeom>
              <a:noFill/>
              <a:ln w="25400">
                <a:solidFill>
                  <a:srgbClr val="5C6670"/>
                </a:solidFill>
              </a:ln>
            </p:spPr>
          </p:sp>
          <p:sp>
            <p:nvSpPr>
              <p:cNvPr id="32" name="Freeform 32"/>
              <p:cNvSpPr/>
              <p:nvPr/>
            </p:nvSpPr>
            <p:spPr>
              <a:xfrm>
                <a:off x="10248900" y="3200400"/>
                <a:ext cx="9525" cy="215899"/>
              </a:xfrm>
              <a:custGeom>
                <a:avLst/>
                <a:gdLst/>
                <a:ahLst/>
                <a:cxnLst/>
                <a:rect l="l" t="t" r="r" b="b"/>
                <a:pathLst>
                  <a:path w="9525" h="215899">
                    <a:moveTo>
                      <a:pt x="0" y="0"/>
                    </a:moveTo>
                    <a:lnTo>
                      <a:pt x="0" y="215899"/>
                    </a:lnTo>
                  </a:path>
                </a:pathLst>
              </a:custGeom>
              <a:noFill/>
              <a:ln w="25400">
                <a:solidFill>
                  <a:srgbClr val="5C6670"/>
                </a:solidFill>
              </a:ln>
            </p:spPr>
          </p:sp>
          <p:sp>
            <p:nvSpPr>
              <p:cNvPr id="33" name="Freeform 33"/>
              <p:cNvSpPr/>
              <p:nvPr/>
            </p:nvSpPr>
            <p:spPr>
              <a:xfrm>
                <a:off x="10134600" y="32385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rgbClr val="5C6670"/>
                </a:solidFill>
              </a:ln>
            </p:spPr>
          </p:sp>
          <p:sp>
            <p:nvSpPr>
              <p:cNvPr id="34" name="Freeform 34"/>
              <p:cNvSpPr/>
              <p:nvPr/>
            </p:nvSpPr>
            <p:spPr>
              <a:xfrm>
                <a:off x="10287000" y="32385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rgbClr val="5C6670"/>
                </a:solidFill>
              </a:ln>
            </p:spPr>
          </p:sp>
        </p:grpSp>
        <p:sp>
          <p:nvSpPr>
            <p:cNvPr id="36" name="TextBox 36"/>
            <p:cNvSpPr txBox="1"/>
            <p:nvPr/>
          </p:nvSpPr>
          <p:spPr>
            <a:xfrm>
              <a:off x="10564368" y="3219450"/>
              <a:ext cx="16520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a:t>
              </a:r>
            </a:p>
          </p:txBody>
        </p:sp>
      </p:grpSp>
      <p:grpSp>
        <p:nvGrpSpPr>
          <p:cNvPr id="52" name="toc-part-4"/>
          <p:cNvGrpSpPr/>
          <p:nvPr/>
        </p:nvGrpSpPr>
        <p:grpSpPr>
          <a:xfrm>
            <a:off x="594360" y="3765550"/>
            <a:ext cx="10378465" cy="767207"/>
            <a:chOff x="594360" y="3765550"/>
            <a:chExt cx="10378465" cy="767207"/>
          </a:xfrm>
        </p:grpSpPr>
        <p:sp>
          <p:nvSpPr>
            <p:cNvPr id="38" name="Line 38"/>
            <p:cNvSpPr/>
            <p:nvPr/>
          </p:nvSpPr>
          <p:spPr>
            <a:xfrm>
              <a:off x="1181100" y="38100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39" name="TextBox 39"/>
            <p:cNvSpPr txBox="1"/>
            <p:nvPr/>
          </p:nvSpPr>
          <p:spPr>
            <a:xfrm>
              <a:off x="594360" y="37655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4</a:t>
              </a:r>
            </a:p>
          </p:txBody>
        </p:sp>
        <p:sp>
          <p:nvSpPr>
            <p:cNvPr id="40" name="TextBox 40"/>
            <p:cNvSpPr txBox="1"/>
            <p:nvPr/>
          </p:nvSpPr>
          <p:spPr>
            <a:xfrm>
              <a:off x="1325118" y="3943350"/>
              <a:ext cx="442489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OPERF's position and financial analysis · Q3–Q4</a:t>
              </a:r>
            </a:p>
          </p:txBody>
        </p:sp>
        <p:sp>
          <p:nvSpPr>
            <p:cNvPr id="41" name="TextBox 41"/>
            <p:cNvSpPr txBox="1"/>
            <p:nvPr/>
          </p:nvSpPr>
          <p:spPr>
            <a:xfrm>
              <a:off x="1325118" y="4210050"/>
              <a:ext cx="5243317"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What are the financial consequences for OPERF and TPG?</a:t>
              </a:r>
            </a:p>
          </p:txBody>
        </p:sp>
        <p:grpSp>
          <p:nvGrpSpPr>
            <p:cNvPr id="50" name="Group 50"/>
            <p:cNvGrpSpPr/>
            <p:nvPr/>
          </p:nvGrpSpPr>
          <p:grpSpPr>
            <a:xfrm>
              <a:off x="10147300" y="3924300"/>
              <a:ext cx="203199" cy="228599"/>
              <a:chOff x="10147300" y="3924300"/>
              <a:chExt cx="203199" cy="228599"/>
            </a:xfrm>
          </p:grpSpPr>
          <p:sp>
            <p:nvSpPr>
              <p:cNvPr id="42" name="Freeform 42"/>
              <p:cNvSpPr/>
              <p:nvPr/>
            </p:nvSpPr>
            <p:spPr>
              <a:xfrm>
                <a:off x="10147300" y="3924300"/>
                <a:ext cx="203199" cy="228599"/>
              </a:xfrm>
              <a:custGeom>
                <a:avLst/>
                <a:gdLst/>
                <a:ahLst/>
                <a:cxnLst/>
                <a:rect l="l" t="t" r="r" b="b"/>
                <a:pathLst>
                  <a:path w="203199" h="228599">
                    <a:moveTo>
                      <a:pt x="0" y="25400"/>
                    </a:moveTo>
                    <a:cubicBezTo>
                      <a:pt x="0" y="11372"/>
                      <a:pt x="11372" y="0"/>
                      <a:pt x="25400" y="0"/>
                    </a:cubicBezTo>
                    <a:lnTo>
                      <a:pt x="177800" y="0"/>
                    </a:lnTo>
                    <a:cubicBezTo>
                      <a:pt x="191828" y="0"/>
                      <a:pt x="203199" y="11372"/>
                      <a:pt x="203199" y="25400"/>
                    </a:cubicBezTo>
                    <a:lnTo>
                      <a:pt x="203199" y="203199"/>
                    </a:lnTo>
                    <a:cubicBezTo>
                      <a:pt x="203199" y="217227"/>
                      <a:pt x="191828" y="228599"/>
                      <a:pt x="177800" y="228599"/>
                    </a:cubicBezTo>
                    <a:lnTo>
                      <a:pt x="25400" y="228599"/>
                    </a:lnTo>
                    <a:cubicBezTo>
                      <a:pt x="11372" y="228599"/>
                      <a:pt x="0" y="217227"/>
                      <a:pt x="0" y="203199"/>
                    </a:cubicBezTo>
                    <a:lnTo>
                      <a:pt x="0" y="25400"/>
                    </a:lnTo>
                  </a:path>
                </a:pathLst>
              </a:custGeom>
              <a:noFill/>
              <a:ln w="25400">
                <a:solidFill>
                  <a:srgbClr val="5C6670"/>
                </a:solidFill>
              </a:ln>
            </p:spPr>
          </p:sp>
          <p:sp>
            <p:nvSpPr>
              <p:cNvPr id="43" name="Freeform 43"/>
              <p:cNvSpPr/>
              <p:nvPr/>
            </p:nvSpPr>
            <p:spPr>
              <a:xfrm>
                <a:off x="10198100" y="3975100"/>
                <a:ext cx="101600" cy="38100"/>
              </a:xfrm>
              <a:custGeom>
                <a:avLst/>
                <a:gdLst/>
                <a:ahLst/>
                <a:cxnLst/>
                <a:rect l="l" t="t" r="r" b="b"/>
                <a:pathLst>
                  <a:path w="101600" h="38100">
                    <a:moveTo>
                      <a:pt x="0" y="12700"/>
                    </a:moveTo>
                    <a:cubicBezTo>
                      <a:pt x="0" y="5686"/>
                      <a:pt x="5686" y="0"/>
                      <a:pt x="12700" y="0"/>
                    </a:cubicBezTo>
                    <a:lnTo>
                      <a:pt x="88900" y="0"/>
                    </a:lnTo>
                    <a:cubicBezTo>
                      <a:pt x="95914" y="0"/>
                      <a:pt x="101600" y="5686"/>
                      <a:pt x="101600" y="12700"/>
                    </a:cubicBezTo>
                    <a:lnTo>
                      <a:pt x="101600" y="25400"/>
                    </a:lnTo>
                    <a:cubicBezTo>
                      <a:pt x="101600" y="32414"/>
                      <a:pt x="95914" y="38100"/>
                      <a:pt x="88900" y="38100"/>
                    </a:cubicBezTo>
                    <a:lnTo>
                      <a:pt x="12700" y="38100"/>
                    </a:lnTo>
                    <a:cubicBezTo>
                      <a:pt x="5686" y="38100"/>
                      <a:pt x="0" y="32414"/>
                      <a:pt x="0" y="25400"/>
                    </a:cubicBezTo>
                    <a:lnTo>
                      <a:pt x="0" y="12700"/>
                    </a:lnTo>
                  </a:path>
                </a:pathLst>
              </a:custGeom>
              <a:noFill/>
              <a:ln w="25400">
                <a:solidFill>
                  <a:srgbClr val="5C6670"/>
                </a:solidFill>
              </a:ln>
            </p:spPr>
          </p:sp>
          <p:sp>
            <p:nvSpPr>
              <p:cNvPr id="44" name="Freeform 44"/>
              <p:cNvSpPr/>
              <p:nvPr/>
            </p:nvSpPr>
            <p:spPr>
              <a:xfrm>
                <a:off x="10198100" y="4064000"/>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5" name="Freeform 45"/>
              <p:cNvSpPr/>
              <p:nvPr/>
            </p:nvSpPr>
            <p:spPr>
              <a:xfrm>
                <a:off x="10248900" y="4064000"/>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6" name="Freeform 46"/>
              <p:cNvSpPr/>
              <p:nvPr/>
            </p:nvSpPr>
            <p:spPr>
              <a:xfrm>
                <a:off x="10299699" y="4064000"/>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7" name="Freeform 47"/>
              <p:cNvSpPr/>
              <p:nvPr/>
            </p:nvSpPr>
            <p:spPr>
              <a:xfrm>
                <a:off x="10198100" y="4102099"/>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8" name="Freeform 48"/>
              <p:cNvSpPr/>
              <p:nvPr/>
            </p:nvSpPr>
            <p:spPr>
              <a:xfrm>
                <a:off x="10248900" y="4102099"/>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9" name="Freeform 49"/>
              <p:cNvSpPr/>
              <p:nvPr/>
            </p:nvSpPr>
            <p:spPr>
              <a:xfrm>
                <a:off x="10299699" y="4102099"/>
                <a:ext cx="9525" cy="9525"/>
              </a:xfrm>
              <a:custGeom>
                <a:avLst/>
                <a:gdLst/>
                <a:ahLst/>
                <a:cxnLst/>
                <a:rect l="l" t="t" r="r" b="b"/>
                <a:pathLst>
                  <a:path w="9525" h="9525">
                    <a:moveTo>
                      <a:pt x="0" y="0"/>
                    </a:moveTo>
                    <a:lnTo>
                      <a:pt x="0" y="127"/>
                    </a:lnTo>
                  </a:path>
                </a:pathLst>
              </a:custGeom>
              <a:noFill/>
              <a:ln w="25400">
                <a:solidFill>
                  <a:srgbClr val="5C6670"/>
                </a:solidFill>
              </a:ln>
            </p:spPr>
          </p:sp>
        </p:grpSp>
        <p:sp>
          <p:nvSpPr>
            <p:cNvPr id="51" name="TextBox 51"/>
            <p:cNvSpPr txBox="1"/>
            <p:nvPr/>
          </p:nvSpPr>
          <p:spPr>
            <a:xfrm>
              <a:off x="10564368" y="3943350"/>
              <a:ext cx="40845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Alex</a:t>
              </a:r>
            </a:p>
          </p:txBody>
        </p:sp>
      </p:grpSp>
      <p:grpSp>
        <p:nvGrpSpPr>
          <p:cNvPr id="63" name="toc-part-5"/>
          <p:cNvGrpSpPr/>
          <p:nvPr/>
        </p:nvGrpSpPr>
        <p:grpSpPr>
          <a:xfrm>
            <a:off x="594360" y="4489450"/>
            <a:ext cx="10570493" cy="767207"/>
            <a:chOff x="594360" y="4489450"/>
            <a:chExt cx="10570493" cy="767207"/>
          </a:xfrm>
        </p:grpSpPr>
        <p:sp>
          <p:nvSpPr>
            <p:cNvPr id="53" name="Line 53"/>
            <p:cNvSpPr/>
            <p:nvPr/>
          </p:nvSpPr>
          <p:spPr>
            <a:xfrm>
              <a:off x="1181100" y="45339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54" name="TextBox 54"/>
            <p:cNvSpPr txBox="1"/>
            <p:nvPr/>
          </p:nvSpPr>
          <p:spPr>
            <a:xfrm>
              <a:off x="594360" y="44894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5</a:t>
              </a:r>
            </a:p>
          </p:txBody>
        </p:sp>
        <p:sp>
          <p:nvSpPr>
            <p:cNvPr id="55" name="TextBox 55"/>
            <p:cNvSpPr txBox="1"/>
            <p:nvPr/>
          </p:nvSpPr>
          <p:spPr>
            <a:xfrm>
              <a:off x="1325118" y="4667250"/>
              <a:ext cx="479851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Recommendation and negotiation strategy · Q5–Q6</a:t>
              </a:r>
            </a:p>
          </p:txBody>
        </p:sp>
        <p:sp>
          <p:nvSpPr>
            <p:cNvPr id="56" name="TextBox 56"/>
            <p:cNvSpPr txBox="1"/>
            <p:nvPr/>
          </p:nvSpPr>
          <p:spPr>
            <a:xfrm>
              <a:off x="1325118" y="4933950"/>
              <a:ext cx="6454274"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What should OPERF negotiate — and should it reduce its commitment?</a:t>
              </a:r>
            </a:p>
          </p:txBody>
        </p:sp>
        <p:grpSp>
          <p:nvGrpSpPr>
            <p:cNvPr id="61" name="Group 61"/>
            <p:cNvGrpSpPr/>
            <p:nvPr/>
          </p:nvGrpSpPr>
          <p:grpSpPr>
            <a:xfrm>
              <a:off x="10130202" y="4657642"/>
              <a:ext cx="237165" cy="206458"/>
              <a:chOff x="10130202" y="4657642"/>
              <a:chExt cx="237165" cy="206458"/>
            </a:xfrm>
          </p:grpSpPr>
          <p:sp>
            <p:nvSpPr>
              <p:cNvPr id="57" name="Freeform 57"/>
              <p:cNvSpPr/>
              <p:nvPr/>
            </p:nvSpPr>
            <p:spPr>
              <a:xfrm>
                <a:off x="10130202" y="4657642"/>
                <a:ext cx="237165" cy="206458"/>
              </a:xfrm>
              <a:custGeom>
                <a:avLst/>
                <a:gdLst/>
                <a:ahLst/>
                <a:cxnLst/>
                <a:rect l="l" t="t" r="r" b="b"/>
                <a:pathLst>
                  <a:path w="237165" h="206458">
                    <a:moveTo>
                      <a:pt x="213947" y="112122"/>
                    </a:moveTo>
                    <a:lnTo>
                      <a:pt x="118697" y="206458"/>
                    </a:lnTo>
                    <a:lnTo>
                      <a:pt x="23448" y="112122"/>
                    </a:lnTo>
                    <a:cubicBezTo>
                      <a:pt x="6319" y="95455"/>
                      <a:pt x="0" y="70581"/>
                      <a:pt x="7096" y="47759"/>
                    </a:cubicBezTo>
                    <a:cubicBezTo>
                      <a:pt x="14192" y="24937"/>
                      <a:pt x="33502" y="8033"/>
                      <a:pt x="57061" y="4016"/>
                    </a:cubicBezTo>
                    <a:cubicBezTo>
                      <a:pt x="80621" y="0"/>
                      <a:pt x="104441" y="9552"/>
                      <a:pt x="118697" y="28734"/>
                    </a:cubicBezTo>
                    <a:cubicBezTo>
                      <a:pt x="133014" y="9694"/>
                      <a:pt x="156782" y="269"/>
                      <a:pt x="180257" y="4323"/>
                    </a:cubicBezTo>
                    <a:cubicBezTo>
                      <a:pt x="203731" y="8376"/>
                      <a:pt x="222962" y="25228"/>
                      <a:pt x="230063" y="47966"/>
                    </a:cubicBezTo>
                    <a:cubicBezTo>
                      <a:pt x="237165" y="70705"/>
                      <a:pt x="230942" y="95506"/>
                      <a:pt x="213947" y="112198"/>
                    </a:cubicBezTo>
                  </a:path>
                </a:pathLst>
              </a:custGeom>
              <a:noFill/>
              <a:ln w="25400">
                <a:solidFill>
                  <a:srgbClr val="5C6670"/>
                </a:solidFill>
              </a:ln>
            </p:spPr>
          </p:sp>
          <p:sp>
            <p:nvSpPr>
              <p:cNvPr id="58" name="Freeform 58"/>
              <p:cNvSpPr/>
              <p:nvPr/>
            </p:nvSpPr>
            <p:spPr>
              <a:xfrm>
                <a:off x="10202121" y="4686300"/>
                <a:ext cx="142029" cy="82550"/>
              </a:xfrm>
              <a:custGeom>
                <a:avLst/>
                <a:gdLst/>
                <a:ahLst/>
                <a:cxnLst/>
                <a:rect l="l" t="t" r="r" b="b"/>
                <a:pathLst>
                  <a:path w="142029" h="82550">
                    <a:moveTo>
                      <a:pt x="46779" y="0"/>
                    </a:moveTo>
                    <a:lnTo>
                      <a:pt x="4958" y="41821"/>
                    </a:lnTo>
                    <a:cubicBezTo>
                      <a:pt x="0" y="46780"/>
                      <a:pt x="0" y="54819"/>
                      <a:pt x="4958" y="59779"/>
                    </a:cubicBezTo>
                    <a:lnTo>
                      <a:pt x="11854" y="66675"/>
                    </a:lnTo>
                    <a:cubicBezTo>
                      <a:pt x="20617" y="75438"/>
                      <a:pt x="34841" y="75438"/>
                      <a:pt x="43604" y="66675"/>
                    </a:cubicBezTo>
                    <a:lnTo>
                      <a:pt x="56304" y="53975"/>
                    </a:lnTo>
                    <a:cubicBezTo>
                      <a:pt x="72085" y="38194"/>
                      <a:pt x="97672" y="38194"/>
                      <a:pt x="113454" y="53975"/>
                    </a:cubicBezTo>
                    <a:lnTo>
                      <a:pt x="142029" y="82550"/>
                    </a:lnTo>
                  </a:path>
                </a:pathLst>
              </a:custGeom>
              <a:noFill/>
              <a:ln w="25400">
                <a:solidFill>
                  <a:srgbClr val="5C6670"/>
                </a:solidFill>
              </a:ln>
            </p:spPr>
          </p:sp>
          <p:sp>
            <p:nvSpPr>
              <p:cNvPr id="59" name="Freeform 59"/>
              <p:cNvSpPr/>
              <p:nvPr/>
            </p:nvSpPr>
            <p:spPr>
              <a:xfrm>
                <a:off x="10255250" y="4806950"/>
                <a:ext cx="25400" cy="25400"/>
              </a:xfrm>
              <a:custGeom>
                <a:avLst/>
                <a:gdLst/>
                <a:ahLst/>
                <a:cxnLst/>
                <a:rect l="l" t="t" r="r" b="b"/>
                <a:pathLst>
                  <a:path w="25400" h="25400">
                    <a:moveTo>
                      <a:pt x="0" y="0"/>
                    </a:moveTo>
                    <a:lnTo>
                      <a:pt x="25400" y="25400"/>
                    </a:lnTo>
                  </a:path>
                </a:pathLst>
              </a:custGeom>
              <a:noFill/>
              <a:ln w="25400">
                <a:solidFill>
                  <a:srgbClr val="5C6670"/>
                </a:solidFill>
              </a:ln>
            </p:spPr>
          </p:sp>
          <p:sp>
            <p:nvSpPr>
              <p:cNvPr id="60" name="Freeform 60"/>
              <p:cNvSpPr/>
              <p:nvPr/>
            </p:nvSpPr>
            <p:spPr>
              <a:xfrm>
                <a:off x="10287000" y="4775200"/>
                <a:ext cx="25400" cy="25400"/>
              </a:xfrm>
              <a:custGeom>
                <a:avLst/>
                <a:gdLst/>
                <a:ahLst/>
                <a:cxnLst/>
                <a:rect l="l" t="t" r="r" b="b"/>
                <a:pathLst>
                  <a:path w="25400" h="25400">
                    <a:moveTo>
                      <a:pt x="0" y="0"/>
                    </a:moveTo>
                    <a:lnTo>
                      <a:pt x="25400" y="25400"/>
                    </a:lnTo>
                  </a:path>
                </a:pathLst>
              </a:custGeom>
              <a:noFill/>
              <a:ln w="25400">
                <a:solidFill>
                  <a:srgbClr val="5C6670"/>
                </a:solidFill>
              </a:ln>
            </p:spPr>
          </p:sp>
        </p:grpSp>
        <p:sp>
          <p:nvSpPr>
            <p:cNvPr id="62" name="TextBox 62"/>
            <p:cNvSpPr txBox="1"/>
            <p:nvPr/>
          </p:nvSpPr>
          <p:spPr>
            <a:xfrm>
              <a:off x="10564368" y="4667250"/>
              <a:ext cx="600485"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Jimmy</a:t>
              </a:r>
            </a:p>
          </p:txBody>
        </p:sp>
      </p:grpSp>
      <p:grpSp>
        <p:nvGrpSpPr>
          <p:cNvPr id="66" name="toc-appendix"/>
          <p:cNvGrpSpPr/>
          <p:nvPr/>
        </p:nvGrpSpPr>
        <p:grpSpPr>
          <a:xfrm>
            <a:off x="1181100" y="5257800"/>
            <a:ext cx="6995528" cy="381000"/>
            <a:chOff x="1181100" y="5257800"/>
            <a:chExt cx="6995528" cy="381000"/>
          </a:xfrm>
        </p:grpSpPr>
        <p:sp>
          <p:nvSpPr>
            <p:cNvPr id="64" name="Line 64"/>
            <p:cNvSpPr/>
            <p:nvPr/>
          </p:nvSpPr>
          <p:spPr>
            <a:xfrm>
              <a:off x="1181100" y="5257800"/>
              <a:ext cx="9525" cy="381000"/>
            </a:xfrm>
            <a:custGeom>
              <a:avLst/>
              <a:gdLst/>
              <a:ahLst/>
              <a:cxnLst/>
              <a:rect l="l" t="t" r="r" b="b"/>
              <a:pathLst>
                <a:path w="9525" h="381000">
                  <a:moveTo>
                    <a:pt x="0" y="0"/>
                  </a:moveTo>
                  <a:lnTo>
                    <a:pt x="0" y="381000"/>
                  </a:lnTo>
                </a:path>
              </a:pathLst>
            </a:custGeom>
            <a:noFill/>
            <a:ln w="9525">
              <a:solidFill>
                <a:schemeClr val="accent6"/>
              </a:solidFill>
            </a:ln>
          </p:spPr>
        </p:sp>
        <p:sp>
          <p:nvSpPr>
            <p:cNvPr id="65" name="TextBox 65"/>
            <p:cNvSpPr txBox="1"/>
            <p:nvPr/>
          </p:nvSpPr>
          <p:spPr>
            <a:xfrm>
              <a:off x="1326642" y="5359400"/>
              <a:ext cx="6849986"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Appendix</a:t>
              </a:r>
              <a:r>
                <a:rPr lang="en-US" sz="1350" dirty="0">
                  <a:solidFill>
                    <a:schemeClr val="accent5"/>
                  </a:solidFill>
                  <a:latin typeface="+mn-lt"/>
                  <a:ea typeface="+mn-ea"/>
                  <a:cs typeface="+mn-cs"/>
                </a:rPr>
                <a:t xml:space="preserve"> · Compensation alternatives · Marginal-commitment NPV grid · TPG's track record</a:t>
              </a:r>
            </a:p>
          </p:txBody>
        </p:sp>
      </p:grpSp>
      <p:grpSp>
        <p:nvGrpSpPr>
          <p:cNvPr id="68" name="source-statement"/>
          <p:cNvGrpSpPr/>
          <p:nvPr/>
        </p:nvGrpSpPr>
        <p:grpSpPr>
          <a:xfrm>
            <a:off x="604266" y="5842000"/>
            <a:ext cx="7340611" cy="548259"/>
            <a:chOff x="604266" y="5842000"/>
            <a:chExt cx="7340611" cy="548259"/>
          </a:xfrm>
        </p:grpSpPr>
        <p:sp>
          <p:nvSpPr>
            <p:cNvPr id="67" name="TextBox 67"/>
            <p:cNvSpPr txBox="1"/>
            <p:nvPr/>
          </p:nvSpPr>
          <p:spPr>
            <a:xfrm>
              <a:off x="604266" y="5842000"/>
              <a:ext cx="7340611" cy="548259"/>
            </a:xfrm>
            <a:prstGeom prst="rect">
              <a:avLst/>
            </a:prstGeom>
            <a:noFill/>
            <a:ln>
              <a:noFill/>
            </a:ln>
          </p:spPr>
          <p:txBody>
            <a:bodyPr wrap="none" lIns="0" tIns="0" rIns="0" bIns="0" anchor="t" anchorCtr="0">
              <a:spAutoFit/>
            </a:bodyPr>
            <a:lstStyle/>
            <a:p>
              <a:pPr algn="l">
                <a:lnSpc>
                  <a:spcPts val="1350"/>
                </a:lnSpc>
              </a:pPr>
              <a:r>
                <a:rPr lang="en-US" sz="1050" dirty="0">
                  <a:solidFill>
                    <a:schemeClr val="accent5"/>
                  </a:solidFill>
                  <a:latin typeface="+mn-lt"/>
                  <a:ea typeface="+mn-ea"/>
                  <a:cs typeface="+mn-cs"/>
                </a:rPr>
                <a:t>Facts: Darden case UV5622, using only information available by December 2008; external sources are cited on the slide that uses them.</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Figures: the team's workbook OPERF_Analysis_Jimmy.xlsx (Preparation Question 3 assumptions: $20bn fund, 20% annual asset growth,</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15% discount rate). All NPVs are measured at model inception.</a:t>
              </a:r>
            </a:p>
          </p:txBody>
        </p:sp>
      </p:grpSp>
      <p:sp>
        <p:nvSpPr>
          <p:cNvPr id="69" name="TextBox 69"/>
          <p:cNvSpPr txBox="1"/>
          <p:nvPr/>
        </p:nvSpPr>
        <p:spPr>
          <a:xfrm>
            <a:off x="11505429" y="6426200"/>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521271" cy="234696"/>
            <a:chOff x="908304" y="1574800"/>
            <a:chExt cx="2521271" cy="234696"/>
          </a:xfrm>
        </p:grpSpPr>
        <p:sp>
          <p:nvSpPr>
            <p:cNvPr id="2" name="TextBox 2"/>
            <p:cNvSpPr txBox="1"/>
            <p:nvPr/>
          </p:nvSpPr>
          <p:spPr>
            <a:xfrm>
              <a:off x="908304" y="1574800"/>
              <a:ext cx="252127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INVESTMENT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5367619"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What is at stake in OPERF's</a:t>
              </a:r>
              <a:br>
                <a:rPr lang="en-US" sz="3600" dirty="0">
                  <a:solidFill>
                    <a:srgbClr val="FBF8F2"/>
                  </a:solidFill>
                  <a:latin typeface="+mj-lt"/>
                  <a:ea typeface="+mj-ea"/>
                  <a:cs typeface="+mj-cs"/>
                </a:rPr>
              </a:br>
              <a:r>
                <a:rPr lang="en-US" sz="3600" dirty="0">
                  <a:solidFill>
                    <a:srgbClr val="FBF8F2"/>
                  </a:solidFill>
                  <a:latin typeface="+mj-lt"/>
                  <a:ea typeface="+mj-ea"/>
                  <a:cs typeface="+mj-cs"/>
                </a:rPr>
                <a:t>decision on TPG?</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2611858" cy="264033"/>
            <a:chOff x="907542" y="5930900"/>
            <a:chExt cx="2611858" cy="264033"/>
          </a:xfrm>
        </p:grpSpPr>
        <p:sp>
          <p:nvSpPr>
            <p:cNvPr id="7" name="TextBox 7"/>
            <p:cNvSpPr txBox="1"/>
            <p:nvPr/>
          </p:nvSpPr>
          <p:spPr>
            <a:xfrm>
              <a:off x="907542" y="5930900"/>
              <a:ext cx="2611858"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1 · Case setup and decision · Li</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41774" cy="244475"/>
            <a:chOff x="603504" y="546100"/>
            <a:chExt cx="1741774" cy="244475"/>
          </a:xfrm>
        </p:grpSpPr>
        <p:sp>
          <p:nvSpPr>
            <p:cNvPr id="2" name="TextBox 2"/>
            <p:cNvSpPr txBox="1"/>
            <p:nvPr/>
          </p:nvSpPr>
          <p:spPr>
            <a:xfrm>
              <a:off x="603504" y="546100"/>
              <a:ext cx="174177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CASE BACKGROUND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513005" cy="1043940"/>
            <a:chOff x="594360" y="812800"/>
            <a:chExt cx="6513005" cy="1043940"/>
          </a:xfrm>
        </p:grpSpPr>
        <p:sp>
          <p:nvSpPr>
            <p:cNvPr id="5" name="TextBox 5"/>
            <p:cNvSpPr txBox="1"/>
            <p:nvPr/>
          </p:nvSpPr>
          <p:spPr>
            <a:xfrm>
              <a:off x="594360" y="812800"/>
              <a:ext cx="6513005"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OPERF committed long-term pension</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capital to TPG VI</a:t>
              </a:r>
            </a:p>
          </p:txBody>
        </p:sp>
      </p:grpSp>
      <p:grpSp>
        <p:nvGrpSpPr>
          <p:cNvPr id="14" name="parties"/>
          <p:cNvGrpSpPr/>
          <p:nvPr/>
        </p:nvGrpSpPr>
        <p:grpSpPr>
          <a:xfrm>
            <a:off x="601218" y="2095500"/>
            <a:ext cx="4742307" cy="4000500"/>
            <a:chOff x="601218" y="2095500"/>
            <a:chExt cx="4742307" cy="4000500"/>
          </a:xfrm>
        </p:grpSpPr>
        <p:sp>
          <p:nvSpPr>
            <p:cNvPr id="7" name="TextBox 7"/>
            <p:cNvSpPr txBox="1"/>
            <p:nvPr/>
          </p:nvSpPr>
          <p:spPr>
            <a:xfrm>
              <a:off x="601218" y="2247900"/>
              <a:ext cx="65473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OPERF</a:t>
              </a:r>
            </a:p>
          </p:txBody>
        </p:sp>
        <p:sp>
          <p:nvSpPr>
            <p:cNvPr id="8" name="TextBox 8"/>
            <p:cNvSpPr txBox="1"/>
            <p:nvPr/>
          </p:nvSpPr>
          <p:spPr>
            <a:xfrm>
              <a:off x="601218" y="2527300"/>
              <a:ext cx="332111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Oregon's public pension investor and a</a:t>
              </a:r>
              <a:br>
                <a:rPr lang="en-US" sz="1650" dirty="0">
                  <a:solidFill>
                    <a:schemeClr val="dk1"/>
                  </a:solidFill>
                  <a:latin typeface="+mn-lt"/>
                  <a:ea typeface="+mn-ea"/>
                  <a:cs typeface="+mn-cs"/>
                </a:rPr>
              </a:br>
              <a:r>
                <a:rPr lang="en-US" sz="1650" dirty="0">
                  <a:solidFill>
                    <a:schemeClr val="dk1"/>
                  </a:solidFill>
                  <a:latin typeface="+mn-lt"/>
                  <a:ea typeface="+mn-ea"/>
                  <a:cs typeface="+mn-cs"/>
                </a:rPr>
                <a:t>limited partner (LP) in this case.</a:t>
              </a:r>
            </a:p>
          </p:txBody>
        </p:sp>
        <p:sp>
          <p:nvSpPr>
            <p:cNvPr id="9" name="TextBox 9"/>
            <p:cNvSpPr txBox="1"/>
            <p:nvPr/>
          </p:nvSpPr>
          <p:spPr>
            <a:xfrm>
              <a:off x="601218" y="3429000"/>
              <a:ext cx="40741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TPG</a:t>
              </a:r>
            </a:p>
          </p:txBody>
        </p:sp>
        <p:sp>
          <p:nvSpPr>
            <p:cNvPr id="10" name="TextBox 10"/>
            <p:cNvSpPr txBox="1"/>
            <p:nvPr/>
          </p:nvSpPr>
          <p:spPr>
            <a:xfrm>
              <a:off x="601218" y="3708400"/>
              <a:ext cx="341924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The private equity firm that manages</a:t>
              </a:r>
              <a:br>
                <a:rPr lang="en-US" sz="1650" dirty="0">
                  <a:solidFill>
                    <a:schemeClr val="dk1"/>
                  </a:solidFill>
                  <a:latin typeface="+mn-lt"/>
                  <a:ea typeface="+mn-ea"/>
                  <a:cs typeface="+mn-cs"/>
                </a:rPr>
              </a:br>
              <a:r>
                <a:rPr lang="en-US" sz="1650" dirty="0">
                  <a:solidFill>
                    <a:schemeClr val="dk1"/>
                  </a:solidFill>
                  <a:latin typeface="+mn-lt"/>
                  <a:ea typeface="+mn-ea"/>
                  <a:cs typeface="+mn-cs"/>
                </a:rPr>
                <a:t>TPG Partners VI as general partner (GP).</a:t>
              </a:r>
            </a:p>
          </p:txBody>
        </p:sp>
        <p:sp>
          <p:nvSpPr>
            <p:cNvPr id="11" name="Line 11"/>
            <p:cNvSpPr/>
            <p:nvPr/>
          </p:nvSpPr>
          <p:spPr>
            <a:xfrm>
              <a:off x="609600" y="4724400"/>
              <a:ext cx="914400" cy="9525"/>
            </a:xfrm>
            <a:custGeom>
              <a:avLst/>
              <a:gdLst/>
              <a:ahLst/>
              <a:cxnLst/>
              <a:rect l="l" t="t" r="r" b="b"/>
              <a:pathLst>
                <a:path w="914400" h="9525">
                  <a:moveTo>
                    <a:pt x="0" y="0"/>
                  </a:moveTo>
                  <a:lnTo>
                    <a:pt x="914400" y="0"/>
                  </a:lnTo>
                </a:path>
              </a:pathLst>
            </a:custGeom>
            <a:noFill/>
            <a:ln w="9525">
              <a:solidFill>
                <a:schemeClr val="accent6"/>
              </a:solidFill>
            </a:ln>
          </p:spPr>
        </p:sp>
        <p:sp>
          <p:nvSpPr>
            <p:cNvPr id="12" name="TextBox 12"/>
            <p:cNvSpPr txBox="1"/>
            <p:nvPr/>
          </p:nvSpPr>
          <p:spPr>
            <a:xfrm>
              <a:off x="601218" y="4895850"/>
              <a:ext cx="342141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Commitment made in February 2008.</a:t>
              </a:r>
            </a:p>
          </p:txBody>
        </p:sp>
        <p:sp>
          <p:nvSpPr>
            <p:cNvPr id="13" name="Line 13"/>
            <p:cNvSpPr/>
            <p:nvPr/>
          </p:nvSpPr>
          <p:spPr>
            <a:xfrm>
              <a:off x="5334000" y="2095500"/>
              <a:ext cx="9525" cy="4000500"/>
            </a:xfrm>
            <a:custGeom>
              <a:avLst/>
              <a:gdLst/>
              <a:ahLst/>
              <a:cxnLst/>
              <a:rect l="l" t="t" r="r" b="b"/>
              <a:pathLst>
                <a:path w="9525" h="4000500">
                  <a:moveTo>
                    <a:pt x="0" y="0"/>
                  </a:moveTo>
                  <a:lnTo>
                    <a:pt x="0" y="4000500"/>
                  </a:lnTo>
                </a:path>
              </a:pathLst>
            </a:custGeom>
            <a:noFill/>
            <a:ln w="9525">
              <a:solidFill>
                <a:schemeClr val="accent6"/>
              </a:solidFill>
            </a:ln>
          </p:spPr>
        </p:sp>
      </p:grpSp>
      <p:grpSp>
        <p:nvGrpSpPr>
          <p:cNvPr id="18" name="operf-share-pie"/>
          <p:cNvGrpSpPr/>
          <p:nvPr/>
        </p:nvGrpSpPr>
        <p:grpSpPr>
          <a:xfrm>
            <a:off x="5638800" y="2038350"/>
            <a:ext cx="5943600" cy="3543300"/>
            <a:chOff x="5638800" y="2038350"/>
            <a:chExt cx="5943600" cy="3543300"/>
          </a:xfrm>
        </p:grpSpPr>
        <p:graphicFrame>
          <p:nvGraphicFramePr>
            <p:cNvPr id="15" name="operf-share-pie"/>
            <p:cNvGraphicFramePr>
              <a:graphicFrameLocks noGrp="1"/>
            </p:cNvGraphicFramePr>
            <p:nvPr/>
          </p:nvGraphicFramePr>
          <p:xfrm>
            <a:off x="5638800" y="2038350"/>
            <a:ext cx="5943600" cy="3543300"/>
          </p:xfrm>
          <a:graphic>
            <a:graphicData uri="http://schemas.openxmlformats.org/drawingml/2006/chart">
              <c:chart xmlns:c="http://schemas.openxmlformats.org/drawingml/2006/chart" r:id="rId2"/>
            </a:graphicData>
          </a:graphic>
        </p:graphicFrame>
        <p:sp>
          <p:nvSpPr>
            <p:cNvPr id="16" name="Chart Note 16"/>
            <p:cNvSpPr txBox="1"/>
            <p:nvPr/>
          </p:nvSpPr>
          <p:spPr>
            <a:xfrm>
              <a:off x="9124950" y="2587942"/>
              <a:ext cx="20955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OPERF 3.8% · $750m</a:t>
              </a:r>
            </a:p>
          </p:txBody>
        </p:sp>
        <p:sp>
          <p:nvSpPr>
            <p:cNvPr id="17" name="Chart Note 17"/>
            <p:cNvSpPr txBox="1"/>
            <p:nvPr/>
          </p:nvSpPr>
          <p:spPr>
            <a:xfrm>
              <a:off x="6762750" y="5216842"/>
              <a:ext cx="2857500" cy="274320"/>
            </a:xfrm>
            <a:prstGeom prst="rect">
              <a:avLst/>
            </a:prstGeom>
            <a:noFill/>
            <a:ln>
              <a:noFill/>
            </a:ln>
          </p:spPr>
          <p:txBody>
            <a:bodyPr wrap="square" lIns="0" tIns="0" rIns="0" bIns="0" anchor="b" anchorCtr="0"/>
            <a:lstStyle/>
            <a:p>
              <a:pPr algn="ctr"/>
              <a:r>
                <a:rPr lang="en-US" sz="1350">
                  <a:solidFill>
                    <a:srgbClr val="5C6670"/>
                  </a:solidFill>
                  <a:latin typeface="Calibri"/>
                  <a:ea typeface="Microsoft YaHei"/>
                  <a:cs typeface="Calibri"/>
                </a:rPr>
                <a:t>Other commitments 96.2%</a:t>
              </a:r>
            </a:p>
          </p:txBody>
        </p:sp>
      </p:grpSp>
      <p:grpSp>
        <p:nvGrpSpPr>
          <p:cNvPr id="20" name="pie-total"/>
          <p:cNvGrpSpPr/>
          <p:nvPr/>
        </p:nvGrpSpPr>
        <p:grpSpPr>
          <a:xfrm>
            <a:off x="6638064" y="5676900"/>
            <a:ext cx="3106873" cy="322707"/>
            <a:chOff x="6638064" y="5676900"/>
            <a:chExt cx="3106873" cy="322707"/>
          </a:xfrm>
        </p:grpSpPr>
        <p:sp>
          <p:nvSpPr>
            <p:cNvPr id="19" name="TextBox 19"/>
            <p:cNvSpPr txBox="1"/>
            <p:nvPr/>
          </p:nvSpPr>
          <p:spPr>
            <a:xfrm>
              <a:off x="6638064" y="5676900"/>
              <a:ext cx="3106873"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Total fund commitments: $19.8bn</a:t>
              </a:r>
            </a:p>
          </p:txBody>
        </p:sp>
      </p:grpSp>
      <p:grpSp>
        <p:nvGrpSpPr>
          <p:cNvPr id="23" name="footer"/>
          <p:cNvGrpSpPr/>
          <p:nvPr/>
        </p:nvGrpSpPr>
        <p:grpSpPr>
          <a:xfrm>
            <a:off x="604266" y="6350000"/>
            <a:ext cx="10983468" cy="367284"/>
            <a:chOff x="604266" y="6350000"/>
            <a:chExt cx="10983468" cy="367284"/>
          </a:xfrm>
        </p:grpSpPr>
        <p:sp>
          <p:nvSpPr>
            <p:cNvPr id="21" name="TextBox 21"/>
            <p:cNvSpPr txBox="1"/>
            <p:nvPr/>
          </p:nvSpPr>
          <p:spPr>
            <a:xfrm>
              <a:off x="604266" y="6350000"/>
              <a:ext cx="792103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pp. 1, 5 and footnote 9. 750 ÷ 19,800 = 3.79%; the denominator is TPG VI's committed capital, not OPERF's asset allocation or paid-in</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capital.</a:t>
              </a:r>
            </a:p>
          </p:txBody>
        </p:sp>
        <p:sp>
          <p:nvSpPr>
            <p:cNvPr id="22" name="TextBox 22"/>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41774" cy="244475"/>
            <a:chOff x="603504" y="546100"/>
            <a:chExt cx="1741774" cy="244475"/>
          </a:xfrm>
        </p:grpSpPr>
        <p:sp>
          <p:nvSpPr>
            <p:cNvPr id="2" name="TextBox 2"/>
            <p:cNvSpPr txBox="1"/>
            <p:nvPr/>
          </p:nvSpPr>
          <p:spPr>
            <a:xfrm>
              <a:off x="603504" y="546100"/>
              <a:ext cx="174177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CASE BACKGROUND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723230" cy="1043940"/>
            <a:chOff x="594360" y="812800"/>
            <a:chExt cx="5723230" cy="1043940"/>
          </a:xfrm>
        </p:grpSpPr>
        <p:sp>
          <p:nvSpPr>
            <p:cNvPr id="5" name="TextBox 5"/>
            <p:cNvSpPr txBox="1"/>
            <p:nvPr/>
          </p:nvSpPr>
          <p:spPr>
            <a:xfrm>
              <a:off x="594360" y="812800"/>
              <a:ext cx="5723230"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TPG VI was a large fund entering</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 stressed market</a:t>
              </a:r>
            </a:p>
          </p:txBody>
        </p:sp>
      </p:grpSp>
      <p:grpSp>
        <p:nvGrpSpPr>
          <p:cNvPr id="14" name="fund-facts"/>
          <p:cNvGrpSpPr/>
          <p:nvPr/>
        </p:nvGrpSpPr>
        <p:grpSpPr>
          <a:xfrm>
            <a:off x="601218" y="2095500"/>
            <a:ext cx="4742307" cy="4000500"/>
            <a:chOff x="601218" y="2095500"/>
            <a:chExt cx="4742307" cy="4000500"/>
          </a:xfrm>
        </p:grpSpPr>
        <p:sp>
          <p:nvSpPr>
            <p:cNvPr id="7" name="TextBox 7"/>
            <p:cNvSpPr txBox="1"/>
            <p:nvPr/>
          </p:nvSpPr>
          <p:spPr>
            <a:xfrm>
              <a:off x="601218" y="2247900"/>
              <a:ext cx="97966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Final close</a:t>
              </a:r>
            </a:p>
          </p:txBody>
        </p:sp>
        <p:sp>
          <p:nvSpPr>
            <p:cNvPr id="8" name="TextBox 8"/>
            <p:cNvSpPr txBox="1"/>
            <p:nvPr/>
          </p:nvSpPr>
          <p:spPr>
            <a:xfrm>
              <a:off x="601218" y="2552700"/>
              <a:ext cx="157943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September 2008.</a:t>
              </a:r>
            </a:p>
          </p:txBody>
        </p:sp>
        <p:sp>
          <p:nvSpPr>
            <p:cNvPr id="9" name="TextBox 9"/>
            <p:cNvSpPr txBox="1"/>
            <p:nvPr/>
          </p:nvSpPr>
          <p:spPr>
            <a:xfrm>
              <a:off x="601218" y="3429000"/>
              <a:ext cx="54479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Focus</a:t>
              </a:r>
            </a:p>
          </p:txBody>
        </p:sp>
        <p:sp>
          <p:nvSpPr>
            <p:cNvPr id="10" name="TextBox 10"/>
            <p:cNvSpPr txBox="1"/>
            <p:nvPr/>
          </p:nvSpPr>
          <p:spPr>
            <a:xfrm>
              <a:off x="601218" y="3708400"/>
              <a:ext cx="328274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Buyouts, restructurings and distressed</a:t>
              </a:r>
              <a:br>
                <a:rPr lang="en-US" sz="1650" dirty="0">
                  <a:solidFill>
                    <a:schemeClr val="dk1"/>
                  </a:solidFill>
                  <a:latin typeface="+mn-lt"/>
                  <a:ea typeface="+mn-ea"/>
                  <a:cs typeface="+mn-cs"/>
                </a:rPr>
              </a:br>
              <a:r>
                <a:rPr lang="en-US" sz="1650" dirty="0">
                  <a:solidFill>
                    <a:schemeClr val="dk1"/>
                  </a:solidFill>
                  <a:latin typeface="+mn-lt"/>
                  <a:ea typeface="+mn-ea"/>
                  <a:cs typeface="+mn-cs"/>
                </a:rPr>
                <a:t>opportunities.</a:t>
              </a:r>
            </a:p>
          </p:txBody>
        </p:sp>
        <p:sp>
          <p:nvSpPr>
            <p:cNvPr id="11" name="Line 11"/>
            <p:cNvSpPr/>
            <p:nvPr/>
          </p:nvSpPr>
          <p:spPr>
            <a:xfrm>
              <a:off x="609600" y="4724400"/>
              <a:ext cx="914400" cy="9525"/>
            </a:xfrm>
            <a:custGeom>
              <a:avLst/>
              <a:gdLst/>
              <a:ahLst/>
              <a:cxnLst/>
              <a:rect l="l" t="t" r="r" b="b"/>
              <a:pathLst>
                <a:path w="914400" h="9525">
                  <a:moveTo>
                    <a:pt x="0" y="0"/>
                  </a:moveTo>
                  <a:lnTo>
                    <a:pt x="914400" y="0"/>
                  </a:lnTo>
                </a:path>
              </a:pathLst>
            </a:custGeom>
            <a:noFill/>
            <a:ln w="9525">
              <a:solidFill>
                <a:schemeClr val="accent6"/>
              </a:solidFill>
            </a:ln>
          </p:spPr>
        </p:sp>
        <p:sp>
          <p:nvSpPr>
            <p:cNvPr id="12" name="TextBox 12"/>
            <p:cNvSpPr txBox="1"/>
            <p:nvPr/>
          </p:nvSpPr>
          <p:spPr>
            <a:xfrm>
              <a:off x="601218" y="4870450"/>
              <a:ext cx="312784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5"/>
                  </a:solidFill>
                  <a:latin typeface="+mn-lt"/>
                  <a:ea typeface="+mn-ea"/>
                  <a:cs typeface="+mn-cs"/>
                </a:rPr>
                <a:t>Size shown against funds that closed</a:t>
              </a:r>
              <a:br>
                <a:rPr lang="en-US" sz="1650" dirty="0">
                  <a:solidFill>
                    <a:schemeClr val="accent5"/>
                  </a:solidFill>
                  <a:latin typeface="+mn-lt"/>
                  <a:ea typeface="+mn-ea"/>
                  <a:cs typeface="+mn-cs"/>
                </a:rPr>
              </a:br>
              <a:r>
                <a:rPr lang="en-US" sz="1650" dirty="0">
                  <a:solidFill>
                    <a:schemeClr val="accent5"/>
                  </a:solidFill>
                  <a:latin typeface="+mn-lt"/>
                  <a:ea typeface="+mn-ea"/>
                  <a:cs typeface="+mn-cs"/>
                </a:rPr>
                <a:t>in the same quarter.</a:t>
              </a:r>
            </a:p>
          </p:txBody>
        </p:sp>
        <p:sp>
          <p:nvSpPr>
            <p:cNvPr id="13" name="Line 13"/>
            <p:cNvSpPr/>
            <p:nvPr/>
          </p:nvSpPr>
          <p:spPr>
            <a:xfrm>
              <a:off x="5334000" y="2095500"/>
              <a:ext cx="9525" cy="4000500"/>
            </a:xfrm>
            <a:custGeom>
              <a:avLst/>
              <a:gdLst/>
              <a:ahLst/>
              <a:cxnLst/>
              <a:rect l="l" t="t" r="r" b="b"/>
              <a:pathLst>
                <a:path w="9525" h="4000500">
                  <a:moveTo>
                    <a:pt x="0" y="0"/>
                  </a:moveTo>
                  <a:lnTo>
                    <a:pt x="0" y="4000500"/>
                  </a:lnTo>
                </a:path>
              </a:pathLst>
            </a:custGeom>
            <a:noFill/>
            <a:ln w="9525">
              <a:solidFill>
                <a:schemeClr val="accent6"/>
              </a:solidFill>
            </a:ln>
          </p:spPr>
        </p:sp>
      </p:grpSp>
      <p:grpSp>
        <p:nvGrpSpPr>
          <p:cNvPr id="19" name="tpg-vi-fundraising-pie"/>
          <p:cNvGrpSpPr/>
          <p:nvPr/>
        </p:nvGrpSpPr>
        <p:grpSpPr>
          <a:xfrm>
            <a:off x="5638800" y="2038350"/>
            <a:ext cx="5943600" cy="3543300"/>
            <a:chOff x="5638800" y="2038350"/>
            <a:chExt cx="5943600" cy="3543300"/>
          </a:xfrm>
        </p:grpSpPr>
        <p:graphicFrame>
          <p:nvGraphicFramePr>
            <p:cNvPr id="15" name="tpg-vi-fundraising-pie"/>
            <p:cNvGraphicFramePr>
              <a:graphicFrameLocks noGrp="1"/>
            </p:cNvGraphicFramePr>
            <p:nvPr/>
          </p:nvGraphicFramePr>
          <p:xfrm>
            <a:off x="5638800" y="2038350"/>
            <a:ext cx="5943600" cy="3543300"/>
          </p:xfrm>
          <a:graphic>
            <a:graphicData uri="http://schemas.openxmlformats.org/drawingml/2006/chart">
              <c:chart xmlns:c="http://schemas.openxmlformats.org/drawingml/2006/chart" r:id="rId2"/>
            </a:graphicData>
          </a:graphic>
        </p:graphicFrame>
        <p:sp>
          <p:nvSpPr>
            <p:cNvPr id="16" name="Chart Note 16"/>
            <p:cNvSpPr txBox="1"/>
            <p:nvPr/>
          </p:nvSpPr>
          <p:spPr>
            <a:xfrm>
              <a:off x="9982200" y="3159442"/>
              <a:ext cx="15240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TPG VI 46.4%</a:t>
              </a:r>
            </a:p>
          </p:txBody>
        </p:sp>
        <p:sp>
          <p:nvSpPr>
            <p:cNvPr id="17" name="Chart Note 17"/>
            <p:cNvSpPr txBox="1"/>
            <p:nvPr/>
          </p:nvSpPr>
          <p:spPr>
            <a:xfrm>
              <a:off x="9982200" y="3388042"/>
              <a:ext cx="1524000" cy="274320"/>
            </a:xfrm>
            <a:prstGeom prst="rect">
              <a:avLst/>
            </a:prstGeom>
            <a:noFill/>
            <a:ln>
              <a:noFill/>
            </a:ln>
          </p:spPr>
          <p:txBody>
            <a:bodyPr wrap="square" lIns="0" tIns="0" rIns="0" bIns="0" anchor="b" anchorCtr="0"/>
            <a:lstStyle/>
            <a:p>
              <a:pPr algn="l"/>
              <a:r>
                <a:rPr lang="en-US" sz="1350">
                  <a:solidFill>
                    <a:srgbClr val="003657"/>
                  </a:solidFill>
                  <a:latin typeface="Calibri"/>
                  <a:ea typeface="Microsoft YaHei"/>
                  <a:cs typeface="Calibri"/>
                </a:rPr>
                <a:t>$19.8bn</a:t>
              </a:r>
            </a:p>
          </p:txBody>
        </p:sp>
        <p:sp>
          <p:nvSpPr>
            <p:cNvPr id="18" name="Chart Note 18"/>
            <p:cNvSpPr txBox="1"/>
            <p:nvPr/>
          </p:nvSpPr>
          <p:spPr>
            <a:xfrm>
              <a:off x="6191250" y="5216842"/>
              <a:ext cx="4000500" cy="274320"/>
            </a:xfrm>
            <a:prstGeom prst="rect">
              <a:avLst/>
            </a:prstGeom>
            <a:noFill/>
            <a:ln>
              <a:noFill/>
            </a:ln>
          </p:spPr>
          <p:txBody>
            <a:bodyPr wrap="square" lIns="0" tIns="0" rIns="0" bIns="0" anchor="b" anchorCtr="0"/>
            <a:lstStyle/>
            <a:p>
              <a:pPr algn="ctr"/>
              <a:r>
                <a:rPr lang="en-US" sz="1350">
                  <a:solidFill>
                    <a:srgbClr val="5C6670"/>
                  </a:solidFill>
                  <a:latin typeface="Calibri"/>
                  <a:ea typeface="Microsoft YaHei"/>
                  <a:cs typeface="Calibri"/>
                </a:rPr>
                <a:t>Other buyout funds closed in Q3 2008: 53.6%</a:t>
              </a:r>
            </a:p>
          </p:txBody>
        </p:sp>
      </p:grpSp>
      <p:grpSp>
        <p:nvGrpSpPr>
          <p:cNvPr id="21" name="pie-total"/>
          <p:cNvGrpSpPr/>
          <p:nvPr/>
        </p:nvGrpSpPr>
        <p:grpSpPr>
          <a:xfrm>
            <a:off x="5983978" y="5676900"/>
            <a:ext cx="4415043" cy="322707"/>
            <a:chOff x="5983978" y="5676900"/>
            <a:chExt cx="4415043" cy="322707"/>
          </a:xfrm>
        </p:grpSpPr>
        <p:sp>
          <p:nvSpPr>
            <p:cNvPr id="20" name="TextBox 20"/>
            <p:cNvSpPr txBox="1"/>
            <p:nvPr/>
          </p:nvSpPr>
          <p:spPr>
            <a:xfrm>
              <a:off x="5983978" y="5676900"/>
              <a:ext cx="4415043"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Global buyout funds closing in Q3 2008: $42.7bn</a:t>
              </a:r>
            </a:p>
          </p:txBody>
        </p:sp>
      </p:grpSp>
      <p:grpSp>
        <p:nvGrpSpPr>
          <p:cNvPr id="24" name="footer"/>
          <p:cNvGrpSpPr/>
          <p:nvPr/>
        </p:nvGrpSpPr>
        <p:grpSpPr>
          <a:xfrm>
            <a:off x="604266" y="6426200"/>
            <a:ext cx="10983468" cy="291084"/>
            <a:chOff x="604266" y="6426200"/>
            <a:chExt cx="10983468" cy="291084"/>
          </a:xfrm>
        </p:grpSpPr>
        <p:sp>
          <p:nvSpPr>
            <p:cNvPr id="22" name="TextBox 22"/>
            <p:cNvSpPr txBox="1"/>
            <p:nvPr/>
          </p:nvSpPr>
          <p:spPr>
            <a:xfrm>
              <a:off x="604266" y="6426200"/>
              <a:ext cx="837136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p. 5 and footnote 10; Preqin, Q3 2008 Private Equity Fundraising Update, 24 Oct 2008, pp. 5, 9 (as published). 19.8 ÷ 42.7 = 46.37%.</a:t>
              </a:r>
            </a:p>
          </p:txBody>
        </p:sp>
        <p:sp>
          <p:nvSpPr>
            <p:cNvPr id="23" name="TextBox 23"/>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41774" cy="244475"/>
            <a:chOff x="603504" y="546100"/>
            <a:chExt cx="1741774" cy="244475"/>
          </a:xfrm>
        </p:grpSpPr>
        <p:sp>
          <p:nvSpPr>
            <p:cNvPr id="2" name="TextBox 2"/>
            <p:cNvSpPr txBox="1"/>
            <p:nvPr/>
          </p:nvSpPr>
          <p:spPr>
            <a:xfrm>
              <a:off x="603504" y="546100"/>
              <a:ext cx="174177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CASE BACKGROUND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227064" cy="1043940"/>
            <a:chOff x="594360" y="812800"/>
            <a:chExt cx="6227064" cy="1043940"/>
          </a:xfrm>
        </p:grpSpPr>
        <p:sp>
          <p:nvSpPr>
            <p:cNvPr id="5" name="TextBox 5"/>
            <p:cNvSpPr txBox="1"/>
            <p:nvPr/>
          </p:nvSpPr>
          <p:spPr>
            <a:xfrm>
              <a:off x="594360" y="812800"/>
              <a:ext cx="622706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TPG manages the fund and the fund</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holds the investments</a:t>
              </a:r>
            </a:p>
          </p:txBody>
        </p:sp>
      </p:grpSp>
      <p:grpSp>
        <p:nvGrpSpPr>
          <p:cNvPr id="60" name="fund-structure"/>
          <p:cNvGrpSpPr/>
          <p:nvPr/>
        </p:nvGrpSpPr>
        <p:grpSpPr>
          <a:xfrm>
            <a:off x="603504" y="2133600"/>
            <a:ext cx="6730746" cy="3657600"/>
            <a:chOff x="603504" y="2133600"/>
            <a:chExt cx="6730746" cy="3657600"/>
          </a:xfrm>
        </p:grpSpPr>
        <p:grpSp>
          <p:nvGrpSpPr>
            <p:cNvPr id="24" name="fund-structure-nodes"/>
            <p:cNvGrpSpPr/>
            <p:nvPr/>
          </p:nvGrpSpPr>
          <p:grpSpPr>
            <a:xfrm>
              <a:off x="603504" y="2133600"/>
              <a:ext cx="6730746" cy="3657600"/>
              <a:chOff x="603504" y="2133600"/>
              <a:chExt cx="6730746" cy="3657600"/>
            </a:xfrm>
          </p:grpSpPr>
          <p:sp>
            <p:nvSpPr>
              <p:cNvPr id="7" name="Rectangle 7"/>
              <p:cNvSpPr/>
              <p:nvPr/>
            </p:nvSpPr>
            <p:spPr>
              <a:xfrm>
                <a:off x="3714750" y="2133600"/>
                <a:ext cx="2857500" cy="495300"/>
              </a:xfrm>
              <a:prstGeom prst="rect">
                <a:avLst/>
              </a:prstGeom>
              <a:solidFill>
                <a:schemeClr val="accent1"/>
              </a:solidFill>
              <a:ln>
                <a:noFill/>
              </a:ln>
            </p:spPr>
          </p:sp>
          <p:sp>
            <p:nvSpPr>
              <p:cNvPr id="8" name="TextBox 8"/>
              <p:cNvSpPr txBox="1"/>
              <p:nvPr/>
            </p:nvSpPr>
            <p:spPr>
              <a:xfrm>
                <a:off x="4939792" y="2171700"/>
                <a:ext cx="407415"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TPG</a:t>
                </a:r>
              </a:p>
            </p:txBody>
          </p:sp>
          <p:sp>
            <p:nvSpPr>
              <p:cNvPr id="9" name="TextBox 9"/>
              <p:cNvSpPr txBox="1"/>
              <p:nvPr/>
            </p:nvSpPr>
            <p:spPr>
              <a:xfrm>
                <a:off x="4271501" y="2413000"/>
                <a:ext cx="1743999" cy="234696"/>
              </a:xfrm>
              <a:prstGeom prst="rect">
                <a:avLst/>
              </a:prstGeom>
              <a:noFill/>
              <a:ln>
                <a:noFill/>
              </a:ln>
            </p:spPr>
            <p:txBody>
              <a:bodyPr wrap="none" lIns="0" tIns="0" rIns="0" bIns="0" anchor="t" anchorCtr="0">
                <a:spAutoFit/>
              </a:bodyPr>
              <a:lstStyle/>
              <a:p>
                <a:pPr algn="ctr"/>
                <a:r>
                  <a:rPr lang="en-US" sz="1200" dirty="0">
                    <a:solidFill>
                      <a:schemeClr val="accent6"/>
                    </a:solidFill>
                    <a:latin typeface="+mn-lt"/>
                    <a:ea typeface="+mn-ea"/>
                    <a:cs typeface="+mn-cs"/>
                  </a:rPr>
                  <a:t>management / GP entities</a:t>
                </a:r>
              </a:p>
            </p:txBody>
          </p:sp>
          <p:sp>
            <p:nvSpPr>
              <p:cNvPr id="10" name="Rectangle 10"/>
              <p:cNvSpPr/>
              <p:nvPr/>
            </p:nvSpPr>
            <p:spPr>
              <a:xfrm>
                <a:off x="3714750" y="3848100"/>
                <a:ext cx="2857500" cy="495300"/>
              </a:xfrm>
              <a:prstGeom prst="rect">
                <a:avLst/>
              </a:prstGeom>
              <a:solidFill>
                <a:schemeClr val="accent1"/>
              </a:solidFill>
              <a:ln>
                <a:noFill/>
              </a:ln>
            </p:spPr>
          </p:sp>
          <p:sp>
            <p:nvSpPr>
              <p:cNvPr id="11" name="TextBox 11"/>
              <p:cNvSpPr txBox="1"/>
              <p:nvPr/>
            </p:nvSpPr>
            <p:spPr>
              <a:xfrm>
                <a:off x="4812587" y="3886200"/>
                <a:ext cx="661826"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TPG VI</a:t>
                </a:r>
              </a:p>
            </p:txBody>
          </p:sp>
          <p:sp>
            <p:nvSpPr>
              <p:cNvPr id="12" name="TextBox 12"/>
              <p:cNvSpPr txBox="1"/>
              <p:nvPr/>
            </p:nvSpPr>
            <p:spPr>
              <a:xfrm>
                <a:off x="3893806" y="4127500"/>
                <a:ext cx="2499388" cy="234696"/>
              </a:xfrm>
              <a:prstGeom prst="rect">
                <a:avLst/>
              </a:prstGeom>
              <a:noFill/>
              <a:ln>
                <a:noFill/>
              </a:ln>
            </p:spPr>
            <p:txBody>
              <a:bodyPr wrap="none" lIns="0" tIns="0" rIns="0" bIns="0" anchor="t" anchorCtr="0">
                <a:spAutoFit/>
              </a:bodyPr>
              <a:lstStyle/>
              <a:p>
                <a:pPr algn="ctr"/>
                <a:r>
                  <a:rPr lang="en-US" sz="1200" dirty="0">
                    <a:solidFill>
                      <a:schemeClr val="accent6"/>
                    </a:solidFill>
                    <a:latin typeface="+mn-lt"/>
                    <a:ea typeface="+mn-ea"/>
                    <a:cs typeface="+mn-cs"/>
                  </a:rPr>
                  <a:t>the fund (directly or through vehicles)</a:t>
                </a:r>
              </a:p>
            </p:txBody>
          </p:sp>
          <p:sp>
            <p:nvSpPr>
              <p:cNvPr id="13" name="Rectangle 13"/>
              <p:cNvSpPr/>
              <p:nvPr/>
            </p:nvSpPr>
            <p:spPr>
              <a:xfrm>
                <a:off x="609600" y="3619500"/>
                <a:ext cx="1905000" cy="457200"/>
              </a:xfrm>
              <a:prstGeom prst="rect">
                <a:avLst/>
              </a:prstGeom>
              <a:solidFill>
                <a:schemeClr val="lt2"/>
              </a:solidFill>
              <a:ln>
                <a:noFill/>
              </a:ln>
            </p:spPr>
          </p:sp>
          <p:sp>
            <p:nvSpPr>
              <p:cNvPr id="14" name="TextBox 14"/>
              <p:cNvSpPr txBox="1"/>
              <p:nvPr/>
            </p:nvSpPr>
            <p:spPr>
              <a:xfrm>
                <a:off x="1234731" y="3657600"/>
                <a:ext cx="65473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OPERF</a:t>
                </a:r>
              </a:p>
            </p:txBody>
          </p:sp>
          <p:sp>
            <p:nvSpPr>
              <p:cNvPr id="15" name="TextBox 15"/>
              <p:cNvSpPr txBox="1"/>
              <p:nvPr/>
            </p:nvSpPr>
            <p:spPr>
              <a:xfrm>
                <a:off x="1060791" y="3879850"/>
                <a:ext cx="1002618"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limited partner</a:t>
                </a:r>
              </a:p>
            </p:txBody>
          </p:sp>
          <p:sp>
            <p:nvSpPr>
              <p:cNvPr id="16" name="Rectangle 16"/>
              <p:cNvSpPr/>
              <p:nvPr/>
            </p:nvSpPr>
            <p:spPr>
              <a:xfrm>
                <a:off x="609600" y="4305300"/>
                <a:ext cx="1905000" cy="457200"/>
              </a:xfrm>
              <a:prstGeom prst="rect">
                <a:avLst/>
              </a:prstGeom>
              <a:solidFill>
                <a:schemeClr val="lt2"/>
              </a:solidFill>
              <a:ln>
                <a:noFill/>
              </a:ln>
            </p:spPr>
          </p:sp>
          <p:sp>
            <p:nvSpPr>
              <p:cNvPr id="17" name="TextBox 17"/>
              <p:cNvSpPr txBox="1"/>
              <p:nvPr/>
            </p:nvSpPr>
            <p:spPr>
              <a:xfrm>
                <a:off x="1100201" y="4343400"/>
                <a:ext cx="92379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Other LPs</a:t>
                </a:r>
              </a:p>
            </p:txBody>
          </p:sp>
          <p:sp>
            <p:nvSpPr>
              <p:cNvPr id="18" name="TextBox 18"/>
              <p:cNvSpPr txBox="1"/>
              <p:nvPr/>
            </p:nvSpPr>
            <p:spPr>
              <a:xfrm>
                <a:off x="1029201" y="4565650"/>
                <a:ext cx="1065798"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limited partners</a:t>
                </a:r>
              </a:p>
            </p:txBody>
          </p:sp>
          <p:sp>
            <p:nvSpPr>
              <p:cNvPr id="19" name="TextBox 19"/>
              <p:cNvSpPr txBox="1"/>
              <p:nvPr/>
            </p:nvSpPr>
            <p:spPr>
              <a:xfrm>
                <a:off x="603504" y="4870450"/>
                <a:ext cx="232377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Commitments are drawn over time</a:t>
                </a:r>
              </a:p>
            </p:txBody>
          </p:sp>
          <p:sp>
            <p:nvSpPr>
              <p:cNvPr id="20" name="Rectangle 20"/>
              <p:cNvSpPr/>
              <p:nvPr/>
            </p:nvSpPr>
            <p:spPr>
              <a:xfrm>
                <a:off x="3143250" y="5334000"/>
                <a:ext cx="1905000" cy="457200"/>
              </a:xfrm>
              <a:prstGeom prst="rect">
                <a:avLst/>
              </a:prstGeom>
              <a:noFill/>
              <a:ln w="14288">
                <a:solidFill>
                  <a:schemeClr val="accent1"/>
                </a:solidFill>
              </a:ln>
            </p:spPr>
          </p:sp>
          <p:sp>
            <p:nvSpPr>
              <p:cNvPr id="21" name="TextBox 21"/>
              <p:cNvSpPr txBox="1"/>
              <p:nvPr/>
            </p:nvSpPr>
            <p:spPr>
              <a:xfrm>
                <a:off x="3449498" y="5429250"/>
                <a:ext cx="129250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WaMu equity</a:t>
                </a:r>
              </a:p>
            </p:txBody>
          </p:sp>
          <p:sp>
            <p:nvSpPr>
              <p:cNvPr id="22" name="Rectangle 22"/>
              <p:cNvSpPr/>
              <p:nvPr/>
            </p:nvSpPr>
            <p:spPr>
              <a:xfrm>
                <a:off x="5238750" y="5334000"/>
                <a:ext cx="2095500" cy="457200"/>
              </a:xfrm>
              <a:prstGeom prst="rect">
                <a:avLst/>
              </a:prstGeom>
              <a:noFill/>
              <a:ln w="14288">
                <a:solidFill>
                  <a:schemeClr val="accent1"/>
                </a:solidFill>
              </a:ln>
            </p:spPr>
          </p:sp>
          <p:sp>
            <p:nvSpPr>
              <p:cNvPr id="23" name="TextBox 23"/>
              <p:cNvSpPr txBox="1"/>
              <p:nvPr/>
            </p:nvSpPr>
            <p:spPr>
              <a:xfrm>
                <a:off x="5414569" y="5429250"/>
                <a:ext cx="174386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Other investments</a:t>
                </a:r>
              </a:p>
            </p:txBody>
          </p:sp>
        </p:grpSp>
        <p:grpSp>
          <p:nvGrpSpPr>
            <p:cNvPr id="37" name="fund-structure-edges"/>
            <p:cNvGrpSpPr/>
            <p:nvPr/>
          </p:nvGrpSpPr>
          <p:grpSpPr>
            <a:xfrm>
              <a:off x="2514600" y="2628900"/>
              <a:ext cx="3962401" cy="2705100"/>
              <a:chOff x="2514600" y="2628900"/>
              <a:chExt cx="3962401" cy="2705100"/>
            </a:xfrm>
          </p:grpSpPr>
          <p:sp>
            <p:nvSpPr>
              <p:cNvPr id="25" name="Line 25"/>
              <p:cNvSpPr/>
              <p:nvPr/>
            </p:nvSpPr>
            <p:spPr>
              <a:xfrm>
                <a:off x="4476750" y="2628900"/>
                <a:ext cx="1" cy="1200150"/>
              </a:xfrm>
              <a:prstGeom prst="line">
                <a:avLst/>
              </a:prstGeom>
              <a:noFill/>
              <a:ln w="19050">
                <a:solidFill>
                  <a:schemeClr val="accent1"/>
                </a:solidFill>
                <a:prstDash val="lgDash"/>
                <a:tailEnd type="triangle" w="lg" len="lg"/>
              </a:ln>
            </p:spPr>
          </p:sp>
          <p:sp>
            <p:nvSpPr>
              <p:cNvPr id="26" name="Line 26"/>
              <p:cNvSpPr/>
              <p:nvPr/>
            </p:nvSpPr>
            <p:spPr>
              <a:xfrm>
                <a:off x="5048250" y="2628900"/>
                <a:ext cx="1" cy="1200150"/>
              </a:xfrm>
              <a:prstGeom prst="line">
                <a:avLst/>
              </a:prstGeom>
              <a:noFill/>
              <a:ln w="19050">
                <a:solidFill>
                  <a:schemeClr val="accent1"/>
                </a:solidFill>
                <a:tailEnd type="triangle" w="lg" len="lg"/>
              </a:ln>
            </p:spPr>
          </p:sp>
          <p:sp>
            <p:nvSpPr>
              <p:cNvPr id="27" name="Line 27"/>
              <p:cNvSpPr/>
              <p:nvPr/>
            </p:nvSpPr>
            <p:spPr>
              <a:xfrm flipV="1">
                <a:off x="5619750" y="2647950"/>
                <a:ext cx="1" cy="1200150"/>
              </a:xfrm>
              <a:prstGeom prst="line">
                <a:avLst/>
              </a:prstGeom>
              <a:noFill/>
              <a:ln w="19050">
                <a:solidFill>
                  <a:srgbClr val="8AA3B6"/>
                </a:solidFill>
                <a:tailEnd type="triangle" w="lg" len="lg"/>
              </a:ln>
            </p:spPr>
          </p:sp>
          <p:sp>
            <p:nvSpPr>
              <p:cNvPr id="28" name="Line 28"/>
              <p:cNvSpPr/>
              <p:nvPr/>
            </p:nvSpPr>
            <p:spPr>
              <a:xfrm flipV="1">
                <a:off x="6191250" y="2647950"/>
                <a:ext cx="1" cy="1200150"/>
              </a:xfrm>
              <a:prstGeom prst="line">
                <a:avLst/>
              </a:prstGeom>
              <a:noFill/>
              <a:ln w="19050">
                <a:solidFill>
                  <a:schemeClr val="accent3"/>
                </a:solidFill>
                <a:tailEnd type="triangle" w="lg" len="lg"/>
              </a:ln>
            </p:spPr>
          </p:sp>
          <p:sp>
            <p:nvSpPr>
              <p:cNvPr id="29" name="Line 29"/>
              <p:cNvSpPr/>
              <p:nvPr/>
            </p:nvSpPr>
            <p:spPr>
              <a:xfrm>
                <a:off x="2514600" y="3771900"/>
                <a:ext cx="1181100" cy="114300"/>
              </a:xfrm>
              <a:prstGeom prst="line">
                <a:avLst/>
              </a:prstGeom>
              <a:noFill/>
              <a:ln w="19050">
                <a:solidFill>
                  <a:schemeClr val="accent1"/>
                </a:solidFill>
                <a:tailEnd type="triangle" w="lg" len="lg"/>
              </a:ln>
            </p:spPr>
          </p:sp>
          <p:sp>
            <p:nvSpPr>
              <p:cNvPr id="30" name="Line 30"/>
              <p:cNvSpPr/>
              <p:nvPr/>
            </p:nvSpPr>
            <p:spPr>
              <a:xfrm flipH="1" flipV="1">
                <a:off x="2533650" y="3924300"/>
                <a:ext cx="1181100" cy="76200"/>
              </a:xfrm>
              <a:prstGeom prst="line">
                <a:avLst/>
              </a:prstGeom>
              <a:noFill/>
              <a:ln w="19050">
                <a:solidFill>
                  <a:srgbClr val="8AA3B6"/>
                </a:solidFill>
                <a:tailEnd type="triangle" w="lg" len="lg"/>
              </a:ln>
            </p:spPr>
          </p:sp>
          <p:sp>
            <p:nvSpPr>
              <p:cNvPr id="31" name="Line 31"/>
              <p:cNvSpPr/>
              <p:nvPr/>
            </p:nvSpPr>
            <p:spPr>
              <a:xfrm flipV="1">
                <a:off x="2514600" y="4229100"/>
                <a:ext cx="1181100" cy="228600"/>
              </a:xfrm>
              <a:prstGeom prst="line">
                <a:avLst/>
              </a:prstGeom>
              <a:noFill/>
              <a:ln w="19050">
                <a:solidFill>
                  <a:schemeClr val="accent1"/>
                </a:solidFill>
                <a:tailEnd type="triangle" w="lg" len="lg"/>
              </a:ln>
            </p:spPr>
          </p:sp>
          <p:sp>
            <p:nvSpPr>
              <p:cNvPr id="32" name="Line 32"/>
              <p:cNvSpPr/>
              <p:nvPr/>
            </p:nvSpPr>
            <p:spPr>
              <a:xfrm flipH="1">
                <a:off x="2533650" y="4343400"/>
                <a:ext cx="1181100" cy="228600"/>
              </a:xfrm>
              <a:prstGeom prst="line">
                <a:avLst/>
              </a:prstGeom>
              <a:noFill/>
              <a:ln w="19050">
                <a:solidFill>
                  <a:srgbClr val="8AA3B6"/>
                </a:solidFill>
                <a:tailEnd type="triangle" w="lg" len="lg"/>
              </a:ln>
            </p:spPr>
          </p:sp>
          <p:sp>
            <p:nvSpPr>
              <p:cNvPr id="33" name="Line 33"/>
              <p:cNvSpPr/>
              <p:nvPr/>
            </p:nvSpPr>
            <p:spPr>
              <a:xfrm>
                <a:off x="4286250" y="4343400"/>
                <a:ext cx="1" cy="971550"/>
              </a:xfrm>
              <a:prstGeom prst="line">
                <a:avLst/>
              </a:prstGeom>
              <a:noFill/>
              <a:ln w="19050">
                <a:solidFill>
                  <a:schemeClr val="accent1"/>
                </a:solidFill>
                <a:tailEnd type="triangle" w="lg" len="lg"/>
              </a:ln>
            </p:spPr>
          </p:sp>
          <p:sp>
            <p:nvSpPr>
              <p:cNvPr id="34" name="Line 34"/>
              <p:cNvSpPr/>
              <p:nvPr/>
            </p:nvSpPr>
            <p:spPr>
              <a:xfrm flipV="1">
                <a:off x="4667250" y="4362450"/>
                <a:ext cx="1" cy="971550"/>
              </a:xfrm>
              <a:prstGeom prst="line">
                <a:avLst/>
              </a:prstGeom>
              <a:noFill/>
              <a:ln w="19050">
                <a:solidFill>
                  <a:srgbClr val="8AA3B6"/>
                </a:solidFill>
                <a:tailEnd type="triangle" w="lg" len="lg"/>
              </a:ln>
            </p:spPr>
          </p:sp>
          <p:sp>
            <p:nvSpPr>
              <p:cNvPr id="35" name="Line 35"/>
              <p:cNvSpPr/>
              <p:nvPr/>
            </p:nvSpPr>
            <p:spPr>
              <a:xfrm>
                <a:off x="6096000" y="4343400"/>
                <a:ext cx="1" cy="971550"/>
              </a:xfrm>
              <a:prstGeom prst="line">
                <a:avLst/>
              </a:prstGeom>
              <a:noFill/>
              <a:ln w="19050">
                <a:solidFill>
                  <a:schemeClr val="accent1"/>
                </a:solidFill>
                <a:tailEnd type="triangle" w="lg" len="lg"/>
              </a:ln>
            </p:spPr>
          </p:sp>
          <p:sp>
            <p:nvSpPr>
              <p:cNvPr id="36" name="Line 36"/>
              <p:cNvSpPr/>
              <p:nvPr/>
            </p:nvSpPr>
            <p:spPr>
              <a:xfrm flipV="1">
                <a:off x="6477000" y="4362450"/>
                <a:ext cx="1" cy="971550"/>
              </a:xfrm>
              <a:prstGeom prst="line">
                <a:avLst/>
              </a:prstGeom>
              <a:noFill/>
              <a:ln w="19050">
                <a:solidFill>
                  <a:srgbClr val="8AA3B6"/>
                </a:solidFill>
                <a:tailEnd type="triangle" w="lg" len="lg"/>
              </a:ln>
            </p:spPr>
          </p:sp>
        </p:grpSp>
        <p:grpSp>
          <p:nvGrpSpPr>
            <p:cNvPr id="59" name="fund-structure-badges"/>
            <p:cNvGrpSpPr/>
            <p:nvPr/>
          </p:nvGrpSpPr>
          <p:grpSpPr>
            <a:xfrm>
              <a:off x="2752725" y="3133725"/>
              <a:ext cx="4019550" cy="1830959"/>
              <a:chOff x="2752725" y="3133725"/>
              <a:chExt cx="4019550" cy="1830959"/>
            </a:xfrm>
          </p:grpSpPr>
          <p:grpSp>
            <p:nvGrpSpPr>
              <p:cNvPr id="48" name="Group 48"/>
              <p:cNvGrpSpPr/>
              <p:nvPr/>
            </p:nvGrpSpPr>
            <p:grpSpPr>
              <a:xfrm>
                <a:off x="2752725" y="3133725"/>
                <a:ext cx="4019550" cy="1809750"/>
                <a:chOff x="2752725" y="3133725"/>
                <a:chExt cx="4019550" cy="1809750"/>
              </a:xfrm>
            </p:grpSpPr>
            <p:sp>
              <p:nvSpPr>
                <p:cNvPr id="38" name="Ellipse 38"/>
                <p:cNvSpPr/>
                <p:nvPr/>
              </p:nvSpPr>
              <p:spPr>
                <a:xfrm>
                  <a:off x="4181475" y="3133725"/>
                  <a:ext cx="209550" cy="209550"/>
                </a:xfrm>
                <a:prstGeom prst="ellipse">
                  <a:avLst/>
                </a:prstGeom>
                <a:solidFill>
                  <a:schemeClr val="lt1"/>
                </a:solidFill>
                <a:ln w="11430">
                  <a:solidFill>
                    <a:schemeClr val="accent1"/>
                  </a:solidFill>
                </a:ln>
              </p:spPr>
            </p:sp>
            <p:sp>
              <p:nvSpPr>
                <p:cNvPr id="39" name="Ellipse 39"/>
                <p:cNvSpPr/>
                <p:nvPr/>
              </p:nvSpPr>
              <p:spPr>
                <a:xfrm>
                  <a:off x="5133975" y="3133725"/>
                  <a:ext cx="209550" cy="209550"/>
                </a:xfrm>
                <a:prstGeom prst="ellipse">
                  <a:avLst/>
                </a:prstGeom>
                <a:solidFill>
                  <a:schemeClr val="lt1"/>
                </a:solidFill>
                <a:ln w="11430">
                  <a:solidFill>
                    <a:schemeClr val="accent1"/>
                  </a:solidFill>
                </a:ln>
              </p:spPr>
            </p:sp>
            <p:sp>
              <p:nvSpPr>
                <p:cNvPr id="40" name="Ellipse 40"/>
                <p:cNvSpPr/>
                <p:nvPr/>
              </p:nvSpPr>
              <p:spPr>
                <a:xfrm>
                  <a:off x="5705475" y="3133725"/>
                  <a:ext cx="209550" cy="209550"/>
                </a:xfrm>
                <a:prstGeom prst="ellipse">
                  <a:avLst/>
                </a:prstGeom>
                <a:solidFill>
                  <a:schemeClr val="lt1"/>
                </a:solidFill>
                <a:ln w="11430">
                  <a:solidFill>
                    <a:schemeClr val="accent1"/>
                  </a:solidFill>
                </a:ln>
              </p:spPr>
            </p:sp>
            <p:sp>
              <p:nvSpPr>
                <p:cNvPr id="41" name="Ellipse 41"/>
                <p:cNvSpPr/>
                <p:nvPr/>
              </p:nvSpPr>
              <p:spPr>
                <a:xfrm>
                  <a:off x="6276975" y="3133725"/>
                  <a:ext cx="209550" cy="209550"/>
                </a:xfrm>
                <a:prstGeom prst="ellipse">
                  <a:avLst/>
                </a:prstGeom>
                <a:solidFill>
                  <a:schemeClr val="lt1"/>
                </a:solidFill>
                <a:ln w="11430">
                  <a:solidFill>
                    <a:schemeClr val="accent1"/>
                  </a:solidFill>
                </a:ln>
              </p:spPr>
            </p:sp>
            <p:sp>
              <p:nvSpPr>
                <p:cNvPr id="42" name="Ellipse 42"/>
                <p:cNvSpPr/>
                <p:nvPr/>
              </p:nvSpPr>
              <p:spPr>
                <a:xfrm>
                  <a:off x="2752725" y="3552825"/>
                  <a:ext cx="209550" cy="209550"/>
                </a:xfrm>
                <a:prstGeom prst="ellipse">
                  <a:avLst/>
                </a:prstGeom>
                <a:solidFill>
                  <a:schemeClr val="lt1"/>
                </a:solidFill>
                <a:ln w="11430">
                  <a:solidFill>
                    <a:schemeClr val="accent1"/>
                  </a:solidFill>
                </a:ln>
              </p:spPr>
            </p:sp>
            <p:sp>
              <p:nvSpPr>
                <p:cNvPr id="43" name="Ellipse 43"/>
                <p:cNvSpPr/>
                <p:nvPr/>
              </p:nvSpPr>
              <p:spPr>
                <a:xfrm>
                  <a:off x="2752725" y="4048125"/>
                  <a:ext cx="209550" cy="209550"/>
                </a:xfrm>
                <a:prstGeom prst="ellipse">
                  <a:avLst/>
                </a:prstGeom>
                <a:solidFill>
                  <a:schemeClr val="lt1"/>
                </a:solidFill>
                <a:ln w="11430">
                  <a:solidFill>
                    <a:schemeClr val="accent1"/>
                  </a:solidFill>
                </a:ln>
              </p:spPr>
            </p:sp>
            <p:sp>
              <p:nvSpPr>
                <p:cNvPr id="44" name="Ellipse 44"/>
                <p:cNvSpPr/>
                <p:nvPr/>
              </p:nvSpPr>
              <p:spPr>
                <a:xfrm>
                  <a:off x="3990975" y="4733925"/>
                  <a:ext cx="209550" cy="209550"/>
                </a:xfrm>
                <a:prstGeom prst="ellipse">
                  <a:avLst/>
                </a:prstGeom>
                <a:solidFill>
                  <a:schemeClr val="lt1"/>
                </a:solidFill>
                <a:ln w="11430">
                  <a:solidFill>
                    <a:schemeClr val="accent1"/>
                  </a:solidFill>
                </a:ln>
              </p:spPr>
            </p:sp>
            <p:sp>
              <p:nvSpPr>
                <p:cNvPr id="45" name="Ellipse 45"/>
                <p:cNvSpPr/>
                <p:nvPr/>
              </p:nvSpPr>
              <p:spPr>
                <a:xfrm>
                  <a:off x="4752975" y="4733925"/>
                  <a:ext cx="209550" cy="209550"/>
                </a:xfrm>
                <a:prstGeom prst="ellipse">
                  <a:avLst/>
                </a:prstGeom>
                <a:solidFill>
                  <a:schemeClr val="lt1"/>
                </a:solidFill>
                <a:ln w="11430">
                  <a:solidFill>
                    <a:schemeClr val="accent1"/>
                  </a:solidFill>
                </a:ln>
              </p:spPr>
            </p:sp>
            <p:sp>
              <p:nvSpPr>
                <p:cNvPr id="46" name="Ellipse 46"/>
                <p:cNvSpPr/>
                <p:nvPr/>
              </p:nvSpPr>
              <p:spPr>
                <a:xfrm>
                  <a:off x="5800725" y="4733925"/>
                  <a:ext cx="209550" cy="209550"/>
                </a:xfrm>
                <a:prstGeom prst="ellipse">
                  <a:avLst/>
                </a:prstGeom>
                <a:solidFill>
                  <a:schemeClr val="lt1"/>
                </a:solidFill>
                <a:ln w="11430">
                  <a:solidFill>
                    <a:schemeClr val="accent1"/>
                  </a:solidFill>
                </a:ln>
              </p:spPr>
            </p:sp>
            <p:sp>
              <p:nvSpPr>
                <p:cNvPr id="47" name="Ellipse 47"/>
                <p:cNvSpPr/>
                <p:nvPr/>
              </p:nvSpPr>
              <p:spPr>
                <a:xfrm>
                  <a:off x="6562725" y="4733925"/>
                  <a:ext cx="209550" cy="209550"/>
                </a:xfrm>
                <a:prstGeom prst="ellipse">
                  <a:avLst/>
                </a:prstGeom>
                <a:solidFill>
                  <a:schemeClr val="lt1"/>
                </a:solidFill>
                <a:ln w="11430">
                  <a:solidFill>
                    <a:schemeClr val="accent1"/>
                  </a:solidFill>
                </a:ln>
              </p:spPr>
            </p:sp>
          </p:grpSp>
          <p:sp>
            <p:nvSpPr>
              <p:cNvPr id="49" name="TextBox 49"/>
              <p:cNvSpPr txBox="1"/>
              <p:nvPr/>
            </p:nvSpPr>
            <p:spPr>
              <a:xfrm>
                <a:off x="42450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1</a:t>
                </a:r>
              </a:p>
            </p:txBody>
          </p:sp>
          <p:sp>
            <p:nvSpPr>
              <p:cNvPr id="50" name="TextBox 50"/>
              <p:cNvSpPr txBox="1"/>
              <p:nvPr/>
            </p:nvSpPr>
            <p:spPr>
              <a:xfrm>
                <a:off x="51975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2</a:t>
                </a:r>
              </a:p>
            </p:txBody>
          </p:sp>
          <p:sp>
            <p:nvSpPr>
              <p:cNvPr id="51" name="TextBox 51"/>
              <p:cNvSpPr txBox="1"/>
              <p:nvPr/>
            </p:nvSpPr>
            <p:spPr>
              <a:xfrm>
                <a:off x="57690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7</a:t>
                </a:r>
              </a:p>
            </p:txBody>
          </p:sp>
          <p:sp>
            <p:nvSpPr>
              <p:cNvPr id="52" name="TextBox 52"/>
              <p:cNvSpPr txBox="1"/>
              <p:nvPr/>
            </p:nvSpPr>
            <p:spPr>
              <a:xfrm>
                <a:off x="63405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8</a:t>
                </a:r>
              </a:p>
            </p:txBody>
          </p:sp>
          <p:sp>
            <p:nvSpPr>
              <p:cNvPr id="53" name="TextBox 53"/>
              <p:cNvSpPr txBox="1"/>
              <p:nvPr/>
            </p:nvSpPr>
            <p:spPr>
              <a:xfrm>
                <a:off x="2816348" y="35782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3</a:t>
                </a:r>
              </a:p>
            </p:txBody>
          </p:sp>
          <p:sp>
            <p:nvSpPr>
              <p:cNvPr id="54" name="TextBox 54"/>
              <p:cNvSpPr txBox="1"/>
              <p:nvPr/>
            </p:nvSpPr>
            <p:spPr>
              <a:xfrm>
                <a:off x="2816348" y="40735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6</a:t>
                </a:r>
              </a:p>
            </p:txBody>
          </p:sp>
          <p:sp>
            <p:nvSpPr>
              <p:cNvPr id="55" name="TextBox 55"/>
              <p:cNvSpPr txBox="1"/>
              <p:nvPr/>
            </p:nvSpPr>
            <p:spPr>
              <a:xfrm>
                <a:off x="405459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4</a:t>
                </a:r>
              </a:p>
            </p:txBody>
          </p:sp>
          <p:sp>
            <p:nvSpPr>
              <p:cNvPr id="56" name="TextBox 56"/>
              <p:cNvSpPr txBox="1"/>
              <p:nvPr/>
            </p:nvSpPr>
            <p:spPr>
              <a:xfrm>
                <a:off x="481659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5</a:t>
                </a:r>
              </a:p>
            </p:txBody>
          </p:sp>
          <p:sp>
            <p:nvSpPr>
              <p:cNvPr id="57" name="TextBox 57"/>
              <p:cNvSpPr txBox="1"/>
              <p:nvPr/>
            </p:nvSpPr>
            <p:spPr>
              <a:xfrm>
                <a:off x="586434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4</a:t>
                </a:r>
              </a:p>
            </p:txBody>
          </p:sp>
          <p:sp>
            <p:nvSpPr>
              <p:cNvPr id="58" name="TextBox 58"/>
              <p:cNvSpPr txBox="1"/>
              <p:nvPr/>
            </p:nvSpPr>
            <p:spPr>
              <a:xfrm>
                <a:off x="662634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5</a:t>
                </a:r>
              </a:p>
            </p:txBody>
          </p:sp>
        </p:grpSp>
      </p:grpSp>
      <p:grpSp>
        <p:nvGrpSpPr>
          <p:cNvPr id="73" name="flow-key"/>
          <p:cNvGrpSpPr/>
          <p:nvPr/>
        </p:nvGrpSpPr>
        <p:grpSpPr>
          <a:xfrm>
            <a:off x="8382000" y="2095500"/>
            <a:ext cx="2493485" cy="3810000"/>
            <a:chOff x="8382000" y="2095500"/>
            <a:chExt cx="2493485" cy="3810000"/>
          </a:xfrm>
        </p:grpSpPr>
        <p:sp>
          <p:nvSpPr>
            <p:cNvPr id="61" name="Line 61"/>
            <p:cNvSpPr/>
            <p:nvPr/>
          </p:nvSpPr>
          <p:spPr>
            <a:xfrm>
              <a:off x="8382000" y="2095500"/>
              <a:ext cx="9525" cy="3810000"/>
            </a:xfrm>
            <a:custGeom>
              <a:avLst/>
              <a:gdLst/>
              <a:ahLst/>
              <a:cxnLst/>
              <a:rect l="l" t="t" r="r" b="b"/>
              <a:pathLst>
                <a:path w="9525" h="3810000">
                  <a:moveTo>
                    <a:pt x="0" y="0"/>
                  </a:moveTo>
                  <a:lnTo>
                    <a:pt x="0" y="3810000"/>
                  </a:lnTo>
                </a:path>
              </a:pathLst>
            </a:custGeom>
            <a:noFill/>
            <a:ln w="9525">
              <a:solidFill>
                <a:schemeClr val="accent6"/>
              </a:solidFill>
            </a:ln>
          </p:spPr>
        </p:sp>
        <p:sp>
          <p:nvSpPr>
            <p:cNvPr id="62" name="TextBox 62"/>
            <p:cNvSpPr txBox="1"/>
            <p:nvPr/>
          </p:nvSpPr>
          <p:spPr>
            <a:xfrm>
              <a:off x="8564118" y="2171700"/>
              <a:ext cx="55279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Flows</a:t>
              </a:r>
            </a:p>
          </p:txBody>
        </p:sp>
        <p:sp>
          <p:nvSpPr>
            <p:cNvPr id="63" name="Line 63"/>
            <p:cNvSpPr/>
            <p:nvPr/>
          </p:nvSpPr>
          <p:spPr>
            <a:xfrm>
              <a:off x="8572500" y="2695575"/>
              <a:ext cx="381000" cy="9525"/>
            </a:xfrm>
            <a:custGeom>
              <a:avLst/>
              <a:gdLst/>
              <a:ahLst/>
              <a:cxnLst/>
              <a:rect l="l" t="t" r="r" b="b"/>
              <a:pathLst>
                <a:path w="381000" h="9525">
                  <a:moveTo>
                    <a:pt x="0" y="0"/>
                  </a:moveTo>
                  <a:lnTo>
                    <a:pt x="381000" y="0"/>
                  </a:lnTo>
                </a:path>
              </a:pathLst>
            </a:custGeom>
            <a:noFill/>
            <a:ln w="19050">
              <a:solidFill>
                <a:schemeClr val="accent1"/>
              </a:solidFill>
              <a:prstDash val="lgDash"/>
            </a:ln>
          </p:spPr>
        </p:sp>
        <p:sp>
          <p:nvSpPr>
            <p:cNvPr id="64" name="TextBox 64"/>
            <p:cNvSpPr txBox="1"/>
            <p:nvPr/>
          </p:nvSpPr>
          <p:spPr>
            <a:xfrm>
              <a:off x="9060942" y="2578100"/>
              <a:ext cx="103276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Management</a:t>
              </a:r>
            </a:p>
          </p:txBody>
        </p:sp>
        <p:sp>
          <p:nvSpPr>
            <p:cNvPr id="65" name="TextBox 65"/>
            <p:cNvSpPr txBox="1"/>
            <p:nvPr/>
          </p:nvSpPr>
          <p:spPr>
            <a:xfrm>
              <a:off x="8565642" y="2844800"/>
              <a:ext cx="1896306"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1 Investment selection and</a:t>
              </a:r>
              <a:br>
                <a:rPr lang="en-US" sz="1350" dirty="0">
                  <a:solidFill>
                    <a:schemeClr val="dk1"/>
                  </a:solidFill>
                  <a:latin typeface="+mn-lt"/>
                  <a:ea typeface="+mn-ea"/>
                  <a:cs typeface="+mn-cs"/>
                </a:rPr>
              </a:br>
              <a:r>
                <a:rPr lang="en-US" sz="1350" dirty="0">
                  <a:solidFill>
                    <a:schemeClr val="dk1"/>
                  </a:solidFill>
                  <a:latin typeface="+mn-lt"/>
                  <a:ea typeface="+mn-ea"/>
                  <a:cs typeface="+mn-cs"/>
                </a:rPr>
                <a:t>management</a:t>
              </a:r>
            </a:p>
          </p:txBody>
        </p:sp>
        <p:sp>
          <p:nvSpPr>
            <p:cNvPr id="66" name="Line 66"/>
            <p:cNvSpPr/>
            <p:nvPr/>
          </p:nvSpPr>
          <p:spPr>
            <a:xfrm>
              <a:off x="8572500" y="3381375"/>
              <a:ext cx="381000" cy="9525"/>
            </a:xfrm>
            <a:custGeom>
              <a:avLst/>
              <a:gdLst/>
              <a:ahLst/>
              <a:cxnLst/>
              <a:rect l="l" t="t" r="r" b="b"/>
              <a:pathLst>
                <a:path w="381000" h="9525">
                  <a:moveTo>
                    <a:pt x="0" y="0"/>
                  </a:moveTo>
                  <a:lnTo>
                    <a:pt x="381000" y="0"/>
                  </a:lnTo>
                </a:path>
              </a:pathLst>
            </a:custGeom>
            <a:noFill/>
            <a:ln w="19050">
              <a:solidFill>
                <a:schemeClr val="accent1"/>
              </a:solidFill>
            </a:ln>
          </p:spPr>
        </p:sp>
        <p:sp>
          <p:nvSpPr>
            <p:cNvPr id="67" name="TextBox 67"/>
            <p:cNvSpPr txBox="1"/>
            <p:nvPr/>
          </p:nvSpPr>
          <p:spPr>
            <a:xfrm>
              <a:off x="9060942" y="3263900"/>
              <a:ext cx="159994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Capital and proceeds</a:t>
              </a:r>
            </a:p>
          </p:txBody>
        </p:sp>
        <p:sp>
          <p:nvSpPr>
            <p:cNvPr id="68" name="TextBox 68"/>
            <p:cNvSpPr txBox="1"/>
            <p:nvPr/>
          </p:nvSpPr>
          <p:spPr>
            <a:xfrm>
              <a:off x="8565642" y="3492500"/>
              <a:ext cx="2309843" cy="797433"/>
            </a:xfrm>
            <a:prstGeom prst="rect">
              <a:avLst/>
            </a:prstGeom>
            <a:noFill/>
            <a:ln>
              <a:noFill/>
            </a:ln>
          </p:spPr>
          <p:txBody>
            <a:bodyPr wrap="none" lIns="0" tIns="0" rIns="0" bIns="0" anchor="t" anchorCtr="0">
              <a:spAutoFit/>
            </a:bodyPr>
            <a:lstStyle/>
            <a:p>
              <a:pPr algn="l">
                <a:lnSpc>
                  <a:spcPts val="2100"/>
                </a:lnSpc>
              </a:pPr>
              <a:r>
                <a:rPr lang="en-US" sz="1350" dirty="0">
                  <a:solidFill>
                    <a:schemeClr val="dk1"/>
                  </a:solidFill>
                  <a:latin typeface="+mn-lt"/>
                  <a:ea typeface="+mn-ea"/>
                  <a:cs typeface="+mn-cs"/>
                </a:rPr>
                <a:t>2 GP capital when called</a:t>
              </a:r>
              <a:br>
                <a:rPr lang="en-US" sz="1350" dirty="0">
                  <a:solidFill>
                    <a:schemeClr val="dk1"/>
                  </a:solidFill>
                  <a:latin typeface="+mn-lt"/>
                  <a:ea typeface="+mn-ea"/>
                  <a:cs typeface="+mn-cs"/>
                </a:rPr>
              </a:br>
              <a:r>
                <a:rPr lang="en-US" sz="1350" dirty="0">
                  <a:solidFill>
                    <a:schemeClr val="dk1"/>
                  </a:solidFill>
                  <a:latin typeface="+mn-lt"/>
                  <a:ea typeface="+mn-ea"/>
                  <a:cs typeface="+mn-cs"/>
                </a:rPr>
                <a:t>3 Capital paid when called</a:t>
              </a:r>
              <a:br>
                <a:rPr lang="en-US" sz="1350" dirty="0">
                  <a:solidFill>
                    <a:schemeClr val="dk1"/>
                  </a:solidFill>
                  <a:latin typeface="+mn-lt"/>
                  <a:ea typeface="+mn-ea"/>
                  <a:cs typeface="+mn-cs"/>
                </a:rPr>
              </a:br>
              <a:r>
                <a:rPr lang="en-US" sz="1350" dirty="0">
                  <a:solidFill>
                    <a:schemeClr val="dk1"/>
                  </a:solidFill>
                  <a:latin typeface="+mn-lt"/>
                  <a:ea typeface="+mn-ea"/>
                  <a:cs typeface="+mn-cs"/>
                </a:rPr>
                <a:t>4 Investment capital / ownership</a:t>
              </a:r>
            </a:p>
          </p:txBody>
        </p:sp>
        <p:sp>
          <p:nvSpPr>
            <p:cNvPr id="69" name="TextBox 69"/>
            <p:cNvSpPr txBox="1"/>
            <p:nvPr/>
          </p:nvSpPr>
          <p:spPr>
            <a:xfrm>
              <a:off x="8565642" y="4292600"/>
              <a:ext cx="1571631" cy="797433"/>
            </a:xfrm>
            <a:prstGeom prst="rect">
              <a:avLst/>
            </a:prstGeom>
            <a:noFill/>
            <a:ln>
              <a:noFill/>
            </a:ln>
          </p:spPr>
          <p:txBody>
            <a:bodyPr wrap="none" lIns="0" tIns="0" rIns="0" bIns="0" anchor="t" anchorCtr="0">
              <a:spAutoFit/>
            </a:bodyPr>
            <a:lstStyle/>
            <a:p>
              <a:pPr algn="l">
                <a:lnSpc>
                  <a:spcPts val="2100"/>
                </a:lnSpc>
              </a:pPr>
              <a:r>
                <a:rPr lang="en-US" sz="1350" dirty="0">
                  <a:solidFill>
                    <a:schemeClr val="accent5"/>
                  </a:solidFill>
                  <a:latin typeface="+mn-lt"/>
                  <a:ea typeface="+mn-ea"/>
                  <a:cs typeface="+mn-cs"/>
                </a:rPr>
                <a:t>5 Proceeds if realised</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6 Fund distributions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7 Return on GP capital</a:t>
              </a:r>
            </a:p>
          </p:txBody>
        </p:sp>
        <p:sp>
          <p:nvSpPr>
            <p:cNvPr id="70" name="Line 70"/>
            <p:cNvSpPr/>
            <p:nvPr/>
          </p:nvSpPr>
          <p:spPr>
            <a:xfrm>
              <a:off x="8572500" y="5400675"/>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71" name="TextBox 71"/>
            <p:cNvSpPr txBox="1"/>
            <p:nvPr/>
          </p:nvSpPr>
          <p:spPr>
            <a:xfrm>
              <a:off x="9060942" y="5283200"/>
              <a:ext cx="111222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Compensation</a:t>
              </a:r>
            </a:p>
          </p:txBody>
        </p:sp>
        <p:sp>
          <p:nvSpPr>
            <p:cNvPr id="72" name="TextBox 72"/>
            <p:cNvSpPr txBox="1"/>
            <p:nvPr/>
          </p:nvSpPr>
          <p:spPr>
            <a:xfrm>
              <a:off x="8565642" y="5549900"/>
              <a:ext cx="188199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8 Fees / conditional carry</a:t>
              </a:r>
            </a:p>
          </p:txBody>
        </p:sp>
      </p:grpSp>
      <p:grpSp>
        <p:nvGrpSpPr>
          <p:cNvPr id="76" name="footer"/>
          <p:cNvGrpSpPr/>
          <p:nvPr/>
        </p:nvGrpSpPr>
        <p:grpSpPr>
          <a:xfrm>
            <a:off x="604266" y="6350000"/>
            <a:ext cx="10983468" cy="367284"/>
            <a:chOff x="604266" y="6350000"/>
            <a:chExt cx="10983468" cy="367284"/>
          </a:xfrm>
        </p:grpSpPr>
        <p:sp>
          <p:nvSpPr>
            <p:cNvPr id="74" name="TextBox 74"/>
            <p:cNvSpPr txBox="1"/>
            <p:nvPr/>
          </p:nvSpPr>
          <p:spPr>
            <a:xfrm>
              <a:off x="604266" y="6350000"/>
              <a:ext cx="7888799"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pp. 3–5; Washington Mutual, Inc. Form 8-K (11 Apr 2008); Metrick &amp; Yasuda (2007). "TPG" is shorthand for the GP and management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entities; return arrows show the mechanism, not realised gains.</a:t>
              </a:r>
            </a:p>
          </p:txBody>
        </p:sp>
        <p:sp>
          <p:nvSpPr>
            <p:cNvPr id="75" name="TextBox 75"/>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08684" cy="244475"/>
            <a:chOff x="603504" y="546100"/>
            <a:chExt cx="2108684" cy="244475"/>
          </a:xfrm>
        </p:grpSpPr>
        <p:sp>
          <p:nvSpPr>
            <p:cNvPr id="2" name="TextBox 2"/>
            <p:cNvSpPr txBox="1"/>
            <p:nvPr/>
          </p:nvSpPr>
          <p:spPr>
            <a:xfrm>
              <a:off x="603504" y="546100"/>
              <a:ext cx="210868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DECISION AT HAND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50203" cy="1043940"/>
            <a:chOff x="594360" y="812800"/>
            <a:chExt cx="6650203" cy="1043940"/>
          </a:xfrm>
        </p:grpSpPr>
        <p:sp>
          <p:nvSpPr>
            <p:cNvPr id="5" name="TextBox 5"/>
            <p:cNvSpPr txBox="1"/>
            <p:nvPr/>
          </p:nvSpPr>
          <p:spPr>
            <a:xfrm>
              <a:off x="594360" y="812800"/>
              <a:ext cx="665020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Should OPERF reduce its commitment</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seek better terms?</a:t>
              </a:r>
            </a:p>
          </p:txBody>
        </p:sp>
      </p:grpSp>
      <p:graphicFrame>
        <p:nvGraphicFramePr>
          <p:cNvPr id="7" name="december-offer-table"/>
          <p:cNvGraphicFramePr>
            <a:graphicFrameLocks noGrp="1"/>
          </p:cNvGraphicFramePr>
          <p:nvPr/>
        </p:nvGraphicFramePr>
        <p:xfrm>
          <a:off x="1295400" y="2247900"/>
          <a:ext cx="9601200" cy="2895600"/>
        </p:xfrm>
        <a:graphic>
          <a:graphicData uri="http://schemas.openxmlformats.org/drawingml/2006/table">
            <a:tbl>
              <a:tblPr firstRow="1" bandRow="0">
                <a:tableStyleId>{5C22544A-7EE6-4342-B048-85BDC9FD1C3A}</a:tableStyleId>
              </a:tblPr>
              <a:tblGrid>
                <a:gridCol w="4324350"/>
                <a:gridCol w="5276850"/>
              </a:tblGrid>
              <a:tr h="457200">
                <a:tc>
                  <a:txBody>
                    <a:bodyPr/>
                    <a:lstStyle/>
                    <a:p>
                      <a:pPr/>
                      <a:r>
                        <a:rPr lang="en-US" sz="1500" b="1">
                          <a:solidFill>
                            <a:srgbClr val="FBF8F2"/>
                          </a:solidFill>
                          <a:latin typeface="Calibri"/>
                          <a:ea typeface="Microsoft YaHei"/>
                          <a:cs typeface="Calibri"/>
                        </a:rPr>
                        <a:t>December offer</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Implication for OPERF</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r>
              <a:tr h="685800">
                <a:tc>
                  <a:txBody>
                    <a:bodyPr/>
                    <a:lstStyle/>
                    <a:p>
                      <a:pPr/>
                      <a:r>
                        <a:rPr lang="en-US" sz="1500" b="0">
                          <a:solidFill>
                            <a:schemeClr val="dk1"/>
                          </a:solidFill>
                          <a:latin typeface="Calibri"/>
                          <a:ea typeface="Microsoft YaHei"/>
                          <a:cs typeface="Calibri"/>
                        </a:rPr>
                        <a:t>Optional 10% commitment reduction</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 xml:space="preserve">$750m → </a:t>
                      </a:r>
                      <a:r>
                        <a:rPr lang="en-US" sz="1500" b="1">
                          <a:solidFill>
                            <a:schemeClr val="dk1"/>
                          </a:solidFill>
                          <a:latin typeface="Calibri"/>
                          <a:ea typeface="Microsoft YaHei"/>
                          <a:cs typeface="Calibri"/>
                        </a:rPr>
                        <a:t>$675m</a:t>
                      </a:r>
                      <a:r>
                        <a:rPr lang="en-US" sz="1500" b="0">
                          <a:solidFill>
                            <a:schemeClr val="dk1"/>
                          </a:solidFill>
                          <a:latin typeface="Calibri"/>
                          <a:ea typeface="Microsoft YaHei"/>
                          <a:cs typeface="Calibri"/>
                        </a:rPr>
                        <a:t xml:space="preserve"> if accepted</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685800">
                <a:tc>
                  <a:txBody>
                    <a:bodyPr/>
                    <a:lstStyle/>
                    <a:p>
                      <a:pPr/>
                      <a:r>
                        <a:rPr lang="en-US" sz="1500" b="0">
                          <a:solidFill>
                            <a:schemeClr val="dk1"/>
                          </a:solidFill>
                          <a:latin typeface="Calibri"/>
                          <a:ea typeface="Microsoft YaHei"/>
                          <a:cs typeface="Calibri"/>
                        </a:rPr>
                        <a:t>Fee reduction for all LPs</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 xml:space="preserve">1.50% → </a:t>
                      </a:r>
                      <a:r>
                        <a:rPr lang="en-US" sz="1500" b="1">
                          <a:solidFill>
                            <a:schemeClr val="dk1"/>
                          </a:solidFill>
                          <a:latin typeface="Calibri"/>
                          <a:ea typeface="Microsoft YaHei"/>
                          <a:cs typeface="Calibri"/>
                        </a:rPr>
                        <a:t>1.35%</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r>
              <a:tr h="1066800">
                <a:tc>
                  <a:txBody>
                    <a:bodyPr/>
                    <a:lstStyle/>
                    <a:p>
                      <a:pPr/>
                      <a:r>
                        <a:rPr lang="en-US" sz="1500" b="0">
                          <a:solidFill>
                            <a:schemeClr val="dk1"/>
                          </a:solidFill>
                          <a:latin typeface="Calibri"/>
                          <a:ea typeface="Microsoft YaHei"/>
                          <a:cs typeface="Calibri"/>
                        </a:rPr>
                        <a:t>Advisory committee approval required for calls above 30% of commitments in the following year</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A conditional limit on capital calls (not an absolute cap)</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0" name="footer"/>
          <p:cNvGrpSpPr/>
          <p:nvPr/>
        </p:nvGrpSpPr>
        <p:grpSpPr>
          <a:xfrm>
            <a:off x="604266" y="6350000"/>
            <a:ext cx="10983468" cy="367284"/>
            <a:chOff x="604266" y="6350000"/>
            <a:chExt cx="10983468" cy="367284"/>
          </a:xfrm>
        </p:grpSpPr>
        <p:sp>
          <p:nvSpPr>
            <p:cNvPr id="8" name="TextBox 8"/>
            <p:cNvSpPr txBox="1"/>
            <p:nvPr/>
          </p:nvSpPr>
          <p:spPr>
            <a:xfrm>
              <a:off x="604266" y="6350000"/>
              <a:ext cx="8115361"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1 and footnote 1 (report of 23 Dec 2008). 750 × 10% = 75; 750 − 75 = 675. The 30% threshold is a proposed future arrangement with a</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committee-approval exception, not an actual call result.</a:t>
              </a:r>
            </a:p>
          </p:txBody>
        </p:sp>
        <p:sp>
          <p:nvSpPr>
            <p:cNvPr id="9" name="TextBox 9"/>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340342" cy="234696"/>
            <a:chOff x="908304" y="1574800"/>
            <a:chExt cx="2340342" cy="234696"/>
          </a:xfrm>
        </p:grpSpPr>
        <p:sp>
          <p:nvSpPr>
            <p:cNvPr id="2" name="TextBox 2"/>
            <p:cNvSpPr txBox="1"/>
            <p:nvPr/>
          </p:nvSpPr>
          <p:spPr>
            <a:xfrm>
              <a:off x="908304" y="1574800"/>
              <a:ext cx="2340342"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STRATEGIC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5773202"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Why is TPG revising its terms</a:t>
              </a:r>
              <a:br>
                <a:rPr lang="en-US" sz="3600" dirty="0">
                  <a:solidFill>
                    <a:srgbClr val="FBF8F2"/>
                  </a:solidFill>
                  <a:latin typeface="+mj-lt"/>
                  <a:ea typeface="+mj-ea"/>
                  <a:cs typeface="+mj-cs"/>
                </a:rPr>
              </a:br>
              <a:r>
                <a:rPr lang="en-US" sz="3600" dirty="0">
                  <a:solidFill>
                    <a:srgbClr val="FBF8F2"/>
                  </a:solidFill>
                  <a:latin typeface="+mj-lt"/>
                  <a:ea typeface="+mj-ea"/>
                  <a:cs typeface="+mj-cs"/>
                </a:rPr>
                <a:t>amid the 2008 crisis?</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3922199" cy="264033"/>
            <a:chOff x="907542" y="5930900"/>
            <a:chExt cx="3922199" cy="264033"/>
          </a:xfrm>
        </p:grpSpPr>
        <p:sp>
          <p:nvSpPr>
            <p:cNvPr id="7" name="TextBox 7"/>
            <p:cNvSpPr txBox="1"/>
            <p:nvPr/>
          </p:nvSpPr>
          <p:spPr>
            <a:xfrm>
              <a:off x="907542" y="5930900"/>
              <a:ext cx="3922199"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2 · The 2008 crisis and TPG's motivation · Q1 · Li</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448378" cy="244475"/>
            <a:chOff x="603504" y="546100"/>
            <a:chExt cx="1448378" cy="244475"/>
          </a:xfrm>
        </p:grpSpPr>
        <p:sp>
          <p:nvSpPr>
            <p:cNvPr id="2" name="TextBox 2"/>
            <p:cNvSpPr txBox="1"/>
            <p:nvPr/>
          </p:nvSpPr>
          <p:spPr>
            <a:xfrm>
              <a:off x="603504" y="546100"/>
              <a:ext cx="1448378"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2008 CRISIS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806467" cy="1043940"/>
            <a:chOff x="594360" y="812800"/>
            <a:chExt cx="4806467" cy="1043940"/>
          </a:xfrm>
        </p:grpSpPr>
        <p:sp>
          <p:nvSpPr>
            <p:cNvPr id="5" name="TextBox 5"/>
            <p:cNvSpPr txBox="1"/>
            <p:nvPr/>
          </p:nvSpPr>
          <p:spPr>
            <a:xfrm>
              <a:off x="594360" y="812800"/>
              <a:ext cx="4806467"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crisis constrained both</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deal financing and exits</a:t>
              </a:r>
            </a:p>
          </p:txBody>
        </p:sp>
      </p:grpSp>
      <p:grpSp>
        <p:nvGrpSpPr>
          <p:cNvPr id="12" name="financing-channel"/>
          <p:cNvGrpSpPr/>
          <p:nvPr/>
        </p:nvGrpSpPr>
        <p:grpSpPr>
          <a:xfrm>
            <a:off x="609600" y="2286000"/>
            <a:ext cx="10978896" cy="914400"/>
            <a:chOff x="609600" y="2286000"/>
            <a:chExt cx="10978896" cy="914400"/>
          </a:xfrm>
        </p:grpSpPr>
        <p:sp>
          <p:nvSpPr>
            <p:cNvPr id="7" name="Rectangle 7"/>
            <p:cNvSpPr/>
            <p:nvPr/>
          </p:nvSpPr>
          <p:spPr>
            <a:xfrm>
              <a:off x="609600" y="2286000"/>
              <a:ext cx="3810000" cy="914400"/>
            </a:xfrm>
            <a:prstGeom prst="rect">
              <a:avLst/>
            </a:prstGeom>
            <a:solidFill>
              <a:schemeClr val="lt2"/>
            </a:solidFill>
            <a:ln>
              <a:noFill/>
            </a:ln>
          </p:spPr>
        </p:sp>
        <p:sp>
          <p:nvSpPr>
            <p:cNvPr id="8" name="TextBox 8"/>
            <p:cNvSpPr txBox="1"/>
            <p:nvPr/>
          </p:nvSpPr>
          <p:spPr>
            <a:xfrm>
              <a:off x="1668611" y="2628900"/>
              <a:ext cx="169197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Credit contraction</a:t>
              </a:r>
            </a:p>
          </p:txBody>
        </p:sp>
        <p:sp>
          <p:nvSpPr>
            <p:cNvPr id="9" name="Line 9"/>
            <p:cNvSpPr/>
            <p:nvPr/>
          </p:nvSpPr>
          <p:spPr>
            <a:xfrm>
              <a:off x="4572000" y="2743200"/>
              <a:ext cx="723900" cy="1"/>
            </a:xfrm>
            <a:prstGeom prst="line">
              <a:avLst/>
            </a:prstGeom>
            <a:noFill/>
            <a:ln w="19050">
              <a:solidFill>
                <a:schemeClr val="accent1"/>
              </a:solidFill>
              <a:tailEnd type="triangle" w="lg" len="lg"/>
            </a:ln>
          </p:spPr>
        </p:sp>
        <p:sp>
          <p:nvSpPr>
            <p:cNvPr id="10" name="TextBox 10"/>
            <p:cNvSpPr txBox="1"/>
            <p:nvPr/>
          </p:nvSpPr>
          <p:spPr>
            <a:xfrm>
              <a:off x="5516118" y="2451100"/>
              <a:ext cx="256466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Harder to finance acquisitions</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refinance debt</a:t>
              </a:r>
            </a:p>
          </p:txBody>
        </p:sp>
        <p:sp>
          <p:nvSpPr>
            <p:cNvPr id="11" name="TextBox 11"/>
            <p:cNvSpPr txBox="1"/>
            <p:nvPr/>
          </p:nvSpPr>
          <p:spPr>
            <a:xfrm>
              <a:off x="9705359" y="2660650"/>
              <a:ext cx="1883137" cy="234696"/>
            </a:xfrm>
            <a:prstGeom prst="rect">
              <a:avLst/>
            </a:prstGeom>
            <a:noFill/>
            <a:ln>
              <a:noFill/>
            </a:ln>
          </p:spPr>
          <p:txBody>
            <a:bodyPr wrap="none" lIns="0" tIns="0" rIns="0" bIns="0" anchor="t" anchorCtr="0">
              <a:spAutoFit/>
            </a:bodyPr>
            <a:lstStyle/>
            <a:p>
              <a:pPr algn="r"/>
              <a:r>
                <a:rPr lang="en-US" sz="1200" b="1" spc="150" dirty="0">
                  <a:solidFill>
                    <a:schemeClr val="accent5"/>
                  </a:solidFill>
                  <a:latin typeface="+mn-lt"/>
                  <a:ea typeface="+mn-ea"/>
                  <a:cs typeface="+mn-cs"/>
                </a:rPr>
                <a:t>FINANCING CHANNEL</a:t>
              </a:r>
            </a:p>
          </p:txBody>
        </p:sp>
      </p:grpSp>
      <p:grpSp>
        <p:nvGrpSpPr>
          <p:cNvPr id="18" name="exit-channel"/>
          <p:cNvGrpSpPr/>
          <p:nvPr/>
        </p:nvGrpSpPr>
        <p:grpSpPr>
          <a:xfrm>
            <a:off x="609600" y="3657600"/>
            <a:ext cx="10978896" cy="1066800"/>
            <a:chOff x="609600" y="3657600"/>
            <a:chExt cx="10978896" cy="1066800"/>
          </a:xfrm>
        </p:grpSpPr>
        <p:sp>
          <p:nvSpPr>
            <p:cNvPr id="13" name="Rectangle 13"/>
            <p:cNvSpPr/>
            <p:nvPr/>
          </p:nvSpPr>
          <p:spPr>
            <a:xfrm>
              <a:off x="609600" y="3657600"/>
              <a:ext cx="3810000" cy="1066800"/>
            </a:xfrm>
            <a:prstGeom prst="rect">
              <a:avLst/>
            </a:prstGeom>
            <a:solidFill>
              <a:schemeClr val="lt2"/>
            </a:solidFill>
            <a:ln>
              <a:noFill/>
            </a:ln>
          </p:spPr>
        </p:sp>
        <p:sp>
          <p:nvSpPr>
            <p:cNvPr id="14" name="TextBox 14"/>
            <p:cNvSpPr txBox="1"/>
            <p:nvPr/>
          </p:nvSpPr>
          <p:spPr>
            <a:xfrm>
              <a:off x="1114911" y="3898900"/>
              <a:ext cx="2799378" cy="608457"/>
            </a:xfrm>
            <a:prstGeom prst="rect">
              <a:avLst/>
            </a:prstGeom>
            <a:noFill/>
            <a:ln>
              <a:noFill/>
            </a:ln>
          </p:spPr>
          <p:txBody>
            <a:bodyPr wrap="none" lIns="0" tIns="0" rIns="0" bIns="0" anchor="t" anchorCtr="0">
              <a:spAutoFit/>
            </a:bodyPr>
            <a:lstStyle/>
            <a:p>
              <a:pPr algn="ctr">
                <a:lnSpc>
                  <a:spcPts val="2250"/>
                </a:lnSpc>
              </a:pPr>
              <a:r>
                <a:rPr lang="en-US" sz="1650" b="1" dirty="0">
                  <a:solidFill>
                    <a:schemeClr val="accent1"/>
                  </a:solidFill>
                  <a:latin typeface="+mn-lt"/>
                  <a:ea typeface="+mn-ea"/>
                  <a:cs typeface="+mn-cs"/>
                </a:rPr>
                <a:t>Falling public-market valuations</a:t>
              </a:r>
              <a:br>
                <a:rPr lang="en-US" sz="1650" b="1" dirty="0">
                  <a:solidFill>
                    <a:schemeClr val="accent1"/>
                  </a:solidFill>
                  <a:latin typeface="+mn-lt"/>
                  <a:ea typeface="+mn-ea"/>
                  <a:cs typeface="+mn-cs"/>
                </a:rPr>
              </a:br>
              <a:r>
                <a:rPr lang="en-US" sz="1650" b="1" dirty="0">
                  <a:solidFill>
                    <a:schemeClr val="accent1"/>
                  </a:solidFill>
                  <a:latin typeface="+mn-lt"/>
                  <a:ea typeface="+mn-ea"/>
                  <a:cs typeface="+mn-cs"/>
                </a:rPr>
                <a:t>+ uncertain economic outlook</a:t>
              </a:r>
            </a:p>
          </p:txBody>
        </p:sp>
        <p:sp>
          <p:nvSpPr>
            <p:cNvPr id="15" name="Line 15"/>
            <p:cNvSpPr/>
            <p:nvPr/>
          </p:nvSpPr>
          <p:spPr>
            <a:xfrm>
              <a:off x="4572000" y="4191000"/>
              <a:ext cx="723900" cy="1"/>
            </a:xfrm>
            <a:prstGeom prst="line">
              <a:avLst/>
            </a:prstGeom>
            <a:noFill/>
            <a:ln w="19050">
              <a:solidFill>
                <a:schemeClr val="accent1"/>
              </a:solidFill>
              <a:tailEnd type="triangle" w="lg" len="lg"/>
            </a:ln>
          </p:spPr>
        </p:sp>
        <p:sp>
          <p:nvSpPr>
            <p:cNvPr id="16" name="TextBox 16"/>
            <p:cNvSpPr txBox="1"/>
            <p:nvPr/>
          </p:nvSpPr>
          <p:spPr>
            <a:xfrm>
              <a:off x="5516118" y="3898900"/>
              <a:ext cx="326189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Weaker sale valuations, IPO prospects</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exit timing</a:t>
              </a:r>
            </a:p>
          </p:txBody>
        </p:sp>
        <p:sp>
          <p:nvSpPr>
            <p:cNvPr id="17" name="TextBox 17"/>
            <p:cNvSpPr txBox="1"/>
            <p:nvPr/>
          </p:nvSpPr>
          <p:spPr>
            <a:xfrm>
              <a:off x="10313947" y="4108450"/>
              <a:ext cx="1274549" cy="234696"/>
            </a:xfrm>
            <a:prstGeom prst="rect">
              <a:avLst/>
            </a:prstGeom>
            <a:noFill/>
            <a:ln>
              <a:noFill/>
            </a:ln>
          </p:spPr>
          <p:txBody>
            <a:bodyPr wrap="none" lIns="0" tIns="0" rIns="0" bIns="0" anchor="t" anchorCtr="0">
              <a:spAutoFit/>
            </a:bodyPr>
            <a:lstStyle/>
            <a:p>
              <a:pPr algn="r"/>
              <a:r>
                <a:rPr lang="en-US" sz="1200" b="1" spc="150" dirty="0">
                  <a:solidFill>
                    <a:schemeClr val="accent5"/>
                  </a:solidFill>
                  <a:latin typeface="+mn-lt"/>
                  <a:ea typeface="+mn-ea"/>
                  <a:cs typeface="+mn-cs"/>
                </a:rPr>
                <a:t>EXIT CHANNEL</a:t>
              </a:r>
            </a:p>
          </p:txBody>
        </p:sp>
      </p:grpSp>
      <p:grpSp>
        <p:nvGrpSpPr>
          <p:cNvPr id="20" name="channel-note"/>
          <p:cNvGrpSpPr/>
          <p:nvPr/>
        </p:nvGrpSpPr>
        <p:grpSpPr>
          <a:xfrm>
            <a:off x="602742" y="5187950"/>
            <a:ext cx="9462656" cy="264033"/>
            <a:chOff x="602742" y="5187950"/>
            <a:chExt cx="9462656" cy="264033"/>
          </a:xfrm>
        </p:grpSpPr>
        <p:sp>
          <p:nvSpPr>
            <p:cNvPr id="19" name="TextBox 19"/>
            <p:cNvSpPr txBox="1"/>
            <p:nvPr/>
          </p:nvSpPr>
          <p:spPr>
            <a:xfrm>
              <a:off x="602742" y="5187950"/>
              <a:ext cx="946265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Industry-level shocks: tight credit limited what funds could buy and refinance; falling markets made exits later and less valuable.</a:t>
              </a:r>
            </a:p>
          </p:txBody>
        </p:sp>
      </p:grpSp>
      <p:grpSp>
        <p:nvGrpSpPr>
          <p:cNvPr id="23" name="footer"/>
          <p:cNvGrpSpPr/>
          <p:nvPr/>
        </p:nvGrpSpPr>
        <p:grpSpPr>
          <a:xfrm>
            <a:off x="604266" y="6350000"/>
            <a:ext cx="10983468" cy="367284"/>
            <a:chOff x="604266" y="6350000"/>
            <a:chExt cx="10983468" cy="367284"/>
          </a:xfrm>
        </p:grpSpPr>
        <p:sp>
          <p:nvSpPr>
            <p:cNvPr id="21" name="TextBox 21"/>
            <p:cNvSpPr txBox="1"/>
            <p:nvPr/>
          </p:nvSpPr>
          <p:spPr>
            <a:xfrm>
              <a:off x="604266" y="6350000"/>
              <a:ext cx="8038498"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5; Federal Reserve FOMC statement, 16 Dec 2008 (credit conditions and weaker outlook). The transmission mechanism is the team's</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analysis; not based on Exhibit 8's full-year IPO statistics.</a:t>
              </a:r>
            </a:p>
          </p:txBody>
        </p:sp>
        <p:sp>
          <p:nvSpPr>
            <p:cNvPr id="22" name="TextBox 22"/>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448378" cy="244475"/>
            <a:chOff x="603504" y="546100"/>
            <a:chExt cx="1448378" cy="244475"/>
          </a:xfrm>
        </p:grpSpPr>
        <p:sp>
          <p:nvSpPr>
            <p:cNvPr id="2" name="TextBox 2"/>
            <p:cNvSpPr txBox="1"/>
            <p:nvPr/>
          </p:nvSpPr>
          <p:spPr>
            <a:xfrm>
              <a:off x="603504" y="546100"/>
              <a:ext cx="1448378"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2008 CRISIS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884319" cy="586740"/>
            <a:chOff x="594360" y="812800"/>
            <a:chExt cx="8884319" cy="586740"/>
          </a:xfrm>
        </p:grpSpPr>
        <p:sp>
          <p:nvSpPr>
            <p:cNvPr id="5" name="TextBox 5"/>
            <p:cNvSpPr txBox="1"/>
            <p:nvPr/>
          </p:nvSpPr>
          <p:spPr>
            <a:xfrm>
              <a:off x="594360" y="812800"/>
              <a:ext cx="888431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WaMu brought manager judgment into focus</a:t>
              </a:r>
            </a:p>
          </p:txBody>
        </p:sp>
      </p:grpSp>
      <p:grpSp>
        <p:nvGrpSpPr>
          <p:cNvPr id="13" name="timeline-investment"/>
          <p:cNvGrpSpPr/>
          <p:nvPr/>
        </p:nvGrpSpPr>
        <p:grpSpPr>
          <a:xfrm>
            <a:off x="935214" y="3028950"/>
            <a:ext cx="3255786" cy="2057146"/>
            <a:chOff x="935214" y="3028950"/>
            <a:chExt cx="3255786" cy="2057146"/>
          </a:xfrm>
        </p:grpSpPr>
        <p:sp>
          <p:nvSpPr>
            <p:cNvPr id="7" name="Line 7"/>
            <p:cNvSpPr/>
            <p:nvPr/>
          </p:nvSpPr>
          <p:spPr>
            <a:xfrm>
              <a:off x="1143000" y="3619500"/>
              <a:ext cx="3048000" cy="9525"/>
            </a:xfrm>
            <a:custGeom>
              <a:avLst/>
              <a:gdLst/>
              <a:ahLst/>
              <a:cxnLst/>
              <a:rect l="l" t="t" r="r" b="b"/>
              <a:pathLst>
                <a:path w="3048000" h="9525">
                  <a:moveTo>
                    <a:pt x="0" y="0"/>
                  </a:moveTo>
                  <a:lnTo>
                    <a:pt x="3048000" y="0"/>
                  </a:lnTo>
                </a:path>
              </a:pathLst>
            </a:custGeom>
            <a:noFill/>
            <a:ln w="19050">
              <a:solidFill>
                <a:schemeClr val="accent6"/>
              </a:solidFill>
            </a:ln>
          </p:spPr>
        </p:sp>
        <p:sp>
          <p:nvSpPr>
            <p:cNvPr id="8" name="Ellipse 8"/>
            <p:cNvSpPr/>
            <p:nvPr/>
          </p:nvSpPr>
          <p:spPr>
            <a:xfrm>
              <a:off x="2171700" y="3505200"/>
              <a:ext cx="228600" cy="228600"/>
            </a:xfrm>
            <a:prstGeom prst="ellipse">
              <a:avLst/>
            </a:prstGeom>
            <a:solidFill>
              <a:schemeClr val="accent1"/>
            </a:solidFill>
            <a:ln>
              <a:noFill/>
            </a:ln>
          </p:spPr>
        </p:sp>
        <p:sp>
          <p:nvSpPr>
            <p:cNvPr id="9" name="TextBox 9"/>
            <p:cNvSpPr txBox="1"/>
            <p:nvPr/>
          </p:nvSpPr>
          <p:spPr>
            <a:xfrm>
              <a:off x="1712840" y="3028950"/>
              <a:ext cx="114632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11 Apr 2008</a:t>
              </a:r>
            </a:p>
          </p:txBody>
        </p:sp>
        <p:sp>
          <p:nvSpPr>
            <p:cNvPr id="10" name="TextBox 10"/>
            <p:cNvSpPr txBox="1"/>
            <p:nvPr/>
          </p:nvSpPr>
          <p:spPr>
            <a:xfrm>
              <a:off x="1221407" y="3848100"/>
              <a:ext cx="2129187"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Investment agreement</a:t>
              </a:r>
            </a:p>
          </p:txBody>
        </p:sp>
        <p:sp>
          <p:nvSpPr>
            <p:cNvPr id="11" name="TextBox 11"/>
            <p:cNvSpPr txBox="1"/>
            <p:nvPr/>
          </p:nvSpPr>
          <p:spPr>
            <a:xfrm>
              <a:off x="935214" y="4165600"/>
              <a:ext cx="2701572" cy="492633"/>
            </a:xfrm>
            <a:prstGeom prst="rect">
              <a:avLst/>
            </a:prstGeom>
            <a:noFill/>
            <a:ln>
              <a:noFill/>
            </a:ln>
          </p:spPr>
          <p:txBody>
            <a:bodyPr wrap="none" lIns="0" tIns="0" rIns="0" bIns="0" anchor="t" anchorCtr="0">
              <a:spAutoFit/>
            </a:bodyPr>
            <a:lstStyle/>
            <a:p>
              <a:pPr algn="ctr">
                <a:lnSpc>
                  <a:spcPts val="1800"/>
                </a:lnSpc>
              </a:pPr>
              <a:r>
                <a:rPr lang="en-US" sz="1350" dirty="0">
                  <a:solidFill>
                    <a:schemeClr val="accent5"/>
                  </a:solidFill>
                  <a:latin typeface="+mn-lt"/>
                  <a:ea typeface="+mn-ea"/>
                  <a:cs typeface="+mn-cs"/>
                </a:rPr>
                <a:t>Washington Mutual, Inc. disclosed an</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investment agreement naming TPG VI.</a:t>
              </a:r>
            </a:p>
          </p:txBody>
        </p:sp>
        <p:sp>
          <p:nvSpPr>
            <p:cNvPr id="12" name="TextBox 12"/>
            <p:cNvSpPr txBox="1"/>
            <p:nvPr/>
          </p:nvSpPr>
          <p:spPr>
            <a:xfrm>
              <a:off x="1462814" y="4851400"/>
              <a:ext cx="1646373"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Washington Mutual, Inc.</a:t>
              </a:r>
            </a:p>
          </p:txBody>
        </p:sp>
      </p:grpSp>
      <p:grpSp>
        <p:nvGrpSpPr>
          <p:cNvPr id="20" name="timeline-closure"/>
          <p:cNvGrpSpPr/>
          <p:nvPr/>
        </p:nvGrpSpPr>
        <p:grpSpPr>
          <a:xfrm>
            <a:off x="4191000" y="3028950"/>
            <a:ext cx="3810000" cy="2057146"/>
            <a:chOff x="4191000" y="3028950"/>
            <a:chExt cx="3810000" cy="2057146"/>
          </a:xfrm>
        </p:grpSpPr>
        <p:sp>
          <p:nvSpPr>
            <p:cNvPr id="14" name="Line 14"/>
            <p:cNvSpPr/>
            <p:nvPr/>
          </p:nvSpPr>
          <p:spPr>
            <a:xfrm>
              <a:off x="4191000" y="3619500"/>
              <a:ext cx="3810000" cy="9525"/>
            </a:xfrm>
            <a:custGeom>
              <a:avLst/>
              <a:gdLst/>
              <a:ahLst/>
              <a:cxnLst/>
              <a:rect l="l" t="t" r="r" b="b"/>
              <a:pathLst>
                <a:path w="3810000" h="9525">
                  <a:moveTo>
                    <a:pt x="0" y="0"/>
                  </a:moveTo>
                  <a:lnTo>
                    <a:pt x="3810000" y="0"/>
                  </a:lnTo>
                </a:path>
              </a:pathLst>
            </a:custGeom>
            <a:noFill/>
            <a:ln w="19050">
              <a:solidFill>
                <a:schemeClr val="accent6"/>
              </a:solidFill>
            </a:ln>
          </p:spPr>
        </p:sp>
        <p:sp>
          <p:nvSpPr>
            <p:cNvPr id="15" name="Ellipse 15"/>
            <p:cNvSpPr/>
            <p:nvPr/>
          </p:nvSpPr>
          <p:spPr>
            <a:xfrm>
              <a:off x="5981700" y="3505200"/>
              <a:ext cx="228600" cy="228600"/>
            </a:xfrm>
            <a:prstGeom prst="ellipse">
              <a:avLst/>
            </a:prstGeom>
            <a:solidFill>
              <a:schemeClr val="accent1"/>
            </a:solidFill>
            <a:ln>
              <a:noFill/>
            </a:ln>
          </p:spPr>
        </p:sp>
        <p:sp>
          <p:nvSpPr>
            <p:cNvPr id="16" name="TextBox 16"/>
            <p:cNvSpPr txBox="1"/>
            <p:nvPr/>
          </p:nvSpPr>
          <p:spPr>
            <a:xfrm>
              <a:off x="5521188" y="3028950"/>
              <a:ext cx="114962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25 Sep 2008</a:t>
              </a:r>
            </a:p>
          </p:txBody>
        </p:sp>
        <p:sp>
          <p:nvSpPr>
            <p:cNvPr id="17" name="TextBox 17"/>
            <p:cNvSpPr txBox="1"/>
            <p:nvPr/>
          </p:nvSpPr>
          <p:spPr>
            <a:xfrm>
              <a:off x="5496745" y="3848100"/>
              <a:ext cx="119851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Bank closure</a:t>
              </a:r>
            </a:p>
          </p:txBody>
        </p:sp>
        <p:sp>
          <p:nvSpPr>
            <p:cNvPr id="18" name="TextBox 18"/>
            <p:cNvSpPr txBox="1"/>
            <p:nvPr/>
          </p:nvSpPr>
          <p:spPr>
            <a:xfrm>
              <a:off x="4701105" y="4178300"/>
              <a:ext cx="278978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Washington Mutual Bank was closed.</a:t>
              </a:r>
            </a:p>
          </p:txBody>
        </p:sp>
        <p:sp>
          <p:nvSpPr>
            <p:cNvPr id="19" name="TextBox 19"/>
            <p:cNvSpPr txBox="1"/>
            <p:nvPr/>
          </p:nvSpPr>
          <p:spPr>
            <a:xfrm>
              <a:off x="5245244" y="4851400"/>
              <a:ext cx="1701513"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Washington Mutual Bank</a:t>
              </a:r>
            </a:p>
          </p:txBody>
        </p:sp>
      </p:grpSp>
      <p:grpSp>
        <p:nvGrpSpPr>
          <p:cNvPr id="27" name="timeline-assessment"/>
          <p:cNvGrpSpPr/>
          <p:nvPr/>
        </p:nvGrpSpPr>
        <p:grpSpPr>
          <a:xfrm>
            <a:off x="8001000" y="2813050"/>
            <a:ext cx="3314979" cy="1845183"/>
            <a:chOff x="8001000" y="2813050"/>
            <a:chExt cx="3314979" cy="1845183"/>
          </a:xfrm>
        </p:grpSpPr>
        <p:sp>
          <p:nvSpPr>
            <p:cNvPr id="21" name="Line 21"/>
            <p:cNvSpPr/>
            <p:nvPr/>
          </p:nvSpPr>
          <p:spPr>
            <a:xfrm>
              <a:off x="8001000" y="3619500"/>
              <a:ext cx="3048000" cy="9525"/>
            </a:xfrm>
            <a:custGeom>
              <a:avLst/>
              <a:gdLst/>
              <a:ahLst/>
              <a:cxnLst/>
              <a:rect l="l" t="t" r="r" b="b"/>
              <a:pathLst>
                <a:path w="3048000" h="9525">
                  <a:moveTo>
                    <a:pt x="0" y="0"/>
                  </a:moveTo>
                  <a:lnTo>
                    <a:pt x="3048000" y="0"/>
                  </a:lnTo>
                </a:path>
              </a:pathLst>
            </a:custGeom>
            <a:noFill/>
            <a:ln w="19050">
              <a:solidFill>
                <a:schemeClr val="accent6"/>
              </a:solidFill>
            </a:ln>
          </p:spPr>
        </p:sp>
        <p:sp>
          <p:nvSpPr>
            <p:cNvPr id="22" name="Ellipse 22"/>
            <p:cNvSpPr/>
            <p:nvPr/>
          </p:nvSpPr>
          <p:spPr>
            <a:xfrm>
              <a:off x="9791700" y="3505200"/>
              <a:ext cx="228600" cy="228600"/>
            </a:xfrm>
            <a:prstGeom prst="ellipse">
              <a:avLst/>
            </a:prstGeom>
            <a:solidFill>
              <a:schemeClr val="lt1"/>
            </a:solidFill>
            <a:ln w="28575">
              <a:solidFill>
                <a:srgbClr val="A33D3D"/>
              </a:solidFill>
            </a:ln>
          </p:spPr>
        </p:sp>
        <p:sp>
          <p:nvSpPr>
            <p:cNvPr id="23" name="TextBox 23"/>
            <p:cNvSpPr txBox="1"/>
            <p:nvPr/>
          </p:nvSpPr>
          <p:spPr>
            <a:xfrm>
              <a:off x="9481710" y="2813050"/>
              <a:ext cx="848580" cy="234696"/>
            </a:xfrm>
            <a:prstGeom prst="rect">
              <a:avLst/>
            </a:prstGeom>
            <a:noFill/>
            <a:ln>
              <a:noFill/>
            </a:ln>
          </p:spPr>
          <p:txBody>
            <a:bodyPr wrap="none" lIns="0" tIns="0" rIns="0" bIns="0" anchor="t" anchorCtr="0">
              <a:spAutoFit/>
            </a:bodyPr>
            <a:lstStyle/>
            <a:p>
              <a:pPr algn="ctr"/>
              <a:r>
                <a:rPr lang="en-US" sz="1200" b="1" spc="150" dirty="0">
                  <a:solidFill>
                    <a:srgbClr val="A33D3D"/>
                  </a:solidFill>
                  <a:latin typeface="+mn-lt"/>
                  <a:ea typeface="+mn-ea"/>
                  <a:cs typeface="+mn-cs"/>
                </a:rPr>
                <a:t>ANALYSIS</a:t>
              </a:r>
            </a:p>
          </p:txBody>
        </p:sp>
        <p:sp>
          <p:nvSpPr>
            <p:cNvPr id="24" name="TextBox 24"/>
            <p:cNvSpPr txBox="1"/>
            <p:nvPr/>
          </p:nvSpPr>
          <p:spPr>
            <a:xfrm>
              <a:off x="8863314" y="3028950"/>
              <a:ext cx="2085372"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December assessment</a:t>
              </a:r>
            </a:p>
          </p:txBody>
        </p:sp>
        <p:sp>
          <p:nvSpPr>
            <p:cNvPr id="25" name="TextBox 25"/>
            <p:cNvSpPr txBox="1"/>
            <p:nvPr/>
          </p:nvSpPr>
          <p:spPr>
            <a:xfrm>
              <a:off x="8496021" y="3848100"/>
              <a:ext cx="281995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Scrutiny of manager judgment</a:t>
              </a:r>
            </a:p>
          </p:txBody>
        </p:sp>
        <p:sp>
          <p:nvSpPr>
            <p:cNvPr id="26" name="TextBox 26"/>
            <p:cNvSpPr txBox="1"/>
            <p:nvPr/>
          </p:nvSpPr>
          <p:spPr>
            <a:xfrm>
              <a:off x="8518721" y="4165600"/>
              <a:ext cx="2774558" cy="492633"/>
            </a:xfrm>
            <a:prstGeom prst="rect">
              <a:avLst/>
            </a:prstGeom>
            <a:noFill/>
            <a:ln>
              <a:noFill/>
            </a:ln>
          </p:spPr>
          <p:txBody>
            <a:bodyPr wrap="none" lIns="0" tIns="0" rIns="0" bIns="0" anchor="t" anchorCtr="0">
              <a:spAutoFit/>
            </a:bodyPr>
            <a:lstStyle/>
            <a:p>
              <a:pPr algn="ctr">
                <a:lnSpc>
                  <a:spcPts val="1800"/>
                </a:lnSpc>
              </a:pPr>
              <a:r>
                <a:rPr lang="en-US" sz="1350" dirty="0">
                  <a:solidFill>
                    <a:schemeClr val="accent5"/>
                  </a:solidFill>
                  <a:latin typeface="+mn-lt"/>
                  <a:ea typeface="+mn-ea"/>
                  <a:cs typeface="+mn-cs"/>
                </a:rPr>
                <a:t>LPs had reason to scrutinise investment</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selection and risk assessment.</a:t>
              </a:r>
            </a:p>
          </p:txBody>
        </p:sp>
      </p:grpSp>
      <p:grpSp>
        <p:nvGrpSpPr>
          <p:cNvPr id="29" name="timeline-note"/>
          <p:cNvGrpSpPr/>
          <p:nvPr/>
        </p:nvGrpSpPr>
        <p:grpSpPr>
          <a:xfrm>
            <a:off x="602742" y="5759450"/>
            <a:ext cx="2415754" cy="264033"/>
            <a:chOff x="602742" y="5759450"/>
            <a:chExt cx="2415754" cy="264033"/>
          </a:xfrm>
        </p:grpSpPr>
        <p:sp>
          <p:nvSpPr>
            <p:cNvPr id="28" name="TextBox 28"/>
            <p:cNvSpPr txBox="1"/>
            <p:nvPr/>
          </p:nvSpPr>
          <p:spPr>
            <a:xfrm>
              <a:off x="602742" y="5759450"/>
              <a:ext cx="2415754" cy="264033"/>
            </a:xfrm>
            <a:prstGeom prst="rect">
              <a:avLst/>
            </a:prstGeom>
            <a:noFill/>
            <a:ln>
              <a:noFill/>
            </a:ln>
          </p:spPr>
          <p:txBody>
            <a:bodyPr wrap="none" lIns="0" tIns="0" rIns="0" bIns="0" anchor="t" anchorCtr="0">
              <a:spAutoFit/>
            </a:bodyPr>
            <a:lstStyle/>
            <a:p>
              <a:pPr algn="l"/>
              <a:r>
                <a:rPr lang="en-US" sz="1350" i="1" dirty="0">
                  <a:solidFill>
                    <a:schemeClr val="accent5"/>
                  </a:solidFill>
                  <a:latin typeface="+mn-lt"/>
                  <a:ea typeface="+mn-ea"/>
                  <a:cs typeface="+mn-cs"/>
                </a:rPr>
                <a:t>Sequence of events; not to scale.</a:t>
              </a:r>
            </a:p>
          </p:txBody>
        </p:sp>
      </p:grpSp>
      <p:grpSp>
        <p:nvGrpSpPr>
          <p:cNvPr id="32" name="footer"/>
          <p:cNvGrpSpPr/>
          <p:nvPr/>
        </p:nvGrpSpPr>
        <p:grpSpPr>
          <a:xfrm>
            <a:off x="604266" y="6350000"/>
            <a:ext cx="10983468" cy="367284"/>
            <a:chOff x="604266" y="6350000"/>
            <a:chExt cx="10983468" cy="367284"/>
          </a:xfrm>
        </p:grpSpPr>
        <p:sp>
          <p:nvSpPr>
            <p:cNvPr id="30" name="TextBox 30"/>
            <p:cNvSpPr txBox="1"/>
            <p:nvPr/>
          </p:nvSpPr>
          <p:spPr>
            <a:xfrm>
              <a:off x="604266" y="6350000"/>
              <a:ext cx="8408304"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Washington Mutual, Inc. Form 8-K, 11 Apr 2008, Item 1.01 and Exhibit 10.1; FDIC press release PR-85-2008, 25 Sep 2008. The holding company and</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the bank are different entities; the filings do not give TPG VI's exact loss.</a:t>
              </a:r>
            </a:p>
          </p:txBody>
        </p:sp>
        <p:sp>
          <p:nvSpPr>
            <p:cNvPr id="31" name="TextBox 3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448378" cy="244475"/>
            <a:chOff x="603504" y="546100"/>
            <a:chExt cx="1448378" cy="244475"/>
          </a:xfrm>
        </p:grpSpPr>
        <p:sp>
          <p:nvSpPr>
            <p:cNvPr id="2" name="TextBox 2"/>
            <p:cNvSpPr txBox="1"/>
            <p:nvPr/>
          </p:nvSpPr>
          <p:spPr>
            <a:xfrm>
              <a:off x="603504" y="546100"/>
              <a:ext cx="1448378"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2008 CRISIS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045975" cy="1043940"/>
            <a:chOff x="594360" y="812800"/>
            <a:chExt cx="6045975" cy="1043940"/>
          </a:xfrm>
        </p:grpSpPr>
        <p:sp>
          <p:nvSpPr>
            <p:cNvPr id="5" name="TextBox 5"/>
            <p:cNvSpPr txBox="1"/>
            <p:nvPr/>
          </p:nvSpPr>
          <p:spPr>
            <a:xfrm>
              <a:off x="594360" y="812800"/>
              <a:ext cx="6045975"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Ability to fund calls does not settle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allocation decision</a:t>
              </a:r>
            </a:p>
          </p:txBody>
        </p:sp>
      </p:grpSp>
      <p:grpSp>
        <p:nvGrpSpPr>
          <p:cNvPr id="20" name="liquidity"/>
          <p:cNvGrpSpPr/>
          <p:nvPr/>
        </p:nvGrpSpPr>
        <p:grpSpPr>
          <a:xfrm>
            <a:off x="601218" y="2171700"/>
            <a:ext cx="5504307" cy="2857500"/>
            <a:chOff x="601218" y="2171700"/>
            <a:chExt cx="5504307" cy="2857500"/>
          </a:xfrm>
        </p:grpSpPr>
        <p:sp>
          <p:nvSpPr>
            <p:cNvPr id="7" name="TextBox 7"/>
            <p:cNvSpPr txBox="1"/>
            <p:nvPr/>
          </p:nvSpPr>
          <p:spPr>
            <a:xfrm>
              <a:off x="601218" y="2247900"/>
              <a:ext cx="81915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Liquidity</a:t>
              </a:r>
            </a:p>
          </p:txBody>
        </p:sp>
        <p:sp>
          <p:nvSpPr>
            <p:cNvPr id="8" name="Line 8"/>
            <p:cNvSpPr/>
            <p:nvPr/>
          </p:nvSpPr>
          <p:spPr>
            <a:xfrm>
              <a:off x="609600" y="2533650"/>
              <a:ext cx="457200" cy="9525"/>
            </a:xfrm>
            <a:custGeom>
              <a:avLst/>
              <a:gdLst/>
              <a:ahLst/>
              <a:cxnLst/>
              <a:rect l="l" t="t" r="r" b="b"/>
              <a:pathLst>
                <a:path w="457200" h="9525">
                  <a:moveTo>
                    <a:pt x="0" y="0"/>
                  </a:moveTo>
                  <a:lnTo>
                    <a:pt x="457200" y="0"/>
                  </a:lnTo>
                </a:path>
              </a:pathLst>
            </a:custGeom>
            <a:noFill/>
            <a:ln w="19050">
              <a:solidFill>
                <a:schemeClr val="accent3"/>
              </a:solidFill>
            </a:ln>
          </p:spPr>
        </p:sp>
        <p:sp>
          <p:nvSpPr>
            <p:cNvPr id="9" name="Rectangle 9"/>
            <p:cNvSpPr/>
            <p:nvPr/>
          </p:nvSpPr>
          <p:spPr>
            <a:xfrm>
              <a:off x="609600" y="2743200"/>
              <a:ext cx="2571750" cy="533400"/>
            </a:xfrm>
            <a:prstGeom prst="rect">
              <a:avLst/>
            </a:prstGeom>
            <a:solidFill>
              <a:schemeClr val="lt2"/>
            </a:solidFill>
            <a:ln>
              <a:noFill/>
            </a:ln>
          </p:spPr>
        </p:sp>
        <p:sp>
          <p:nvSpPr>
            <p:cNvPr id="10" name="TextBox 10"/>
            <p:cNvSpPr txBox="1"/>
            <p:nvPr/>
          </p:nvSpPr>
          <p:spPr>
            <a:xfrm>
              <a:off x="1327787" y="2806700"/>
              <a:ext cx="1135376" cy="473583"/>
            </a:xfrm>
            <a:prstGeom prst="rect">
              <a:avLst/>
            </a:prstGeom>
            <a:noFill/>
            <a:ln>
              <a:noFill/>
            </a:ln>
          </p:spPr>
          <p:txBody>
            <a:bodyPr wrap="none" lIns="0" tIns="0" rIns="0" bIns="0" anchor="t" anchorCtr="0">
              <a:spAutoFit/>
            </a:bodyPr>
            <a:lstStyle/>
            <a:p>
              <a:pPr algn="ctr">
                <a:lnSpc>
                  <a:spcPts val="1650"/>
                </a:lnSpc>
              </a:pPr>
              <a:r>
                <a:rPr lang="en-US" sz="1350" dirty="0">
                  <a:solidFill>
                    <a:schemeClr val="accent1"/>
                  </a:solidFill>
                  <a:latin typeface="+mn-lt"/>
                  <a:ea typeface="+mn-ea"/>
                  <a:cs typeface="+mn-cs"/>
                </a:rPr>
                <a:t>Less predictable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distributions</a:t>
              </a:r>
            </a:p>
          </p:txBody>
        </p:sp>
        <p:sp>
          <p:nvSpPr>
            <p:cNvPr id="11" name="Rectangle 11"/>
            <p:cNvSpPr/>
            <p:nvPr/>
          </p:nvSpPr>
          <p:spPr>
            <a:xfrm>
              <a:off x="609600" y="3429000"/>
              <a:ext cx="2571750" cy="533400"/>
            </a:xfrm>
            <a:prstGeom prst="rect">
              <a:avLst/>
            </a:prstGeom>
            <a:solidFill>
              <a:schemeClr val="lt2"/>
            </a:solidFill>
            <a:ln>
              <a:noFill/>
            </a:ln>
          </p:spPr>
        </p:sp>
        <p:sp>
          <p:nvSpPr>
            <p:cNvPr id="12" name="TextBox 12"/>
            <p:cNvSpPr txBox="1"/>
            <p:nvPr/>
          </p:nvSpPr>
          <p:spPr>
            <a:xfrm>
              <a:off x="1074044" y="3587750"/>
              <a:ext cx="1642861"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Binding commitments</a:t>
              </a:r>
            </a:p>
          </p:txBody>
        </p:sp>
        <p:grpSp>
          <p:nvGrpSpPr>
            <p:cNvPr id="15" name="Group 15"/>
            <p:cNvGrpSpPr/>
            <p:nvPr/>
          </p:nvGrpSpPr>
          <p:grpSpPr>
            <a:xfrm>
              <a:off x="3181350" y="3009900"/>
              <a:ext cx="800100" cy="685800"/>
              <a:chOff x="3181350" y="3009900"/>
              <a:chExt cx="800100" cy="685800"/>
            </a:xfrm>
          </p:grpSpPr>
          <p:sp>
            <p:nvSpPr>
              <p:cNvPr id="13" name="Line 13"/>
              <p:cNvSpPr/>
              <p:nvPr/>
            </p:nvSpPr>
            <p:spPr>
              <a:xfrm>
                <a:off x="3181350" y="3009900"/>
                <a:ext cx="800100" cy="76200"/>
              </a:xfrm>
              <a:prstGeom prst="line">
                <a:avLst/>
              </a:prstGeom>
              <a:noFill/>
              <a:ln w="19050">
                <a:solidFill>
                  <a:schemeClr val="accent1"/>
                </a:solidFill>
                <a:tailEnd type="triangle" w="lg" len="lg"/>
              </a:ln>
            </p:spPr>
          </p:sp>
          <p:sp>
            <p:nvSpPr>
              <p:cNvPr id="14" name="Line 14"/>
              <p:cNvSpPr/>
              <p:nvPr/>
            </p:nvSpPr>
            <p:spPr>
              <a:xfrm flipV="1">
                <a:off x="3181350" y="3276600"/>
                <a:ext cx="800100" cy="419100"/>
              </a:xfrm>
              <a:prstGeom prst="line">
                <a:avLst/>
              </a:prstGeom>
              <a:noFill/>
              <a:ln w="19050">
                <a:solidFill>
                  <a:schemeClr val="accent1"/>
                </a:solidFill>
                <a:tailEnd type="triangle" w="lg" len="lg"/>
              </a:ln>
            </p:spPr>
          </p:sp>
        </p:grpSp>
        <p:sp>
          <p:nvSpPr>
            <p:cNvPr id="16" name="Rectangle 16"/>
            <p:cNvSpPr/>
            <p:nvPr/>
          </p:nvSpPr>
          <p:spPr>
            <a:xfrm>
              <a:off x="4000500" y="2857500"/>
              <a:ext cx="1905000" cy="609600"/>
            </a:xfrm>
            <a:prstGeom prst="rect">
              <a:avLst/>
            </a:prstGeom>
            <a:solidFill>
              <a:schemeClr val="accent1"/>
            </a:solidFill>
            <a:ln>
              <a:noFill/>
            </a:ln>
          </p:spPr>
        </p:sp>
        <p:sp>
          <p:nvSpPr>
            <p:cNvPr id="17" name="TextBox 17"/>
            <p:cNvSpPr txBox="1"/>
            <p:nvPr/>
          </p:nvSpPr>
          <p:spPr>
            <a:xfrm>
              <a:off x="4329205" y="2940050"/>
              <a:ext cx="1247590" cy="473583"/>
            </a:xfrm>
            <a:prstGeom prst="rect">
              <a:avLst/>
            </a:prstGeom>
            <a:noFill/>
            <a:ln>
              <a:noFill/>
            </a:ln>
          </p:spPr>
          <p:txBody>
            <a:bodyPr wrap="none" lIns="0" tIns="0" rIns="0" bIns="0" anchor="t" anchorCtr="0">
              <a:spAutoFit/>
            </a:bodyPr>
            <a:lstStyle/>
            <a:p>
              <a:pPr algn="ctr">
                <a:lnSpc>
                  <a:spcPts val="1650"/>
                </a:lnSpc>
              </a:pPr>
              <a:r>
                <a:rPr lang="en-US" sz="1350" b="1" dirty="0">
                  <a:solidFill>
                    <a:srgbClr val="FBF8F2"/>
                  </a:solidFill>
                  <a:latin typeface="+mn-lt"/>
                  <a:ea typeface="+mn-ea"/>
                  <a:cs typeface="+mn-cs"/>
                </a:rPr>
                <a:t>Potential funding</a:t>
              </a:r>
              <a:br>
                <a:rPr lang="en-US" sz="1350" b="1" dirty="0">
                  <a:solidFill>
                    <a:srgbClr val="FBF8F2"/>
                  </a:solidFill>
                  <a:latin typeface="+mn-lt"/>
                  <a:ea typeface="+mn-ea"/>
                  <a:cs typeface="+mn-cs"/>
                </a:rPr>
              </a:br>
              <a:r>
                <a:rPr lang="en-US" sz="1350" b="1" dirty="0">
                  <a:solidFill>
                    <a:srgbClr val="FBF8F2"/>
                  </a:solidFill>
                  <a:latin typeface="+mn-lt"/>
                  <a:ea typeface="+mn-ea"/>
                  <a:cs typeface="+mn-cs"/>
                </a:rPr>
                <a:t>strain</a:t>
              </a:r>
            </a:p>
          </p:txBody>
        </p:sp>
        <p:sp>
          <p:nvSpPr>
            <p:cNvPr id="18" name="TextBox 18"/>
            <p:cNvSpPr txBox="1"/>
            <p:nvPr/>
          </p:nvSpPr>
          <p:spPr>
            <a:xfrm>
              <a:off x="601218" y="4286250"/>
              <a:ext cx="4087938"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OPERF: the team believed it could meet calls.</a:t>
              </a:r>
            </a:p>
          </p:txBody>
        </p:sp>
        <p:sp>
          <p:nvSpPr>
            <p:cNvPr id="19" name="Line 19"/>
            <p:cNvSpPr/>
            <p:nvPr/>
          </p:nvSpPr>
          <p:spPr>
            <a:xfrm>
              <a:off x="6096000" y="2171700"/>
              <a:ext cx="9525" cy="2857500"/>
            </a:xfrm>
            <a:custGeom>
              <a:avLst/>
              <a:gdLst/>
              <a:ahLst/>
              <a:cxnLst/>
              <a:rect l="l" t="t" r="r" b="b"/>
              <a:pathLst>
                <a:path w="9525" h="2857500">
                  <a:moveTo>
                    <a:pt x="0" y="0"/>
                  </a:moveTo>
                  <a:lnTo>
                    <a:pt x="0" y="2857500"/>
                  </a:lnTo>
                </a:path>
              </a:pathLst>
            </a:custGeom>
            <a:noFill/>
            <a:ln w="9525">
              <a:solidFill>
                <a:schemeClr val="accent6"/>
              </a:solidFill>
            </a:ln>
          </p:spPr>
        </p:sp>
      </p:grpSp>
      <p:grpSp>
        <p:nvGrpSpPr>
          <p:cNvPr id="30" name="allocation"/>
          <p:cNvGrpSpPr/>
          <p:nvPr/>
        </p:nvGrpSpPr>
        <p:grpSpPr>
          <a:xfrm>
            <a:off x="6468618" y="2247900"/>
            <a:ext cx="5113782" cy="2613533"/>
            <a:chOff x="6468618" y="2247900"/>
            <a:chExt cx="5113782" cy="2613533"/>
          </a:xfrm>
        </p:grpSpPr>
        <p:sp>
          <p:nvSpPr>
            <p:cNvPr id="21" name="TextBox 21"/>
            <p:cNvSpPr txBox="1"/>
            <p:nvPr/>
          </p:nvSpPr>
          <p:spPr>
            <a:xfrm>
              <a:off x="6468618" y="2247900"/>
              <a:ext cx="95797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Allocation</a:t>
              </a:r>
            </a:p>
          </p:txBody>
        </p:sp>
        <p:sp>
          <p:nvSpPr>
            <p:cNvPr id="22" name="Line 22"/>
            <p:cNvSpPr/>
            <p:nvPr/>
          </p:nvSpPr>
          <p:spPr>
            <a:xfrm>
              <a:off x="6477000" y="2533650"/>
              <a:ext cx="457200" cy="9525"/>
            </a:xfrm>
            <a:custGeom>
              <a:avLst/>
              <a:gdLst/>
              <a:ahLst/>
              <a:cxnLst/>
              <a:rect l="l" t="t" r="r" b="b"/>
              <a:pathLst>
                <a:path w="457200" h="9525">
                  <a:moveTo>
                    <a:pt x="0" y="0"/>
                  </a:moveTo>
                  <a:lnTo>
                    <a:pt x="457200" y="0"/>
                  </a:lnTo>
                </a:path>
              </a:pathLst>
            </a:custGeom>
            <a:noFill/>
            <a:ln w="19050">
              <a:solidFill>
                <a:schemeClr val="accent3"/>
              </a:solidFill>
            </a:ln>
          </p:spPr>
        </p:sp>
        <p:sp>
          <p:nvSpPr>
            <p:cNvPr id="23" name="TextBox 23"/>
            <p:cNvSpPr txBox="1"/>
            <p:nvPr/>
          </p:nvSpPr>
          <p:spPr>
            <a:xfrm>
              <a:off x="6468618" y="2705100"/>
              <a:ext cx="404355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PE weight = PE value ÷ Total portfolio value</a:t>
              </a:r>
            </a:p>
          </p:txBody>
        </p:sp>
        <p:sp>
          <p:nvSpPr>
            <p:cNvPr id="24" name="Rectangle 24"/>
            <p:cNvSpPr/>
            <p:nvPr/>
          </p:nvSpPr>
          <p:spPr>
            <a:xfrm>
              <a:off x="6477000" y="3143250"/>
              <a:ext cx="5105400" cy="457200"/>
            </a:xfrm>
            <a:prstGeom prst="rect">
              <a:avLst/>
            </a:prstGeom>
            <a:solidFill>
              <a:schemeClr val="lt2"/>
            </a:solidFill>
            <a:ln>
              <a:noFill/>
            </a:ln>
          </p:spPr>
        </p:sp>
        <p:sp>
          <p:nvSpPr>
            <p:cNvPr id="25" name="TextBox 25"/>
            <p:cNvSpPr txBox="1"/>
            <p:nvPr/>
          </p:nvSpPr>
          <p:spPr>
            <a:xfrm>
              <a:off x="7631583" y="3263900"/>
              <a:ext cx="2796233"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Public assets fall faster than PE marks</a:t>
              </a:r>
            </a:p>
          </p:txBody>
        </p:sp>
        <p:sp>
          <p:nvSpPr>
            <p:cNvPr id="26" name="Line 26"/>
            <p:cNvSpPr/>
            <p:nvPr/>
          </p:nvSpPr>
          <p:spPr>
            <a:xfrm>
              <a:off x="9029700" y="3600450"/>
              <a:ext cx="1" cy="266700"/>
            </a:xfrm>
            <a:prstGeom prst="line">
              <a:avLst/>
            </a:prstGeom>
            <a:noFill/>
            <a:ln w="19050">
              <a:solidFill>
                <a:schemeClr val="accent1"/>
              </a:solidFill>
              <a:tailEnd type="triangle" w="lg" len="lg"/>
            </a:ln>
          </p:spPr>
        </p:sp>
        <p:sp>
          <p:nvSpPr>
            <p:cNvPr id="27" name="Rectangle 27"/>
            <p:cNvSpPr/>
            <p:nvPr/>
          </p:nvSpPr>
          <p:spPr>
            <a:xfrm>
              <a:off x="6477000" y="3905250"/>
              <a:ext cx="5105400" cy="457200"/>
            </a:xfrm>
            <a:prstGeom prst="rect">
              <a:avLst/>
            </a:prstGeom>
            <a:solidFill>
              <a:schemeClr val="accent1"/>
            </a:solidFill>
            <a:ln>
              <a:noFill/>
            </a:ln>
          </p:spPr>
        </p:sp>
        <p:sp>
          <p:nvSpPr>
            <p:cNvPr id="28" name="TextBox 28"/>
            <p:cNvSpPr txBox="1"/>
            <p:nvPr/>
          </p:nvSpPr>
          <p:spPr>
            <a:xfrm>
              <a:off x="8305606" y="4025900"/>
              <a:ext cx="1448189"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PE weight may rise</a:t>
              </a:r>
            </a:p>
          </p:txBody>
        </p:sp>
        <p:sp>
          <p:nvSpPr>
            <p:cNvPr id="29" name="TextBox 29"/>
            <p:cNvSpPr txBox="1"/>
            <p:nvPr/>
          </p:nvSpPr>
          <p:spPr>
            <a:xfrm>
              <a:off x="6470142" y="4597400"/>
              <a:ext cx="409177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 qualitative mechanism: no fixed PE value is assumed.</a:t>
              </a:r>
            </a:p>
          </p:txBody>
        </p:sp>
      </p:grpSp>
      <p:grpSp>
        <p:nvGrpSpPr>
          <p:cNvPr id="32" name="closing-line"/>
          <p:cNvGrpSpPr/>
          <p:nvPr/>
        </p:nvGrpSpPr>
        <p:grpSpPr>
          <a:xfrm>
            <a:off x="2607812" y="5257800"/>
            <a:ext cx="6976377" cy="381381"/>
            <a:chOff x="2607812" y="5257800"/>
            <a:chExt cx="6976377" cy="381381"/>
          </a:xfrm>
        </p:grpSpPr>
        <p:sp>
          <p:nvSpPr>
            <p:cNvPr id="31" name="TextBox 31"/>
            <p:cNvSpPr txBox="1"/>
            <p:nvPr/>
          </p:nvSpPr>
          <p:spPr>
            <a:xfrm>
              <a:off x="2607812" y="5257800"/>
              <a:ext cx="6976377" cy="381381"/>
            </a:xfrm>
            <a:prstGeom prst="rect">
              <a:avLst/>
            </a:prstGeom>
            <a:noFill/>
            <a:ln>
              <a:noFill/>
            </a:ln>
          </p:spPr>
          <p:txBody>
            <a:bodyPr wrap="none" lIns="0" tIns="0" rIns="0" bIns="0" anchor="t" anchorCtr="0">
              <a:spAutoFit/>
            </a:bodyPr>
            <a:lstStyle/>
            <a:p>
              <a:pPr algn="ctr"/>
              <a:r>
                <a:rPr lang="en-US" sz="1950" dirty="0">
                  <a:solidFill>
                    <a:schemeClr val="accent1"/>
                  </a:solidFill>
                  <a:latin typeface="+mn-lt"/>
                  <a:ea typeface="+mn-ea"/>
                  <a:cs typeface="+mn-cs"/>
                </a:rPr>
                <a:t>Payment capacity and portfolio allocation are separate decisions.</a:t>
              </a:r>
            </a:p>
          </p:txBody>
        </p:sp>
      </p:grpSp>
      <p:grpSp>
        <p:nvGrpSpPr>
          <p:cNvPr id="35" name="footer"/>
          <p:cNvGrpSpPr/>
          <p:nvPr/>
        </p:nvGrpSpPr>
        <p:grpSpPr>
          <a:xfrm>
            <a:off x="604266" y="6350000"/>
            <a:ext cx="10983468" cy="367284"/>
            <a:chOff x="604266" y="6350000"/>
            <a:chExt cx="10983468" cy="367284"/>
          </a:xfrm>
        </p:grpSpPr>
        <p:sp>
          <p:nvSpPr>
            <p:cNvPr id="33" name="TextBox 33"/>
            <p:cNvSpPr txBox="1"/>
            <p:nvPr/>
          </p:nvSpPr>
          <p:spPr>
            <a:xfrm>
              <a:off x="604266" y="6350000"/>
              <a:ext cx="813096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5. The team's judgment is not a guarantee of later payment; the denominator effect does not mean PE values were unchanged or that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OPERF was over-allocated by a confirmed amount.</a:t>
              </a:r>
            </a:p>
          </p:txBody>
        </p:sp>
        <p:sp>
          <p:nvSpPr>
            <p:cNvPr id="34" name="TextBox 3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32334" cy="244475"/>
            <a:chOff x="603504" y="546100"/>
            <a:chExt cx="1732334" cy="244475"/>
          </a:xfrm>
        </p:grpSpPr>
        <p:sp>
          <p:nvSpPr>
            <p:cNvPr id="2" name="TextBox 2"/>
            <p:cNvSpPr txBox="1"/>
            <p:nvPr/>
          </p:nvSpPr>
          <p:spPr>
            <a:xfrm>
              <a:off x="603504" y="546100"/>
              <a:ext cx="173233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TPG'S MOTIVATION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7857706" cy="1043940"/>
            <a:chOff x="594360" y="812800"/>
            <a:chExt cx="7857706" cy="1043940"/>
          </a:xfrm>
        </p:grpSpPr>
        <p:sp>
          <p:nvSpPr>
            <p:cNvPr id="5" name="TextBox 5"/>
            <p:cNvSpPr txBox="1"/>
            <p:nvPr/>
          </p:nvSpPr>
          <p:spPr>
            <a:xfrm>
              <a:off x="594360" y="812800"/>
              <a:ext cx="785770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LP support matters for both the current fund</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future fundraising</a:t>
              </a:r>
            </a:p>
          </p:txBody>
        </p:sp>
      </p:grpSp>
      <p:grpSp>
        <p:nvGrpSpPr>
          <p:cNvPr id="21" name="lp-support"/>
          <p:cNvGrpSpPr/>
          <p:nvPr/>
        </p:nvGrpSpPr>
        <p:grpSpPr>
          <a:xfrm>
            <a:off x="609600" y="2590800"/>
            <a:ext cx="9679177" cy="3028696"/>
            <a:chOff x="609600" y="2590800"/>
            <a:chExt cx="9679177" cy="3028696"/>
          </a:xfrm>
        </p:grpSpPr>
        <p:sp>
          <p:nvSpPr>
            <p:cNvPr id="7" name="Rectangle 7"/>
            <p:cNvSpPr/>
            <p:nvPr/>
          </p:nvSpPr>
          <p:spPr>
            <a:xfrm>
              <a:off x="609600" y="3657600"/>
              <a:ext cx="2286000" cy="533400"/>
            </a:xfrm>
            <a:prstGeom prst="rect">
              <a:avLst/>
            </a:prstGeom>
            <a:solidFill>
              <a:schemeClr val="accent1"/>
            </a:solidFill>
            <a:ln>
              <a:noFill/>
            </a:ln>
          </p:spPr>
        </p:sp>
        <p:sp>
          <p:nvSpPr>
            <p:cNvPr id="8" name="TextBox 8"/>
            <p:cNvSpPr txBox="1"/>
            <p:nvPr/>
          </p:nvSpPr>
          <p:spPr>
            <a:xfrm>
              <a:off x="1246061" y="3800475"/>
              <a:ext cx="1013079"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LP support</a:t>
              </a:r>
            </a:p>
          </p:txBody>
        </p:sp>
        <p:grpSp>
          <p:nvGrpSpPr>
            <p:cNvPr id="13" name="Group 13"/>
            <p:cNvGrpSpPr/>
            <p:nvPr/>
          </p:nvGrpSpPr>
          <p:grpSpPr>
            <a:xfrm>
              <a:off x="2895600" y="2857500"/>
              <a:ext cx="4438650" cy="2133601"/>
              <a:chOff x="2895600" y="2857500"/>
              <a:chExt cx="4438650" cy="2133601"/>
            </a:xfrm>
          </p:grpSpPr>
          <p:sp>
            <p:nvSpPr>
              <p:cNvPr id="9" name="Line 9"/>
              <p:cNvSpPr/>
              <p:nvPr/>
            </p:nvSpPr>
            <p:spPr>
              <a:xfrm flipV="1">
                <a:off x="2895600" y="2876550"/>
                <a:ext cx="1447800" cy="933450"/>
              </a:xfrm>
              <a:prstGeom prst="line">
                <a:avLst/>
              </a:prstGeom>
              <a:noFill/>
              <a:ln w="19050">
                <a:solidFill>
                  <a:schemeClr val="accent1"/>
                </a:solidFill>
                <a:tailEnd type="triangle" w="lg" len="lg"/>
              </a:ln>
            </p:spPr>
          </p:sp>
          <p:sp>
            <p:nvSpPr>
              <p:cNvPr id="10" name="Line 10"/>
              <p:cNvSpPr/>
              <p:nvPr/>
            </p:nvSpPr>
            <p:spPr>
              <a:xfrm>
                <a:off x="2895600" y="4038600"/>
                <a:ext cx="1447800" cy="933450"/>
              </a:xfrm>
              <a:prstGeom prst="line">
                <a:avLst/>
              </a:prstGeom>
              <a:noFill/>
              <a:ln w="19050">
                <a:solidFill>
                  <a:schemeClr val="accent1"/>
                </a:solidFill>
                <a:tailEnd type="triangle" w="lg" len="lg"/>
              </a:ln>
            </p:spPr>
          </p:sp>
          <p:sp>
            <p:nvSpPr>
              <p:cNvPr id="11" name="Line 11"/>
              <p:cNvSpPr/>
              <p:nvPr/>
            </p:nvSpPr>
            <p:spPr>
              <a:xfrm>
                <a:off x="6667500" y="2857500"/>
                <a:ext cx="666750" cy="1"/>
              </a:xfrm>
              <a:prstGeom prst="line">
                <a:avLst/>
              </a:prstGeom>
              <a:noFill/>
              <a:ln w="19050">
                <a:solidFill>
                  <a:schemeClr val="accent1"/>
                </a:solidFill>
                <a:tailEnd type="triangle" w="lg" len="lg"/>
              </a:ln>
            </p:spPr>
          </p:sp>
          <p:sp>
            <p:nvSpPr>
              <p:cNvPr id="12" name="Line 12"/>
              <p:cNvSpPr/>
              <p:nvPr/>
            </p:nvSpPr>
            <p:spPr>
              <a:xfrm>
                <a:off x="6667500" y="4991100"/>
                <a:ext cx="666750" cy="1"/>
              </a:xfrm>
              <a:prstGeom prst="line">
                <a:avLst/>
              </a:prstGeom>
              <a:noFill/>
              <a:ln w="19050">
                <a:solidFill>
                  <a:schemeClr val="accent1"/>
                </a:solidFill>
                <a:tailEnd type="triangle" w="lg" len="lg"/>
              </a:ln>
            </p:spPr>
          </p:sp>
        </p:grpSp>
        <p:sp>
          <p:nvSpPr>
            <p:cNvPr id="14" name="Rectangle 14"/>
            <p:cNvSpPr/>
            <p:nvPr/>
          </p:nvSpPr>
          <p:spPr>
            <a:xfrm>
              <a:off x="4381500" y="2590800"/>
              <a:ext cx="2286000" cy="533400"/>
            </a:xfrm>
            <a:prstGeom prst="rect">
              <a:avLst/>
            </a:prstGeom>
            <a:noFill/>
            <a:ln w="14288">
              <a:solidFill>
                <a:schemeClr val="accent1"/>
              </a:solidFill>
            </a:ln>
          </p:spPr>
        </p:sp>
        <p:sp>
          <p:nvSpPr>
            <p:cNvPr id="15" name="TextBox 15"/>
            <p:cNvSpPr txBox="1"/>
            <p:nvPr/>
          </p:nvSpPr>
          <p:spPr>
            <a:xfrm>
              <a:off x="4922688" y="2733675"/>
              <a:ext cx="120362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Current fund</a:t>
              </a:r>
            </a:p>
          </p:txBody>
        </p:sp>
        <p:sp>
          <p:nvSpPr>
            <p:cNvPr id="16" name="TextBox 16"/>
            <p:cNvSpPr txBox="1"/>
            <p:nvPr/>
          </p:nvSpPr>
          <p:spPr>
            <a:xfrm>
              <a:off x="7516368" y="2603500"/>
              <a:ext cx="243495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Reliable capital calls support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investment execution</a:t>
              </a:r>
            </a:p>
          </p:txBody>
        </p:sp>
        <p:sp>
          <p:nvSpPr>
            <p:cNvPr id="17" name="Rectangle 17"/>
            <p:cNvSpPr/>
            <p:nvPr/>
          </p:nvSpPr>
          <p:spPr>
            <a:xfrm>
              <a:off x="4381500" y="4724400"/>
              <a:ext cx="2286000" cy="533400"/>
            </a:xfrm>
            <a:prstGeom prst="rect">
              <a:avLst/>
            </a:prstGeom>
            <a:noFill/>
            <a:ln w="14288">
              <a:solidFill>
                <a:schemeClr val="accent1"/>
              </a:solidFill>
              <a:prstDash val="dash"/>
            </a:ln>
          </p:spPr>
        </p:sp>
        <p:sp>
          <p:nvSpPr>
            <p:cNvPr id="18" name="TextBox 18"/>
            <p:cNvSpPr txBox="1"/>
            <p:nvPr/>
          </p:nvSpPr>
          <p:spPr>
            <a:xfrm>
              <a:off x="4925691" y="4867275"/>
              <a:ext cx="119761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Future funds</a:t>
              </a:r>
            </a:p>
          </p:txBody>
        </p:sp>
        <p:sp>
          <p:nvSpPr>
            <p:cNvPr id="19" name="TextBox 19"/>
            <p:cNvSpPr txBox="1"/>
            <p:nvPr/>
          </p:nvSpPr>
          <p:spPr>
            <a:xfrm>
              <a:off x="4828570" y="5384800"/>
              <a:ext cx="1391859"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Possible future effect</a:t>
              </a:r>
            </a:p>
          </p:txBody>
        </p:sp>
        <p:sp>
          <p:nvSpPr>
            <p:cNvPr id="20" name="TextBox 20"/>
            <p:cNvSpPr txBox="1"/>
            <p:nvPr/>
          </p:nvSpPr>
          <p:spPr>
            <a:xfrm>
              <a:off x="7516368" y="4737100"/>
              <a:ext cx="2772409"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LP willingness to reinvest affects</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access to new capital</a:t>
              </a:r>
            </a:p>
          </p:txBody>
        </p:sp>
      </p:grpSp>
      <p:grpSp>
        <p:nvGrpSpPr>
          <p:cNvPr id="24" name="footer"/>
          <p:cNvGrpSpPr/>
          <p:nvPr/>
        </p:nvGrpSpPr>
        <p:grpSpPr>
          <a:xfrm>
            <a:off x="604266" y="6350000"/>
            <a:ext cx="10983468" cy="367284"/>
            <a:chOff x="604266" y="6350000"/>
            <a:chExt cx="10983468" cy="367284"/>
          </a:xfrm>
        </p:grpSpPr>
        <p:sp>
          <p:nvSpPr>
            <p:cNvPr id="22" name="TextBox 22"/>
            <p:cNvSpPr txBox="1"/>
            <p:nvPr/>
          </p:nvSpPr>
          <p:spPr>
            <a:xfrm>
              <a:off x="604266" y="6350000"/>
              <a:ext cx="770515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1 (Schmitz's view of the fundraising environment). Protecting future capital is a possible motive, not a confirmed management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intention or fundraising result.</a:t>
              </a:r>
            </a:p>
          </p:txBody>
        </p:sp>
        <p:sp>
          <p:nvSpPr>
            <p:cNvPr id="23" name="TextBox 2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480187" cy="244475"/>
            <a:chOff x="603504" y="546100"/>
            <a:chExt cx="2480187" cy="244475"/>
          </a:xfrm>
        </p:grpSpPr>
        <p:sp>
          <p:nvSpPr>
            <p:cNvPr id="2" name="TextBox 2"/>
            <p:cNvSpPr txBox="1"/>
            <p:nvPr/>
          </p:nvSpPr>
          <p:spPr>
            <a:xfrm>
              <a:off x="603504" y="546100"/>
              <a:ext cx="248018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PROPOSED RESTRUCTURING</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629123" cy="1043940"/>
            <a:chOff x="594360" y="812800"/>
            <a:chExt cx="5629123" cy="1043940"/>
          </a:xfrm>
        </p:grpSpPr>
        <p:sp>
          <p:nvSpPr>
            <p:cNvPr id="5" name="TextBox 5"/>
            <p:cNvSpPr txBox="1"/>
            <p:nvPr/>
          </p:nvSpPr>
          <p:spPr>
            <a:xfrm>
              <a:off x="594360" y="812800"/>
              <a:ext cx="562912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Limited concessions can protect</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fund's ability to operate</a:t>
              </a:r>
            </a:p>
          </p:txBody>
        </p:sp>
      </p:grpSp>
      <p:graphicFrame>
        <p:nvGraphicFramePr>
          <p:cNvPr id="7" name="concession-matrix"/>
          <p:cNvGraphicFramePr>
            <a:graphicFrameLocks noGrp="1"/>
          </p:cNvGraphicFramePr>
          <p:nvPr/>
        </p:nvGraphicFramePr>
        <p:xfrm>
          <a:off x="609600" y="2247900"/>
          <a:ext cx="10972800" cy="2857500"/>
        </p:xfrm>
        <a:graphic>
          <a:graphicData uri="http://schemas.openxmlformats.org/drawingml/2006/table">
            <a:tbl>
              <a:tblPr firstRow="1" bandRow="0">
                <a:tableStyleId>{5C22544A-7EE6-4342-B048-85BDC9FD1C3A}</a:tableStyleId>
              </a:tblPr>
              <a:tblGrid>
                <a:gridCol w="2743200"/>
                <a:gridCol w="4391025"/>
                <a:gridCol w="3838575"/>
              </a:tblGrid>
              <a:tr h="457200">
                <a:tc>
                  <a:txBody>
                    <a:bodyPr/>
                    <a:lstStyle/>
                    <a:p>
                      <a:pPr/>
                      <a:r>
                        <a:rPr lang="en-US" sz="1500" b="1">
                          <a:solidFill>
                            <a:srgbClr val="FBF8F2"/>
                          </a:solidFill>
                          <a:latin typeface="Calibri"/>
                          <a:ea typeface="Microsoft YaHei"/>
                          <a:cs typeface="Calibri"/>
                        </a:rPr>
                        <a:t>Concession</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Potential benefit</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Cost or limit</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r>
              <a:tr h="800100">
                <a:tc>
                  <a:txBody>
                    <a:bodyPr/>
                    <a:lstStyle/>
                    <a:p>
                      <a:pPr/>
                      <a:r>
                        <a:rPr lang="en-US" sz="1500" b="1">
                          <a:solidFill>
                            <a:schemeClr val="accent1"/>
                          </a:solidFill>
                          <a:latin typeface="Calibri"/>
                          <a:ea typeface="Microsoft YaHei"/>
                          <a:cs typeface="Calibri"/>
                        </a:rPr>
                        <a:t>Commitment option</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Ease funding strain and reduce non-performance risk</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rgbClr val="A33D3D"/>
                          </a:solidFill>
                          <a:latin typeface="Calibri"/>
                          <a:ea typeface="Microsoft YaHei"/>
                          <a:cs typeface="Calibri"/>
                        </a:rPr>
                        <a:t>Less deployable capital if exercised</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800100">
                <a:tc>
                  <a:txBody>
                    <a:bodyPr/>
                    <a:lstStyle/>
                    <a:p>
                      <a:pPr/>
                      <a:r>
                        <a:rPr lang="en-US" sz="1500" b="1">
                          <a:solidFill>
                            <a:schemeClr val="accent1"/>
                          </a:solidFill>
                          <a:latin typeface="Calibri"/>
                          <a:ea typeface="Microsoft YaHei"/>
                          <a:cs typeface="Calibri"/>
                        </a:rPr>
                        <a:t>Fee cut</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Share the burden and support LP confidence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rgbClr val="A33D3D"/>
                          </a:solidFill>
                          <a:latin typeface="Calibri"/>
                          <a:ea typeface="Microsoft YaHei"/>
                          <a:cs typeface="Calibri"/>
                        </a:rPr>
                        <a:t>Lower fee revenue</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800100">
                <a:tc>
                  <a:txBody>
                    <a:bodyPr/>
                    <a:lstStyle/>
                    <a:p>
                      <a:pPr/>
                      <a:r>
                        <a:rPr lang="en-US" sz="1500" b="1">
                          <a:solidFill>
                            <a:schemeClr val="accent1"/>
                          </a:solidFill>
                          <a:latin typeface="Calibri"/>
                          <a:ea typeface="Microsoft YaHei"/>
                          <a:cs typeface="Calibri"/>
                        </a:rPr>
                        <a:t>Call approval threshold</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Improve cash-planning predictability</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rgbClr val="A33D3D"/>
                          </a:solidFill>
                          <a:latin typeface="Calibri"/>
                          <a:ea typeface="Microsoft YaHei"/>
                          <a:cs typeface="Calibri"/>
                        </a:rPr>
                        <a:t>Additional approval above the threshold</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9" name="conclusion"/>
          <p:cNvGrpSpPr/>
          <p:nvPr/>
        </p:nvGrpSpPr>
        <p:grpSpPr>
          <a:xfrm>
            <a:off x="599694" y="5448300"/>
            <a:ext cx="8530056" cy="381381"/>
            <a:chOff x="599694" y="5448300"/>
            <a:chExt cx="8530056" cy="381381"/>
          </a:xfrm>
        </p:grpSpPr>
        <p:sp>
          <p:nvSpPr>
            <p:cNvPr id="8" name="TextBox 8"/>
            <p:cNvSpPr txBox="1"/>
            <p:nvPr/>
          </p:nvSpPr>
          <p:spPr>
            <a:xfrm>
              <a:off x="599694" y="5448300"/>
              <a:ext cx="8530056"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TPG could accept limited economic concessions to preserve reliable LP support.</a:t>
              </a:r>
            </a:p>
          </p:txBody>
        </p:sp>
      </p:grpSp>
      <p:grpSp>
        <p:nvGrpSpPr>
          <p:cNvPr id="12" name="footer"/>
          <p:cNvGrpSpPr/>
          <p:nvPr/>
        </p:nvGrpSpPr>
        <p:grpSpPr>
          <a:xfrm>
            <a:off x="604266" y="6350000"/>
            <a:ext cx="10983468" cy="367284"/>
            <a:chOff x="604266" y="6350000"/>
            <a:chExt cx="10983468" cy="367284"/>
          </a:xfrm>
        </p:grpSpPr>
        <p:sp>
          <p:nvSpPr>
            <p:cNvPr id="10" name="TextBox 10"/>
            <p:cNvSpPr txBox="1"/>
            <p:nvPr/>
          </p:nvSpPr>
          <p:spPr>
            <a:xfrm>
              <a:off x="604266" y="6350000"/>
              <a:ext cx="7966142"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letter terms (p. 1), read with the evidence on slides 9–12. A possible explanation: it does not prove defaults were avoided, confidence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restored or fundraising improved, nor that every LP will take the reduction.</a:t>
              </a:r>
            </a:p>
          </p:txBody>
        </p:sp>
        <p:sp>
          <p:nvSpPr>
            <p:cNvPr id="11" name="TextBox 1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321413" cy="234696"/>
            <a:chOff x="908304" y="1574800"/>
            <a:chExt cx="2321413" cy="234696"/>
          </a:xfrm>
        </p:grpSpPr>
        <p:sp>
          <p:nvSpPr>
            <p:cNvPr id="2" name="TextBox 2"/>
            <p:cNvSpPr txBox="1"/>
            <p:nvPr/>
          </p:nvSpPr>
          <p:spPr>
            <a:xfrm>
              <a:off x="908304" y="1574800"/>
              <a:ext cx="2321413"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INCENTIVE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7131177"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Do management fees and carry align</a:t>
              </a:r>
              <a:br>
                <a:rPr lang="en-US" sz="3600" dirty="0">
                  <a:solidFill>
                    <a:srgbClr val="FBF8F2"/>
                  </a:solidFill>
                  <a:latin typeface="+mj-lt"/>
                  <a:ea typeface="+mj-ea"/>
                  <a:cs typeface="+mj-cs"/>
                </a:rPr>
              </a:br>
              <a:r>
                <a:rPr lang="en-US" sz="3600" dirty="0">
                  <a:solidFill>
                    <a:srgbClr val="FBF8F2"/>
                  </a:solidFill>
                  <a:latin typeface="+mj-lt"/>
                  <a:ea typeface="+mj-ea"/>
                  <a:cs typeface="+mj-cs"/>
                </a:rPr>
                <a:t>GP and LP interests?</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4114089" cy="264033"/>
            <a:chOff x="907542" y="5930900"/>
            <a:chExt cx="4114089" cy="264033"/>
          </a:xfrm>
        </p:grpSpPr>
        <p:sp>
          <p:nvSpPr>
            <p:cNvPr id="7" name="TextBox 7"/>
            <p:cNvSpPr txBox="1"/>
            <p:nvPr/>
          </p:nvSpPr>
          <p:spPr>
            <a:xfrm>
              <a:off x="907542" y="5930900"/>
              <a:ext cx="4114089"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3 · GP/LP compensation and misalignment · Q2 · Li</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520691" cy="244475"/>
            <a:chOff x="603504" y="546100"/>
            <a:chExt cx="2520691" cy="244475"/>
          </a:xfrm>
        </p:grpSpPr>
        <p:sp>
          <p:nvSpPr>
            <p:cNvPr id="2" name="TextBox 2"/>
            <p:cNvSpPr txBox="1"/>
            <p:nvPr/>
          </p:nvSpPr>
          <p:spPr>
            <a:xfrm>
              <a:off x="603504" y="546100"/>
              <a:ext cx="252069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COMPENSATION STRUCTURE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973089" cy="1043940"/>
            <a:chOff x="594360" y="812800"/>
            <a:chExt cx="5973089" cy="1043940"/>
          </a:xfrm>
        </p:grpSpPr>
        <p:sp>
          <p:nvSpPr>
            <p:cNvPr id="5" name="TextBox 5"/>
            <p:cNvSpPr txBox="1"/>
            <p:nvPr/>
          </p:nvSpPr>
          <p:spPr>
            <a:xfrm>
              <a:off x="594360" y="812800"/>
              <a:ext cx="597308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Management fees fund operations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carry rewards profits</a:t>
              </a:r>
            </a:p>
          </p:txBody>
        </p:sp>
      </p:grpSp>
      <p:graphicFrame>
        <p:nvGraphicFramePr>
          <p:cNvPr id="7" name="fee-vs-carry-table"/>
          <p:cNvGraphicFramePr>
            <a:graphicFrameLocks noGrp="1"/>
          </p:cNvGraphicFramePr>
          <p:nvPr/>
        </p:nvGraphicFramePr>
        <p:xfrm>
          <a:off x="609600" y="2247900"/>
          <a:ext cx="10972800" cy="2247900"/>
        </p:xfrm>
        <a:graphic>
          <a:graphicData uri="http://schemas.openxmlformats.org/drawingml/2006/table">
            <a:tbl>
              <a:tblPr firstRow="1" bandRow="0">
                <a:tableStyleId>{5C22544A-7EE6-4342-B048-85BDC9FD1C3A}</a:tableStyleId>
              </a:tblPr>
              <a:tblGrid>
                <a:gridCol w="2409825"/>
                <a:gridCol w="4276725"/>
                <a:gridCol w="4286250"/>
              </a:tblGrid>
              <a:tr h="419100">
                <a:tc>
                  <a:txBody>
                    <a:bodyPr/>
                    <a:lstStyle/>
                    <a:p>
                      <a:pPr/>
                      <a:r>
                        <a:rPr lang="en-US" sz="1500" b="1">
                          <a:solidFill>
                            <a:srgbClr val="FBF8F2"/>
                          </a:solidFill>
                          <a:latin typeface="Calibri"/>
                          <a:ea typeface="Microsoft YaHei"/>
                          <a:cs typeface="Calibri"/>
                        </a:rPr>
                        <a:t>Feature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Management fees</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Carried interest</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r>
              <a:tr h="609600">
                <a:tc>
                  <a:txBody>
                    <a:bodyPr/>
                    <a:lstStyle/>
                    <a:p>
                      <a:pPr/>
                      <a:r>
                        <a:rPr lang="en-US" sz="1500" b="1">
                          <a:solidFill>
                            <a:schemeClr val="accent1"/>
                          </a:solidFill>
                          <a:latin typeface="Calibri"/>
                          <a:ea typeface="Microsoft YaHei"/>
                          <a:cs typeface="Calibri"/>
                        </a:rPr>
                        <a:t>Purpose</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Support the team and operating costs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Reward distributable investment profits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609600">
                <a:tc>
                  <a:txBody>
                    <a:bodyPr/>
                    <a:lstStyle/>
                    <a:p>
                      <a:pPr/>
                      <a:r>
                        <a:rPr lang="en-US" sz="1500" b="1">
                          <a:solidFill>
                            <a:schemeClr val="accent1"/>
                          </a:solidFill>
                          <a:latin typeface="Calibri"/>
                          <a:ea typeface="Microsoft YaHei"/>
                          <a:cs typeface="Calibri"/>
                        </a:rPr>
                        <a:t>Basis</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The fee base agreed in the LPA</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Profits determined under the distribution waterfall</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r>
              <a:tr h="609600">
                <a:tc>
                  <a:txBody>
                    <a:bodyPr/>
                    <a:lstStyle/>
                    <a:p>
                      <a:pPr/>
                      <a:r>
                        <a:rPr lang="en-US" sz="1500" b="1">
                          <a:solidFill>
                            <a:schemeClr val="accent1"/>
                          </a:solidFill>
                          <a:latin typeface="Calibri"/>
                          <a:ea typeface="Microsoft YaHei"/>
                          <a:cs typeface="Calibri"/>
                        </a:rPr>
                        <a:t>Timing</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Charged periodically</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Paid when the agreed distribution conditions are met</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7" name="waterfall-steps"/>
          <p:cNvGrpSpPr/>
          <p:nvPr/>
        </p:nvGrpSpPr>
        <p:grpSpPr>
          <a:xfrm>
            <a:off x="602742" y="4673600"/>
            <a:ext cx="10903458" cy="1174496"/>
            <a:chOff x="602742" y="4673600"/>
            <a:chExt cx="10903458" cy="1174496"/>
          </a:xfrm>
        </p:grpSpPr>
        <p:sp>
          <p:nvSpPr>
            <p:cNvPr id="8" name="TextBox 8"/>
            <p:cNvSpPr txBox="1"/>
            <p:nvPr/>
          </p:nvSpPr>
          <p:spPr>
            <a:xfrm>
              <a:off x="602742" y="4673600"/>
              <a:ext cx="246389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Illustrative whole-fund waterfall</a:t>
              </a:r>
            </a:p>
          </p:txBody>
        </p:sp>
        <p:sp>
          <p:nvSpPr>
            <p:cNvPr id="9" name="Freeform 9"/>
            <p:cNvSpPr/>
            <p:nvPr/>
          </p:nvSpPr>
          <p:spPr>
            <a:xfrm>
              <a:off x="609600" y="4953000"/>
              <a:ext cx="3581400" cy="533400"/>
            </a:xfrm>
            <a:prstGeom prst="chevron">
              <a:avLst/>
            </a:prstGeom>
            <a:solidFill>
              <a:schemeClr val="lt2"/>
            </a:solidFill>
            <a:ln>
              <a:noFill/>
            </a:ln>
          </p:spPr>
        </p:sp>
        <p:sp>
          <p:nvSpPr>
            <p:cNvPr id="10" name="Freeform 10"/>
            <p:cNvSpPr/>
            <p:nvPr/>
          </p:nvSpPr>
          <p:spPr>
            <a:xfrm>
              <a:off x="4267200" y="4953000"/>
              <a:ext cx="3581400" cy="533400"/>
            </a:xfrm>
            <a:prstGeom prst="chevron">
              <a:avLst/>
            </a:prstGeom>
            <a:solidFill>
              <a:schemeClr val="lt2"/>
            </a:solidFill>
            <a:ln>
              <a:noFill/>
            </a:ln>
          </p:spPr>
        </p:sp>
        <p:sp>
          <p:nvSpPr>
            <p:cNvPr id="11" name="Freeform 11"/>
            <p:cNvSpPr/>
            <p:nvPr/>
          </p:nvSpPr>
          <p:spPr>
            <a:xfrm>
              <a:off x="7924800" y="4953000"/>
              <a:ext cx="3581400" cy="533400"/>
            </a:xfrm>
            <a:prstGeom prst="chevron">
              <a:avLst/>
            </a:prstGeom>
            <a:solidFill>
              <a:schemeClr val="lt2"/>
            </a:solidFill>
            <a:ln>
              <a:noFill/>
            </a:ln>
          </p:spPr>
        </p:sp>
        <p:grpSp>
          <p:nvGrpSpPr>
            <p:cNvPr id="15" name="Group 15"/>
            <p:cNvGrpSpPr/>
            <p:nvPr/>
          </p:nvGrpSpPr>
          <p:grpSpPr>
            <a:xfrm>
              <a:off x="1426133" y="5111750"/>
              <a:ext cx="9397098" cy="264033"/>
              <a:chOff x="1426133" y="5111750"/>
              <a:chExt cx="9397098" cy="264033"/>
            </a:xfrm>
          </p:grpSpPr>
          <p:sp>
            <p:nvSpPr>
              <p:cNvPr id="12" name="TextBox 12"/>
              <p:cNvSpPr txBox="1"/>
              <p:nvPr/>
            </p:nvSpPr>
            <p:spPr>
              <a:xfrm>
                <a:off x="1426133" y="5111750"/>
                <a:ext cx="2100734"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1</a:t>
                </a:r>
                <a:r>
                  <a:rPr lang="en-US" sz="1350" dirty="0">
                    <a:solidFill>
                      <a:schemeClr val="accent1"/>
                    </a:solidFill>
                    <a:latin typeface="+mn-lt"/>
                    <a:ea typeface="+mn-ea"/>
                    <a:cs typeface="+mn-cs"/>
                  </a:rPr>
                  <a:t xml:space="preserve"> Return contributed capital</a:t>
                </a:r>
              </a:p>
            </p:txBody>
          </p:sp>
          <p:sp>
            <p:nvSpPr>
              <p:cNvPr id="13" name="TextBox 13"/>
              <p:cNvSpPr txBox="1"/>
              <p:nvPr/>
            </p:nvSpPr>
            <p:spPr>
              <a:xfrm>
                <a:off x="4986104" y="5111750"/>
                <a:ext cx="229599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2</a:t>
                </a:r>
                <a:r>
                  <a:rPr lang="en-US" sz="1350" dirty="0">
                    <a:solidFill>
                      <a:schemeClr val="accent1"/>
                    </a:solidFill>
                    <a:latin typeface="+mn-lt"/>
                    <a:ea typeface="+mn-ea"/>
                    <a:cs typeface="+mn-cs"/>
                  </a:rPr>
                  <a:t xml:space="preserve"> Apply agreed waterfall terms</a:t>
                </a:r>
              </a:p>
            </p:txBody>
          </p:sp>
          <p:sp>
            <p:nvSpPr>
              <p:cNvPr id="14" name="TextBox 14"/>
              <p:cNvSpPr txBox="1"/>
              <p:nvPr/>
            </p:nvSpPr>
            <p:spPr>
              <a:xfrm>
                <a:off x="8760169" y="5111750"/>
                <a:ext cx="206306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3</a:t>
                </a:r>
                <a:r>
                  <a:rPr lang="en-US" sz="1350" dirty="0">
                    <a:solidFill>
                      <a:schemeClr val="accent1"/>
                    </a:solidFill>
                    <a:latin typeface="+mn-lt"/>
                    <a:ea typeface="+mn-ea"/>
                    <a:cs typeface="+mn-cs"/>
                  </a:rPr>
                  <a:t xml:space="preserve"> Allocate remaining profits</a:t>
                </a:r>
              </a:p>
            </p:txBody>
          </p:sp>
        </p:grpSp>
        <p:sp>
          <p:nvSpPr>
            <p:cNvPr id="16" name="TextBox 16"/>
            <p:cNvSpPr txBox="1"/>
            <p:nvPr/>
          </p:nvSpPr>
          <p:spPr>
            <a:xfrm>
              <a:off x="3809625" y="5613400"/>
              <a:ext cx="4648951"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Any preferred return, catch-up and other provisions depend on the LPA</a:t>
              </a:r>
            </a:p>
          </p:txBody>
        </p:sp>
      </p:grpSp>
      <p:grpSp>
        <p:nvGrpSpPr>
          <p:cNvPr id="20" name="footer"/>
          <p:cNvGrpSpPr/>
          <p:nvPr/>
        </p:nvGrpSpPr>
        <p:grpSpPr>
          <a:xfrm>
            <a:off x="604266" y="6350000"/>
            <a:ext cx="10983468" cy="367284"/>
            <a:chOff x="604266" y="6350000"/>
            <a:chExt cx="10983468" cy="367284"/>
          </a:xfrm>
        </p:grpSpPr>
        <p:sp>
          <p:nvSpPr>
            <p:cNvPr id="18" name="TextBox 18"/>
            <p:cNvSpPr txBox="1"/>
            <p:nvPr/>
          </p:nvSpPr>
          <p:spPr>
            <a:xfrm>
              <a:off x="604266" y="6350000"/>
              <a:ext cx="7977784"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Metrick &amp; Yasuda, The Economics of Private Equity Funds, working paper, 1 Jul 2007, pp. 8–12. The actual fee base and waterfall follow the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LPA; the illustration does not confirm TPG VI's specific terms.</a:t>
              </a:r>
            </a:p>
          </p:txBody>
        </p:sp>
        <p:sp>
          <p:nvSpPr>
            <p:cNvPr id="19" name="TextBox 19"/>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57317" cy="244475"/>
            <a:chOff x="603504" y="546100"/>
            <a:chExt cx="1657317" cy="244475"/>
          </a:xfrm>
        </p:grpSpPr>
        <p:sp>
          <p:nvSpPr>
            <p:cNvPr id="2" name="TextBox 2"/>
            <p:cNvSpPr txBox="1"/>
            <p:nvPr/>
          </p:nvSpPr>
          <p:spPr>
            <a:xfrm>
              <a:off x="603504" y="546100"/>
              <a:ext cx="165731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GP–LP INCENTIVES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924093" cy="1043940"/>
            <a:chOff x="594360" y="812800"/>
            <a:chExt cx="5924093" cy="1043940"/>
          </a:xfrm>
        </p:grpSpPr>
        <p:sp>
          <p:nvSpPr>
            <p:cNvPr id="5" name="TextBox 5"/>
            <p:cNvSpPr txBox="1"/>
            <p:nvPr/>
          </p:nvSpPr>
          <p:spPr>
            <a:xfrm>
              <a:off x="594360" y="812800"/>
              <a:ext cx="592409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 larger fee base can increase pay</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before profits are realised</a:t>
              </a:r>
            </a:p>
          </p:txBody>
        </p:sp>
      </p:grpSp>
      <p:grpSp>
        <p:nvGrpSpPr>
          <p:cNvPr id="9" name="annual-fee-scenarios"/>
          <p:cNvGrpSpPr/>
          <p:nvPr/>
        </p:nvGrpSpPr>
        <p:grpSpPr>
          <a:xfrm>
            <a:off x="609600" y="1905000"/>
            <a:ext cx="10972800" cy="3524250"/>
            <a:chOff x="609600" y="1905000"/>
            <a:chExt cx="10972800" cy="3524250"/>
          </a:xfrm>
        </p:grpSpPr>
        <p:graphicFrame>
          <p:nvGraphicFramePr>
            <p:cNvPr id="7" name="annual-fee-scenarios"/>
            <p:cNvGraphicFramePr>
              <a:graphicFrameLocks noGrp="1"/>
            </p:cNvGraphicFramePr>
            <p:nvPr/>
          </p:nvGraphicFramePr>
          <p:xfrm>
            <a:off x="609600" y="1905000"/>
            <a:ext cx="10972800" cy="3524250"/>
          </p:xfrm>
          <a:graphic>
            <a:graphicData uri="http://schemas.openxmlformats.org/drawingml/2006/chart">
              <c:chart xmlns:c="http://schemas.openxmlformats.org/drawingml/2006/chart" r:id="rId2"/>
            </a:graphicData>
          </a:graphic>
        </p:graphicFrame>
        <p:sp>
          <p:nvSpPr>
            <p:cNvPr id="8" name="Chart Note 8"/>
            <p:cNvSpPr txBox="1"/>
            <p:nvPr/>
          </p:nvSpPr>
          <p:spPr>
            <a:xfrm>
              <a:off x="838200" y="4220528"/>
              <a:ext cx="1905000" cy="213360"/>
            </a:xfrm>
            <a:prstGeom prst="rect">
              <a:avLst/>
            </a:prstGeom>
            <a:noFill/>
            <a:ln>
              <a:noFill/>
            </a:ln>
          </p:spPr>
          <p:txBody>
            <a:bodyPr wrap="square" lIns="0" tIns="0" rIns="0" bIns="0" anchor="b" anchorCtr="0"/>
            <a:lstStyle/>
            <a:p>
              <a:pPr algn="r"/>
              <a:r>
                <a:rPr lang="en-US" sz="1050">
                  <a:solidFill>
                    <a:srgbClr val="5C6670"/>
                  </a:solidFill>
                  <a:latin typeface="Calibri"/>
                  <a:ea typeface="Microsoft YaHei"/>
                  <a:cs typeface="Calibri"/>
                </a:rPr>
                <a:t>hypothetical 10% base cut</a:t>
              </a:r>
            </a:p>
          </p:txBody>
        </p:sp>
      </p:grpSp>
      <p:grpSp>
        <p:nvGrpSpPr>
          <p:cNvPr id="12" name="takeaway"/>
          <p:cNvGrpSpPr/>
          <p:nvPr/>
        </p:nvGrpSpPr>
        <p:grpSpPr>
          <a:xfrm>
            <a:off x="601218" y="5524500"/>
            <a:ext cx="5207040" cy="575183"/>
            <a:chOff x="601218" y="5524500"/>
            <a:chExt cx="5207040" cy="575183"/>
          </a:xfrm>
        </p:grpSpPr>
        <p:sp>
          <p:nvSpPr>
            <p:cNvPr id="10" name="TextBox 10"/>
            <p:cNvSpPr txBox="1"/>
            <p:nvPr/>
          </p:nvSpPr>
          <p:spPr>
            <a:xfrm>
              <a:off x="601218" y="5524500"/>
              <a:ext cx="397238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Fee revenue remains linked to the fee base.</a:t>
              </a:r>
            </a:p>
          </p:txBody>
        </p:sp>
        <p:sp>
          <p:nvSpPr>
            <p:cNvPr id="11" name="TextBox 11"/>
            <p:cNvSpPr txBox="1"/>
            <p:nvPr/>
          </p:nvSpPr>
          <p:spPr>
            <a:xfrm>
              <a:off x="602742" y="5835650"/>
              <a:ext cx="52055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Uniform annual fee base; before offsets and costs; not actual receipts.</a:t>
              </a:r>
            </a:p>
          </p:txBody>
        </p:sp>
      </p:grpSp>
      <p:grpSp>
        <p:nvGrpSpPr>
          <p:cNvPr id="15" name="footer"/>
          <p:cNvGrpSpPr/>
          <p:nvPr/>
        </p:nvGrpSpPr>
        <p:grpSpPr>
          <a:xfrm>
            <a:off x="604266" y="6350000"/>
            <a:ext cx="10983468" cy="367284"/>
            <a:chOff x="604266" y="6350000"/>
            <a:chExt cx="10983468" cy="367284"/>
          </a:xfrm>
        </p:grpSpPr>
        <p:sp>
          <p:nvSpPr>
            <p:cNvPr id="13" name="TextBox 13"/>
            <p:cNvSpPr txBox="1"/>
            <p:nvPr/>
          </p:nvSpPr>
          <p:spPr>
            <a:xfrm>
              <a:off x="604266" y="6350000"/>
              <a:ext cx="8411825"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1 (fund size and offered fee rate); Metrick &amp; Yasuda (2007). $19.8bn × 1.50% = $297.00m; × 1.35% = $267.30m; × 90% × 1.35% = $240.57m.</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The third bar is a hypothesis, not a statement that all LPs reduced; the model does not say whether GP capital is charged the same way.</a:t>
              </a:r>
            </a:p>
          </p:txBody>
        </p:sp>
        <p:sp>
          <p:nvSpPr>
            <p:cNvPr id="14" name="TextBox 1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404094" cy="244475"/>
            <a:chOff x="603504" y="546100"/>
            <a:chExt cx="2404094" cy="244475"/>
          </a:xfrm>
        </p:grpSpPr>
        <p:sp>
          <p:nvSpPr>
            <p:cNvPr id="2" name="TextBox 2"/>
            <p:cNvSpPr txBox="1"/>
            <p:nvPr/>
          </p:nvSpPr>
          <p:spPr>
            <a:xfrm>
              <a:off x="603504" y="546100"/>
              <a:ext cx="240409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INCENTIVE MISALIGNMENT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200699" cy="1043940"/>
            <a:chOff x="594360" y="812800"/>
            <a:chExt cx="6200699" cy="1043940"/>
          </a:xfrm>
        </p:grpSpPr>
        <p:sp>
          <p:nvSpPr>
            <p:cNvPr id="5" name="TextBox 5"/>
            <p:cNvSpPr txBox="1"/>
            <p:nvPr/>
          </p:nvSpPr>
          <p:spPr>
            <a:xfrm>
              <a:off x="594360" y="812800"/>
              <a:ext cx="620069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GP capital adds downside exposure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alongside carry's upside incentive</a:t>
              </a:r>
            </a:p>
          </p:txBody>
        </p:sp>
      </p:grpSp>
      <p:graphicFrame>
        <p:nvGraphicFramePr>
          <p:cNvPr id="7" name="exposure-matrix"/>
          <p:cNvGraphicFramePr>
            <a:graphicFrameLocks noGrp="1"/>
          </p:cNvGraphicFramePr>
          <p:nvPr/>
        </p:nvGraphicFramePr>
        <p:xfrm>
          <a:off x="609600" y="2247900"/>
          <a:ext cx="10972800" cy="2057400"/>
        </p:xfrm>
        <a:graphic>
          <a:graphicData uri="http://schemas.openxmlformats.org/drawingml/2006/table">
            <a:tbl>
              <a:tblPr firstRow="1" bandRow="0">
                <a:tableStyleId>{5C22544A-7EE6-4342-B048-85BDC9FD1C3A}</a:tableStyleId>
              </a:tblPr>
              <a:tblGrid>
                <a:gridCol w="2628900"/>
                <a:gridCol w="4171950"/>
                <a:gridCol w="4171950"/>
              </a:tblGrid>
              <a:tr h="457200">
                <a:tc>
                  <a:txBody>
                    <a:bodyPr/>
                    <a:lstStyle/>
                    <a:p>
                      <a:pPr/>
                      <a:r>
                        <a:rPr lang="en-US" sz="1500" b="1">
                          <a:solidFill>
                            <a:srgbClr val="FBF8F2"/>
                          </a:solidFill>
                          <a:latin typeface="Calibri"/>
                          <a:ea typeface="Microsoft YaHei"/>
                          <a:cs typeface="Calibri"/>
                        </a:rPr>
                        <a:t>Exposure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Carry</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GP invested capital</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r>
              <a:tr h="800100">
                <a:tc>
                  <a:txBody>
                    <a:bodyPr/>
                    <a:lstStyle/>
                    <a:p>
                      <a:pPr/>
                      <a:r>
                        <a:rPr lang="en-US" sz="1500" b="1">
                          <a:solidFill>
                            <a:schemeClr val="accent1"/>
                          </a:solidFill>
                          <a:latin typeface="Calibri"/>
                          <a:ea typeface="Microsoft YaHei"/>
                          <a:cs typeface="Calibri"/>
                        </a:rPr>
                        <a:t>Qualifying investment profits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Potential performance compensation</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rgbClr val="DDE4F4"/>
                    </a:solidFill>
                  </a:tcPr>
                </a:tc>
                <a:tc>
                  <a:txBody>
                    <a:bodyPr/>
                    <a:lstStyle/>
                    <a:p>
                      <a:pPr/>
                      <a:r>
                        <a:rPr lang="en-US" sz="1500" b="0">
                          <a:solidFill>
                            <a:schemeClr val="accent1"/>
                          </a:solidFill>
                          <a:latin typeface="Calibri"/>
                          <a:ea typeface="Microsoft YaHei"/>
                          <a:cs typeface="Calibri"/>
                        </a:rPr>
                        <a:t>Investment return under agreed terms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800100">
                <a:tc>
                  <a:txBody>
                    <a:bodyPr/>
                    <a:lstStyle/>
                    <a:p>
                      <a:pPr/>
                      <a:r>
                        <a:rPr lang="en-US" sz="1500" b="1">
                          <a:solidFill>
                            <a:schemeClr val="accent1"/>
                          </a:solidFill>
                          <a:latin typeface="Calibri"/>
                          <a:ea typeface="Microsoft YaHei"/>
                          <a:cs typeface="Calibri"/>
                        </a:rPr>
                        <a:t>Investment losses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Performance compensation may be absent</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rgbClr val="DDE4F4"/>
                    </a:solidFill>
                  </a:tcPr>
                </a:tc>
                <a:tc>
                  <a:txBody>
                    <a:bodyPr/>
                    <a:lstStyle/>
                    <a:p>
                      <a:pPr/>
                      <a:r>
                        <a:rPr lang="en-US" sz="1500" b="1">
                          <a:solidFill>
                            <a:srgbClr val="A33D3D"/>
                          </a:solidFill>
                          <a:latin typeface="Calibri"/>
                          <a:ea typeface="Microsoft YaHei"/>
                          <a:cs typeface="Calibri"/>
                        </a:rPr>
                        <a:t>Contributed capital may be lost</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0" name="conclusion"/>
          <p:cNvGrpSpPr/>
          <p:nvPr/>
        </p:nvGrpSpPr>
        <p:grpSpPr>
          <a:xfrm>
            <a:off x="599694" y="4495800"/>
            <a:ext cx="7602476" cy="689483"/>
            <a:chOff x="599694" y="4495800"/>
            <a:chExt cx="7602476" cy="689483"/>
          </a:xfrm>
        </p:grpSpPr>
        <p:sp>
          <p:nvSpPr>
            <p:cNvPr id="8" name="TextBox 8"/>
            <p:cNvSpPr txBox="1"/>
            <p:nvPr/>
          </p:nvSpPr>
          <p:spPr>
            <a:xfrm>
              <a:off x="599694" y="4495800"/>
              <a:ext cx="7489803"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GP capital strengthens alignment, but does not remove every conflict.</a:t>
              </a:r>
            </a:p>
          </p:txBody>
        </p:sp>
        <p:sp>
          <p:nvSpPr>
            <p:cNvPr id="9" name="TextBox 9"/>
            <p:cNvSpPr txBox="1"/>
            <p:nvPr/>
          </p:nvSpPr>
          <p:spPr>
            <a:xfrm>
              <a:off x="602742" y="4921250"/>
              <a:ext cx="75994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Actual compensation and loss sharing depend on fund terms, including applicable clawback provisions.</a:t>
              </a:r>
            </a:p>
          </p:txBody>
        </p:sp>
      </p:grpSp>
      <p:grpSp>
        <p:nvGrpSpPr>
          <p:cNvPr id="13" name="bridge"/>
          <p:cNvGrpSpPr/>
          <p:nvPr/>
        </p:nvGrpSpPr>
        <p:grpSpPr>
          <a:xfrm>
            <a:off x="599694" y="5448300"/>
            <a:ext cx="8360388" cy="419481"/>
            <a:chOff x="599694" y="5448300"/>
            <a:chExt cx="8360388" cy="419481"/>
          </a:xfrm>
        </p:grpSpPr>
        <p:sp>
          <p:nvSpPr>
            <p:cNvPr id="11" name="Line 11"/>
            <p:cNvSpPr/>
            <p:nvPr/>
          </p:nvSpPr>
          <p:spPr>
            <a:xfrm>
              <a:off x="609600" y="544830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2" name="TextBox 12"/>
            <p:cNvSpPr txBox="1"/>
            <p:nvPr/>
          </p:nvSpPr>
          <p:spPr>
            <a:xfrm>
              <a:off x="599694" y="5486400"/>
              <a:ext cx="8360388" cy="381381"/>
            </a:xfrm>
            <a:prstGeom prst="rect">
              <a:avLst/>
            </a:prstGeom>
            <a:noFill/>
            <a:ln>
              <a:noFill/>
            </a:ln>
          </p:spPr>
          <p:txBody>
            <a:bodyPr wrap="none" lIns="0" tIns="0" rIns="0" bIns="0" anchor="t" anchorCtr="0">
              <a:spAutoFit/>
            </a:bodyPr>
            <a:lstStyle/>
            <a:p>
              <a:pPr algn="l"/>
              <a:r>
                <a:rPr lang="en-US" sz="1950" i="1" dirty="0">
                  <a:solidFill>
                    <a:schemeClr val="accent1"/>
                  </a:solidFill>
                  <a:latin typeface="+mn-lt"/>
                  <a:ea typeface="+mn-ea"/>
                  <a:cs typeface="+mn-cs"/>
                </a:rPr>
                <a:t>How do these mechanisms translate into LP cash flows and GP compensation?</a:t>
              </a:r>
            </a:p>
          </p:txBody>
        </p:sp>
      </p:grpSp>
      <p:grpSp>
        <p:nvGrpSpPr>
          <p:cNvPr id="16" name="footer"/>
          <p:cNvGrpSpPr/>
          <p:nvPr/>
        </p:nvGrpSpPr>
        <p:grpSpPr>
          <a:xfrm>
            <a:off x="604266" y="6350000"/>
            <a:ext cx="10983468" cy="367284"/>
            <a:chOff x="604266" y="6350000"/>
            <a:chExt cx="10983468" cy="367284"/>
          </a:xfrm>
        </p:grpSpPr>
        <p:sp>
          <p:nvSpPr>
            <p:cNvPr id="14" name="TextBox 14"/>
            <p:cNvSpPr txBox="1"/>
            <p:nvPr/>
          </p:nvSpPr>
          <p:spPr>
            <a:xfrm>
              <a:off x="604266" y="6350000"/>
              <a:ext cx="744249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(roles of the parties; TPG's roughly $500m own commitment, p. 5); Metrick &amp; Yasuda (2007); Preparation Questions Q2–Q3.</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Q3 uses the question's ten-year, $20bn, 20%-growth, 20%-carry model; its 15% discount rate is not a hurdle.</a:t>
              </a:r>
            </a:p>
          </p:txBody>
        </p:sp>
        <p:sp>
          <p:nvSpPr>
            <p:cNvPr id="15" name="TextBox 1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343841" cy="234696"/>
            <a:chOff x="908304" y="1574800"/>
            <a:chExt cx="2343841" cy="234696"/>
          </a:xfrm>
        </p:grpSpPr>
        <p:sp>
          <p:nvSpPr>
            <p:cNvPr id="2" name="TextBox 2"/>
            <p:cNvSpPr txBox="1"/>
            <p:nvPr/>
          </p:nvSpPr>
          <p:spPr>
            <a:xfrm>
              <a:off x="908304" y="1574800"/>
              <a:ext cx="234384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ECONOMIC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7151842"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What are the financial consequences</a:t>
              </a:r>
              <a:br>
                <a:rPr lang="en-US" sz="3600" dirty="0">
                  <a:solidFill>
                    <a:srgbClr val="FBF8F2"/>
                  </a:solidFill>
                  <a:latin typeface="+mj-lt"/>
                  <a:ea typeface="+mj-ea"/>
                  <a:cs typeface="+mj-cs"/>
                </a:rPr>
              </a:br>
              <a:r>
                <a:rPr lang="en-US" sz="3600" dirty="0">
                  <a:solidFill>
                    <a:srgbClr val="FBF8F2"/>
                  </a:solidFill>
                  <a:latin typeface="+mj-lt"/>
                  <a:ea typeface="+mj-ea"/>
                  <a:cs typeface="+mj-cs"/>
                </a:rPr>
                <a:t>for OPERF and TPG?</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4560237" cy="264033"/>
            <a:chOff x="907542" y="5930900"/>
            <a:chExt cx="4560237" cy="264033"/>
          </a:xfrm>
        </p:grpSpPr>
        <p:sp>
          <p:nvSpPr>
            <p:cNvPr id="7" name="TextBox 7"/>
            <p:cNvSpPr txBox="1"/>
            <p:nvPr/>
          </p:nvSpPr>
          <p:spPr>
            <a:xfrm>
              <a:off x="907542" y="5930900"/>
              <a:ext cx="4560237"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4 · OPERF's position and financial analysis · Q3–Q4 · Alex</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7902130" cy="1043940"/>
            <a:chOff x="594360" y="812800"/>
            <a:chExt cx="7902130" cy="1043940"/>
          </a:xfrm>
        </p:grpSpPr>
        <p:sp>
          <p:nvSpPr>
            <p:cNvPr id="5" name="TextBox 5"/>
            <p:cNvSpPr txBox="1"/>
            <p:nvPr/>
          </p:nvSpPr>
          <p:spPr>
            <a:xfrm>
              <a:off x="594360" y="812800"/>
              <a:ext cx="7902130"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fee cut adds value, but the return margin</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remains narrow</a:t>
              </a:r>
            </a:p>
          </p:txBody>
        </p:sp>
      </p:grpSp>
      <p:grpSp>
        <p:nvGrpSpPr>
          <p:cNvPr id="10" name="hero-irr"/>
          <p:cNvGrpSpPr/>
          <p:nvPr/>
        </p:nvGrpSpPr>
        <p:grpSpPr>
          <a:xfrm>
            <a:off x="590550" y="2470150"/>
            <a:ext cx="5514975" cy="1911350"/>
            <a:chOff x="590550" y="2470150"/>
            <a:chExt cx="5514975" cy="1911350"/>
          </a:xfrm>
        </p:grpSpPr>
        <p:sp>
          <p:nvSpPr>
            <p:cNvPr id="7" name="TextBox 7"/>
            <p:cNvSpPr txBox="1"/>
            <p:nvPr/>
          </p:nvSpPr>
          <p:spPr>
            <a:xfrm>
              <a:off x="590550" y="2470150"/>
              <a:ext cx="2785349"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15.72%</a:t>
              </a:r>
            </a:p>
          </p:txBody>
        </p:sp>
        <p:sp>
          <p:nvSpPr>
            <p:cNvPr id="8" name="TextBox 8"/>
            <p:cNvSpPr txBox="1"/>
            <p:nvPr/>
          </p:nvSpPr>
          <p:spPr>
            <a:xfrm>
              <a:off x="601218" y="3327400"/>
              <a:ext cx="242998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Net LP IRR, against a 15.00%</a:t>
              </a:r>
              <a:br>
                <a:rPr lang="en-US" sz="1650" dirty="0">
                  <a:solidFill>
                    <a:schemeClr val="dk1"/>
                  </a:solidFill>
                  <a:latin typeface="+mn-lt"/>
                  <a:ea typeface="+mn-ea"/>
                  <a:cs typeface="+mn-cs"/>
                </a:rPr>
              </a:br>
              <a:r>
                <a:rPr lang="en-US" sz="1650" dirty="0">
                  <a:solidFill>
                    <a:schemeClr val="dk1"/>
                  </a:solidFill>
                  <a:latin typeface="+mn-lt"/>
                  <a:ea typeface="+mn-ea"/>
                  <a:cs typeface="+mn-cs"/>
                </a:rPr>
                <a:t>assumed discount rate · Q3</a:t>
              </a:r>
            </a:p>
          </p:txBody>
        </p:sp>
        <p:sp>
          <p:nvSpPr>
            <p:cNvPr id="9" name="Line 9"/>
            <p:cNvSpPr/>
            <p:nvPr/>
          </p:nvSpPr>
          <p:spPr>
            <a:xfrm>
              <a:off x="6096000" y="2476500"/>
              <a:ext cx="9525" cy="1905000"/>
            </a:xfrm>
            <a:custGeom>
              <a:avLst/>
              <a:gdLst/>
              <a:ahLst/>
              <a:cxnLst/>
              <a:rect l="l" t="t" r="r" b="b"/>
              <a:pathLst>
                <a:path w="9525" h="1905000">
                  <a:moveTo>
                    <a:pt x="0" y="0"/>
                  </a:moveTo>
                  <a:lnTo>
                    <a:pt x="0" y="1905000"/>
                  </a:lnTo>
                </a:path>
              </a:pathLst>
            </a:custGeom>
            <a:noFill/>
            <a:ln w="9525">
              <a:solidFill>
                <a:schemeClr val="accent6"/>
              </a:solidFill>
            </a:ln>
          </p:spPr>
        </p:sp>
      </p:grpSp>
      <p:grpSp>
        <p:nvGrpSpPr>
          <p:cNvPr id="14" name="hero-npv"/>
          <p:cNvGrpSpPr/>
          <p:nvPr/>
        </p:nvGrpSpPr>
        <p:grpSpPr>
          <a:xfrm>
            <a:off x="6457950" y="2470150"/>
            <a:ext cx="3136753" cy="1762633"/>
            <a:chOff x="6457950" y="2470150"/>
            <a:chExt cx="3136753" cy="1762633"/>
          </a:xfrm>
        </p:grpSpPr>
        <p:sp>
          <p:nvSpPr>
            <p:cNvPr id="11" name="TextBox 11"/>
            <p:cNvSpPr txBox="1"/>
            <p:nvPr/>
          </p:nvSpPr>
          <p:spPr>
            <a:xfrm>
              <a:off x="6457950" y="2470150"/>
              <a:ext cx="3136753"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+$6.55m</a:t>
              </a:r>
            </a:p>
          </p:txBody>
        </p:sp>
        <p:sp>
          <p:nvSpPr>
            <p:cNvPr id="12" name="TextBox 12"/>
            <p:cNvSpPr txBox="1"/>
            <p:nvPr/>
          </p:nvSpPr>
          <p:spPr>
            <a:xfrm>
              <a:off x="6468618" y="3327400"/>
              <a:ext cx="284248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OPERF inception-model NPV gain</a:t>
              </a:r>
              <a:br>
                <a:rPr lang="en-US" sz="1650" dirty="0">
                  <a:solidFill>
                    <a:schemeClr val="dk1"/>
                  </a:solidFill>
                  <a:latin typeface="+mn-lt"/>
                  <a:ea typeface="+mn-ea"/>
                  <a:cs typeface="+mn-cs"/>
                </a:rPr>
              </a:br>
              <a:r>
                <a:rPr lang="en-US" sz="1650" dirty="0">
                  <a:solidFill>
                    <a:schemeClr val="dk1"/>
                  </a:solidFill>
                  <a:latin typeface="+mn-lt"/>
                  <a:ea typeface="+mn-ea"/>
                  <a:cs typeface="+mn-cs"/>
                </a:rPr>
                <a:t>from the fee cut · Q4</a:t>
              </a:r>
            </a:p>
          </p:txBody>
        </p:sp>
        <p:sp>
          <p:nvSpPr>
            <p:cNvPr id="13" name="TextBox 13"/>
            <p:cNvSpPr txBox="1"/>
            <p:nvPr/>
          </p:nvSpPr>
          <p:spPr>
            <a:xfrm>
              <a:off x="6470142" y="3968750"/>
              <a:ext cx="13633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+21.36 bps LP IRR</a:t>
              </a:r>
            </a:p>
          </p:txBody>
        </p:sp>
      </p:grpSp>
      <p:grpSp>
        <p:nvGrpSpPr>
          <p:cNvPr id="16" name="implication"/>
          <p:cNvGrpSpPr/>
          <p:nvPr/>
        </p:nvGrpSpPr>
        <p:grpSpPr>
          <a:xfrm>
            <a:off x="599694" y="4533900"/>
            <a:ext cx="7168273" cy="381381"/>
            <a:chOff x="599694" y="4533900"/>
            <a:chExt cx="7168273" cy="381381"/>
          </a:xfrm>
        </p:grpSpPr>
        <p:sp>
          <p:nvSpPr>
            <p:cNvPr id="15" name="TextBox 15"/>
            <p:cNvSpPr txBox="1"/>
            <p:nvPr/>
          </p:nvSpPr>
          <p:spPr>
            <a:xfrm>
              <a:off x="599694" y="4533900"/>
              <a:ext cx="7168273"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Better fee terms help; growth and exit assumptions remain critical.</a:t>
              </a:r>
            </a:p>
          </p:txBody>
        </p:sp>
      </p:grpSp>
      <p:grpSp>
        <p:nvGrpSpPr>
          <p:cNvPr id="22" name="path"/>
          <p:cNvGrpSpPr/>
          <p:nvPr/>
        </p:nvGrpSpPr>
        <p:grpSpPr>
          <a:xfrm>
            <a:off x="601218" y="5238750"/>
            <a:ext cx="9211151" cy="322707"/>
            <a:chOff x="601218" y="5238750"/>
            <a:chExt cx="9211151" cy="322707"/>
          </a:xfrm>
        </p:grpSpPr>
        <p:sp>
          <p:nvSpPr>
            <p:cNvPr id="17" name="TextBox 17"/>
            <p:cNvSpPr txBox="1"/>
            <p:nvPr/>
          </p:nvSpPr>
          <p:spPr>
            <a:xfrm>
              <a:off x="601218" y="5238750"/>
              <a:ext cx="182730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Baseline economics</a:t>
              </a:r>
            </a:p>
          </p:txBody>
        </p:sp>
        <p:sp>
          <p:nvSpPr>
            <p:cNvPr id="18" name="Line 18"/>
            <p:cNvSpPr/>
            <p:nvPr/>
          </p:nvSpPr>
          <p:spPr>
            <a:xfrm>
              <a:off x="3905250" y="52387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19" name="TextBox 19"/>
            <p:cNvSpPr txBox="1"/>
            <p:nvPr/>
          </p:nvSpPr>
          <p:spPr>
            <a:xfrm>
              <a:off x="4182618" y="5238750"/>
              <a:ext cx="125640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Fee-cut value</a:t>
              </a:r>
            </a:p>
          </p:txBody>
        </p:sp>
        <p:sp>
          <p:nvSpPr>
            <p:cNvPr id="20" name="Line 20"/>
            <p:cNvSpPr/>
            <p:nvPr/>
          </p:nvSpPr>
          <p:spPr>
            <a:xfrm>
              <a:off x="7334250" y="52387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21" name="TextBox 21"/>
            <p:cNvSpPr txBox="1"/>
            <p:nvPr/>
          </p:nvSpPr>
          <p:spPr>
            <a:xfrm>
              <a:off x="7611618" y="5238750"/>
              <a:ext cx="220075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Performance sensitivity</a:t>
              </a:r>
            </a:p>
          </p:txBody>
        </p:sp>
      </p:grpSp>
      <p:grpSp>
        <p:nvGrpSpPr>
          <p:cNvPr id="24" name="caption"/>
          <p:cNvGrpSpPr/>
          <p:nvPr/>
        </p:nvGrpSpPr>
        <p:grpSpPr>
          <a:xfrm>
            <a:off x="602742" y="5759450"/>
            <a:ext cx="7136516" cy="264033"/>
            <a:chOff x="602742" y="5759450"/>
            <a:chExt cx="7136516" cy="264033"/>
          </a:xfrm>
        </p:grpSpPr>
        <p:sp>
          <p:nvSpPr>
            <p:cNvPr id="23" name="TextBox 23"/>
            <p:cNvSpPr txBox="1"/>
            <p:nvPr/>
          </p:nvSpPr>
          <p:spPr>
            <a:xfrm>
              <a:off x="602742" y="5759450"/>
              <a:ext cx="71365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 Ten-year model, 20% annual asset growth.</a:t>
              </a:r>
            </a:p>
          </p:txBody>
        </p:sp>
      </p:grpSp>
      <p:grpSp>
        <p:nvGrpSpPr>
          <p:cNvPr id="27" name="footer"/>
          <p:cNvGrpSpPr/>
          <p:nvPr/>
        </p:nvGrpSpPr>
        <p:grpSpPr>
          <a:xfrm>
            <a:off x="604266" y="6426200"/>
            <a:ext cx="10983468" cy="291084"/>
            <a:chOff x="604266" y="6426200"/>
            <a:chExt cx="10983468" cy="291084"/>
          </a:xfrm>
        </p:grpSpPr>
        <p:sp>
          <p:nvSpPr>
            <p:cNvPr id="25" name="TextBox 25"/>
            <p:cNvSpPr txBox="1"/>
            <p:nvPr/>
          </p:nvSpPr>
          <p:spPr>
            <a:xfrm>
              <a:off x="604266" y="6426200"/>
              <a:ext cx="894869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case!C50, C64; Q4 Analysis!C25, C28; Inputs!C8:C9, C18:C19. Model results under prescribed assumptions, not forecasts of actual returns.</a:t>
              </a:r>
            </a:p>
          </p:txBody>
        </p:sp>
        <p:sp>
          <p:nvSpPr>
            <p:cNvPr id="26" name="TextBox 2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45676" cy="244475"/>
            <a:chOff x="603504" y="546100"/>
            <a:chExt cx="1645676" cy="244475"/>
          </a:xfrm>
        </p:grpSpPr>
        <p:sp>
          <p:nvSpPr>
            <p:cNvPr id="2" name="TextBox 2"/>
            <p:cNvSpPr txBox="1"/>
            <p:nvPr/>
          </p:nvSpPr>
          <p:spPr>
            <a:xfrm>
              <a:off x="603504" y="546100"/>
              <a:ext cx="164567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OPERF'S POSITION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111331" cy="586740"/>
            <a:chOff x="594360" y="812800"/>
            <a:chExt cx="8111331" cy="586740"/>
          </a:xfrm>
        </p:grpSpPr>
        <p:sp>
          <p:nvSpPr>
            <p:cNvPr id="5" name="TextBox 5"/>
            <p:cNvSpPr txBox="1"/>
            <p:nvPr/>
          </p:nvSpPr>
          <p:spPr>
            <a:xfrm>
              <a:off x="594360" y="812800"/>
              <a:ext cx="811133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OPERF's allocation and funding position</a:t>
              </a:r>
            </a:p>
          </p:txBody>
        </p:sp>
      </p:grpSp>
      <p:grpSp>
        <p:nvGrpSpPr>
          <p:cNvPr id="23" name="pe-allocation-bullet"/>
          <p:cNvGrpSpPr/>
          <p:nvPr/>
        </p:nvGrpSpPr>
        <p:grpSpPr>
          <a:xfrm>
            <a:off x="602742" y="1866900"/>
            <a:ext cx="5312283" cy="2857500"/>
            <a:chOff x="602742" y="1866900"/>
            <a:chExt cx="5312283" cy="2857500"/>
          </a:xfrm>
        </p:grpSpPr>
        <p:sp>
          <p:nvSpPr>
            <p:cNvPr id="7" name="TextBox 7"/>
            <p:cNvSpPr txBox="1"/>
            <p:nvPr/>
          </p:nvSpPr>
          <p:spPr>
            <a:xfrm>
              <a:off x="602742" y="1949450"/>
              <a:ext cx="258393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Private equity allocation, 4Q 2008</a:t>
              </a:r>
            </a:p>
          </p:txBody>
        </p:sp>
        <p:grpSp>
          <p:nvGrpSpPr>
            <p:cNvPr id="21" name="pe-allocation-bullet-chartArea"/>
            <p:cNvGrpSpPr/>
            <p:nvPr/>
          </p:nvGrpSpPr>
          <p:grpSpPr>
            <a:xfrm>
              <a:off x="602742" y="2254250"/>
              <a:ext cx="4706347" cy="1692783"/>
              <a:chOff x="602742" y="2254250"/>
              <a:chExt cx="4706347" cy="1692783"/>
            </a:xfrm>
          </p:grpSpPr>
          <p:sp>
            <p:nvSpPr>
              <p:cNvPr id="8" name="Line 8"/>
              <p:cNvSpPr/>
              <p:nvPr/>
            </p:nvSpPr>
            <p:spPr>
              <a:xfrm>
                <a:off x="609600" y="3295650"/>
                <a:ext cx="4572000" cy="9525"/>
              </a:xfrm>
              <a:custGeom>
                <a:avLst/>
                <a:gdLst/>
                <a:ahLst/>
                <a:cxnLst/>
                <a:rect l="l" t="t" r="r" b="b"/>
                <a:pathLst>
                  <a:path w="4572000" h="9525">
                    <a:moveTo>
                      <a:pt x="0" y="0"/>
                    </a:moveTo>
                    <a:lnTo>
                      <a:pt x="4572000" y="0"/>
                    </a:lnTo>
                  </a:path>
                </a:pathLst>
              </a:custGeom>
              <a:noFill/>
              <a:ln w="14288">
                <a:solidFill>
                  <a:srgbClr val="5C6670"/>
                </a:solidFill>
              </a:ln>
            </p:spPr>
          </p:sp>
          <p:sp>
            <p:nvSpPr>
              <p:cNvPr id="9" name="Rectangle 9"/>
              <p:cNvSpPr/>
              <p:nvPr/>
            </p:nvSpPr>
            <p:spPr>
              <a:xfrm>
                <a:off x="609600" y="2667000"/>
                <a:ext cx="4005262" cy="457200"/>
              </a:xfrm>
              <a:prstGeom prst="rect">
                <a:avLst/>
              </a:prstGeom>
              <a:solidFill>
                <a:schemeClr val="accent1"/>
              </a:solidFill>
              <a:ln>
                <a:noFill/>
              </a:ln>
            </p:spPr>
          </p:sp>
          <p:sp>
            <p:nvSpPr>
              <p:cNvPr id="10" name="TextBox 10"/>
              <p:cNvSpPr txBox="1"/>
              <p:nvPr/>
            </p:nvSpPr>
            <p:spPr>
              <a:xfrm>
                <a:off x="4679442" y="2787650"/>
                <a:ext cx="47105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21.9%</a:t>
                </a:r>
              </a:p>
            </p:txBody>
          </p:sp>
          <p:sp>
            <p:nvSpPr>
              <p:cNvPr id="11" name="Line 11"/>
              <p:cNvSpPr/>
              <p:nvPr/>
            </p:nvSpPr>
            <p:spPr>
              <a:xfrm>
                <a:off x="3535680" y="2495550"/>
                <a:ext cx="9525" cy="800100"/>
              </a:xfrm>
              <a:custGeom>
                <a:avLst/>
                <a:gdLst/>
                <a:ahLst/>
                <a:cxnLst/>
                <a:rect l="l" t="t" r="r" b="b"/>
                <a:pathLst>
                  <a:path w="9525" h="800100">
                    <a:moveTo>
                      <a:pt x="0" y="0"/>
                    </a:moveTo>
                    <a:lnTo>
                      <a:pt x="0" y="800100"/>
                    </a:lnTo>
                  </a:path>
                </a:pathLst>
              </a:custGeom>
              <a:noFill/>
              <a:ln w="19050">
                <a:solidFill>
                  <a:srgbClr val="5C6670"/>
                </a:solidFill>
                <a:prstDash val="dash"/>
              </a:ln>
            </p:spPr>
          </p:sp>
          <p:sp>
            <p:nvSpPr>
              <p:cNvPr id="12" name="TextBox 12"/>
              <p:cNvSpPr txBox="1"/>
              <p:nvPr/>
            </p:nvSpPr>
            <p:spPr>
              <a:xfrm>
                <a:off x="2416690" y="2254250"/>
                <a:ext cx="223417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Actual allocation target 16.0%</a:t>
                </a:r>
              </a:p>
            </p:txBody>
          </p:sp>
          <p:grpSp>
            <p:nvGrpSpPr>
              <p:cNvPr id="19" name="Group 19"/>
              <p:cNvGrpSpPr/>
              <p:nvPr/>
            </p:nvGrpSpPr>
            <p:grpSpPr>
              <a:xfrm>
                <a:off x="604266" y="3378200"/>
                <a:ext cx="4704823" cy="205359"/>
                <a:chOff x="604266" y="3378200"/>
                <a:chExt cx="4704823" cy="205359"/>
              </a:xfrm>
            </p:grpSpPr>
            <p:sp>
              <p:nvSpPr>
                <p:cNvPr id="13" name="TextBox 13"/>
                <p:cNvSpPr txBox="1"/>
                <p:nvPr/>
              </p:nvSpPr>
              <p:spPr>
                <a:xfrm>
                  <a:off x="604266" y="3378200"/>
                  <a:ext cx="18334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0%</a:t>
                  </a:r>
                </a:p>
              </p:txBody>
            </p:sp>
            <p:sp>
              <p:nvSpPr>
                <p:cNvPr id="14" name="TextBox 14"/>
                <p:cNvSpPr txBox="1"/>
                <p:nvPr/>
              </p:nvSpPr>
              <p:spPr>
                <a:xfrm>
                  <a:off x="1432329" y="337820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a:t>
                  </a:r>
                </a:p>
              </p:txBody>
            </p:sp>
            <p:sp>
              <p:nvSpPr>
                <p:cNvPr id="15" name="TextBox 15"/>
                <p:cNvSpPr txBox="1"/>
                <p:nvPr/>
              </p:nvSpPr>
              <p:spPr>
                <a:xfrm>
                  <a:off x="23109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16" name="TextBox 16"/>
                <p:cNvSpPr txBox="1"/>
                <p:nvPr/>
              </p:nvSpPr>
              <p:spPr>
                <a:xfrm>
                  <a:off x="32253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a:t>
                  </a:r>
                </a:p>
              </p:txBody>
            </p:sp>
            <p:sp>
              <p:nvSpPr>
                <p:cNvPr id="17" name="TextBox 17"/>
                <p:cNvSpPr txBox="1"/>
                <p:nvPr/>
              </p:nvSpPr>
              <p:spPr>
                <a:xfrm>
                  <a:off x="41397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18" name="TextBox 18"/>
                <p:cNvSpPr txBox="1"/>
                <p:nvPr/>
              </p:nvSpPr>
              <p:spPr>
                <a:xfrm>
                  <a:off x="50541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25%</a:t>
                  </a:r>
                </a:p>
              </p:txBody>
            </p:sp>
          </p:grpSp>
          <p:sp>
            <p:nvSpPr>
              <p:cNvPr id="20" name="TextBox 20"/>
              <p:cNvSpPr txBox="1"/>
              <p:nvPr/>
            </p:nvSpPr>
            <p:spPr>
              <a:xfrm>
                <a:off x="602742" y="3683000"/>
                <a:ext cx="3517498"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Actual allocation 21.9%, against a 16.0% target.</a:t>
                </a:r>
              </a:p>
            </p:txBody>
          </p:sp>
        </p:grpSp>
        <p:sp>
          <p:nvSpPr>
            <p:cNvPr id="22" name="Line 22"/>
            <p:cNvSpPr/>
            <p:nvPr/>
          </p:nvSpPr>
          <p:spPr>
            <a:xfrm>
              <a:off x="5905500" y="1866900"/>
              <a:ext cx="9525" cy="2857500"/>
            </a:xfrm>
            <a:custGeom>
              <a:avLst/>
              <a:gdLst/>
              <a:ahLst/>
              <a:cxnLst/>
              <a:rect l="l" t="t" r="r" b="b"/>
              <a:pathLst>
                <a:path w="9525" h="2857500">
                  <a:moveTo>
                    <a:pt x="0" y="0"/>
                  </a:moveTo>
                  <a:lnTo>
                    <a:pt x="0" y="2857500"/>
                  </a:lnTo>
                </a:path>
              </a:pathLst>
            </a:custGeom>
            <a:noFill/>
            <a:ln w="9525">
              <a:solidFill>
                <a:schemeClr val="accent6"/>
              </a:solidFill>
            </a:ln>
          </p:spPr>
        </p:sp>
      </p:grpSp>
      <p:grpSp>
        <p:nvGrpSpPr>
          <p:cNvPr id="26" name="commitment-bars"/>
          <p:cNvGrpSpPr/>
          <p:nvPr/>
        </p:nvGrpSpPr>
        <p:grpSpPr>
          <a:xfrm>
            <a:off x="6096000" y="1866900"/>
            <a:ext cx="5486400" cy="2857500"/>
            <a:chOff x="6096000" y="1866900"/>
            <a:chExt cx="5486400" cy="2857500"/>
          </a:xfrm>
        </p:grpSpPr>
        <p:graphicFrame>
          <p:nvGraphicFramePr>
            <p:cNvPr id="24" name="commitment-bars"/>
            <p:cNvGraphicFramePr>
              <a:graphicFrameLocks noGrp="1"/>
            </p:cNvGraphicFramePr>
            <p:nvPr/>
          </p:nvGraphicFramePr>
          <p:xfrm>
            <a:off x="6096000" y="1866900"/>
            <a:ext cx="5486400" cy="2857500"/>
          </p:xfrm>
          <a:graphic>
            <a:graphicData uri="http://schemas.openxmlformats.org/drawingml/2006/chart">
              <c:chart xmlns:c="http://schemas.openxmlformats.org/drawingml/2006/chart" r:id="rId2"/>
            </a:graphicData>
          </a:graphic>
        </p:graphicFrame>
        <p:sp>
          <p:nvSpPr>
            <p:cNvPr id="25" name="Chart Note 25"/>
            <p:cNvSpPr txBox="1"/>
            <p:nvPr/>
          </p:nvSpPr>
          <p:spPr>
            <a:xfrm>
              <a:off x="7620000" y="3801428"/>
              <a:ext cx="2476500" cy="213360"/>
            </a:xfrm>
            <a:prstGeom prst="rect">
              <a:avLst/>
            </a:prstGeom>
            <a:noFill/>
            <a:ln>
              <a:noFill/>
            </a:ln>
          </p:spPr>
          <p:txBody>
            <a:bodyPr wrap="square" lIns="0" tIns="0" rIns="0" bIns="0" anchor="b" anchorCtr="0"/>
            <a:lstStyle/>
            <a:p>
              <a:pPr algn="l"/>
              <a:r>
                <a:rPr lang="en-US" sz="1050">
                  <a:solidFill>
                    <a:srgbClr val="5C6670"/>
                  </a:solidFill>
                  <a:latin typeface="Calibri"/>
                  <a:ea typeface="Microsoft YaHei"/>
                  <a:cs typeface="Calibri"/>
                </a:rPr>
                <a:t>2.5× the earlier commitments</a:t>
              </a:r>
            </a:p>
          </p:txBody>
        </p:sp>
      </p:grpSp>
      <p:grpSp>
        <p:nvGrpSpPr>
          <p:cNvPr id="29" name="funding-line"/>
          <p:cNvGrpSpPr/>
          <p:nvPr/>
        </p:nvGrpSpPr>
        <p:grpSpPr>
          <a:xfrm>
            <a:off x="601218" y="5238750"/>
            <a:ext cx="6415301" cy="575183"/>
            <a:chOff x="601218" y="5238750"/>
            <a:chExt cx="6415301" cy="575183"/>
          </a:xfrm>
        </p:grpSpPr>
        <p:sp>
          <p:nvSpPr>
            <p:cNvPr id="27" name="TextBox 27"/>
            <p:cNvSpPr txBox="1"/>
            <p:nvPr/>
          </p:nvSpPr>
          <p:spPr>
            <a:xfrm>
              <a:off x="601218" y="5238750"/>
              <a:ext cx="538193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The case reports sufficient cash to meet future capital calls.</a:t>
              </a:r>
            </a:p>
          </p:txBody>
        </p:sp>
        <p:sp>
          <p:nvSpPr>
            <p:cNvPr id="28" name="TextBox 28"/>
            <p:cNvSpPr txBox="1"/>
            <p:nvPr/>
          </p:nvSpPr>
          <p:spPr>
            <a:xfrm>
              <a:off x="602742" y="5549900"/>
              <a:ext cx="64137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Payment capacity is a feasibility condition; the investment's value is judged separately.</a:t>
              </a:r>
            </a:p>
          </p:txBody>
        </p:sp>
      </p:grpSp>
      <p:grpSp>
        <p:nvGrpSpPr>
          <p:cNvPr id="32" name="footer"/>
          <p:cNvGrpSpPr/>
          <p:nvPr/>
        </p:nvGrpSpPr>
        <p:grpSpPr>
          <a:xfrm>
            <a:off x="604266" y="6426200"/>
            <a:ext cx="10983468" cy="291084"/>
            <a:chOff x="604266" y="6426200"/>
            <a:chExt cx="10983468" cy="291084"/>
          </a:xfrm>
        </p:grpSpPr>
        <p:sp>
          <p:nvSpPr>
            <p:cNvPr id="30" name="TextBox 30"/>
            <p:cNvSpPr txBox="1"/>
            <p:nvPr/>
          </p:nvSpPr>
          <p:spPr>
            <a:xfrm>
              <a:off x="604266" y="6426200"/>
              <a:ext cx="9212454"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p. 5; Case p. 13, Exhibit 7 ($300m committed to each of Funds II–V); Inputs!C26, C34:C35; 750 ÷ 300 = 2.5. The two charts use independent scales.</a:t>
              </a:r>
            </a:p>
          </p:txBody>
        </p:sp>
        <p:sp>
          <p:nvSpPr>
            <p:cNvPr id="31" name="TextBox 3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45676" cy="244475"/>
            <a:chOff x="603504" y="546100"/>
            <a:chExt cx="1645676" cy="244475"/>
          </a:xfrm>
        </p:grpSpPr>
        <p:sp>
          <p:nvSpPr>
            <p:cNvPr id="2" name="TextBox 2"/>
            <p:cNvSpPr txBox="1"/>
            <p:nvPr/>
          </p:nvSpPr>
          <p:spPr>
            <a:xfrm>
              <a:off x="603504" y="546100"/>
              <a:ext cx="164567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OPERF'S POSITION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088325" cy="1043940"/>
            <a:chOff x="594360" y="812800"/>
            <a:chExt cx="8088325" cy="1043940"/>
          </a:xfrm>
        </p:grpSpPr>
        <p:sp>
          <p:nvSpPr>
            <p:cNvPr id="5" name="TextBox 5"/>
            <p:cNvSpPr txBox="1"/>
            <p:nvPr/>
          </p:nvSpPr>
          <p:spPr>
            <a:xfrm>
              <a:off x="594360" y="812800"/>
              <a:ext cx="8088325"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OPERF's TPG VI investment has reported TVPI</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of about 0.60×</a:t>
              </a:r>
            </a:p>
          </p:txBody>
        </p:sp>
      </p:grpSp>
      <p:grpSp>
        <p:nvGrpSpPr>
          <p:cNvPr id="12" name="tvpi-bars"/>
          <p:cNvGrpSpPr/>
          <p:nvPr/>
        </p:nvGrpSpPr>
        <p:grpSpPr>
          <a:xfrm>
            <a:off x="609600" y="1905000"/>
            <a:ext cx="7553325" cy="3048000"/>
            <a:chOff x="609600" y="1905000"/>
            <a:chExt cx="7553325" cy="3048000"/>
          </a:xfrm>
        </p:grpSpPr>
        <p:graphicFrame>
          <p:nvGraphicFramePr>
            <p:cNvPr id="7" name="tvpi-bars"/>
            <p:cNvGraphicFramePr>
              <a:graphicFrameLocks noGrp="1"/>
            </p:cNvGraphicFramePr>
            <p:nvPr/>
          </p:nvGraphicFramePr>
          <p:xfrm>
            <a:off x="609600" y="1905000"/>
            <a:ext cx="7391400" cy="3048000"/>
          </p:xfrm>
          <a:graphic>
            <a:graphicData uri="http://schemas.openxmlformats.org/drawingml/2006/chart">
              <c:chart xmlns:c="http://schemas.openxmlformats.org/drawingml/2006/chart" r:id="rId2"/>
            </a:graphicData>
          </a:graphic>
        </p:graphicFrame>
        <p:sp>
          <p:nvSpPr>
            <p:cNvPr id="8" name="Chart Note 8"/>
            <p:cNvSpPr txBox="1"/>
            <p:nvPr/>
          </p:nvSpPr>
          <p:spPr>
            <a:xfrm>
              <a:off x="7400925" y="2549842"/>
              <a:ext cx="7620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79.9</a:t>
              </a:r>
            </a:p>
          </p:txBody>
        </p:sp>
        <p:sp>
          <p:nvSpPr>
            <p:cNvPr id="9" name="Chart Note 9"/>
            <p:cNvSpPr txBox="1"/>
            <p:nvPr/>
          </p:nvSpPr>
          <p:spPr>
            <a:xfrm>
              <a:off x="5581650" y="3349942"/>
              <a:ext cx="7620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48.1</a:t>
              </a:r>
            </a:p>
          </p:txBody>
        </p:sp>
        <p:sp>
          <p:nvSpPr>
            <p:cNvPr id="10" name="Chart Note 10"/>
            <p:cNvSpPr txBox="1"/>
            <p:nvPr/>
          </p:nvSpPr>
          <p:spPr>
            <a:xfrm>
              <a:off x="3086100" y="2829878"/>
              <a:ext cx="1524000" cy="213360"/>
            </a:xfrm>
            <a:prstGeom prst="rect">
              <a:avLst/>
            </a:prstGeom>
            <a:noFill/>
            <a:ln>
              <a:noFill/>
            </a:ln>
          </p:spPr>
          <p:txBody>
            <a:bodyPr wrap="square" lIns="0" tIns="0" rIns="0" bIns="0" anchor="b" anchorCtr="0"/>
            <a:lstStyle/>
            <a:p>
              <a:pPr algn="l"/>
              <a:r>
                <a:rPr lang="en-US" sz="1050">
                  <a:solidFill>
                    <a:srgbClr val="5C6670"/>
                  </a:solidFill>
                  <a:latin typeface="Calibri"/>
                  <a:ea typeface="Microsoft YaHei"/>
                  <a:cs typeface="Calibri"/>
                </a:rPr>
                <a:t>Distributions 0.6</a:t>
              </a:r>
            </a:p>
          </p:txBody>
        </p:sp>
        <p:sp>
          <p:nvSpPr>
            <p:cNvPr id="11" name="Chart Note 11"/>
            <p:cNvSpPr txBox="1"/>
            <p:nvPr/>
          </p:nvSpPr>
          <p:spPr>
            <a:xfrm>
              <a:off x="3200400" y="3349942"/>
              <a:ext cx="1905000" cy="274320"/>
            </a:xfrm>
            <a:prstGeom prst="rect">
              <a:avLst/>
            </a:prstGeom>
            <a:noFill/>
            <a:ln>
              <a:noFill/>
            </a:ln>
          </p:spPr>
          <p:txBody>
            <a:bodyPr wrap="square" lIns="0" tIns="0" rIns="0" bIns="0" anchor="b" anchorCtr="0"/>
            <a:lstStyle/>
            <a:p>
              <a:pPr algn="ctr"/>
              <a:r>
                <a:rPr lang="en-US" sz="1350">
                  <a:solidFill>
                    <a:srgbClr val="003657"/>
                  </a:solidFill>
                  <a:latin typeface="Calibri"/>
                  <a:ea typeface="Microsoft YaHei"/>
                  <a:cs typeface="Calibri"/>
                </a:rPr>
                <a:t>Remaining FMV 47.5</a:t>
              </a:r>
            </a:p>
          </p:txBody>
        </p:sp>
      </p:grpSp>
      <p:grpSp>
        <p:nvGrpSpPr>
          <p:cNvPr id="19" name="hero-tvpi"/>
          <p:cNvGrpSpPr/>
          <p:nvPr/>
        </p:nvGrpSpPr>
        <p:grpSpPr>
          <a:xfrm>
            <a:off x="8153400" y="1905000"/>
            <a:ext cx="2321745" cy="3048000"/>
            <a:chOff x="8153400" y="1905000"/>
            <a:chExt cx="2321745" cy="3048000"/>
          </a:xfrm>
        </p:grpSpPr>
        <p:sp>
          <p:nvSpPr>
            <p:cNvPr id="13" name="Line 13"/>
            <p:cNvSpPr/>
            <p:nvPr/>
          </p:nvSpPr>
          <p:spPr>
            <a:xfrm>
              <a:off x="8153400" y="1905000"/>
              <a:ext cx="9525" cy="3048000"/>
            </a:xfrm>
            <a:custGeom>
              <a:avLst/>
              <a:gdLst/>
              <a:ahLst/>
              <a:cxnLst/>
              <a:rect l="l" t="t" r="r" b="b"/>
              <a:pathLst>
                <a:path w="9525" h="3048000">
                  <a:moveTo>
                    <a:pt x="0" y="0"/>
                  </a:moveTo>
                  <a:lnTo>
                    <a:pt x="0" y="3048000"/>
                  </a:lnTo>
                </a:path>
              </a:pathLst>
            </a:custGeom>
            <a:noFill/>
            <a:ln w="9525">
              <a:solidFill>
                <a:schemeClr val="accent6"/>
              </a:solidFill>
            </a:ln>
          </p:spPr>
        </p:sp>
        <p:sp>
          <p:nvSpPr>
            <p:cNvPr id="14" name="TextBox 14"/>
            <p:cNvSpPr txBox="1"/>
            <p:nvPr/>
          </p:nvSpPr>
          <p:spPr>
            <a:xfrm>
              <a:off x="8439150" y="2470150"/>
              <a:ext cx="2035995"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0.60×</a:t>
              </a:r>
            </a:p>
          </p:txBody>
        </p:sp>
        <p:sp>
          <p:nvSpPr>
            <p:cNvPr id="15" name="TextBox 15"/>
            <p:cNvSpPr txBox="1"/>
            <p:nvPr/>
          </p:nvSpPr>
          <p:spPr>
            <a:xfrm>
              <a:off x="8449818" y="3352800"/>
              <a:ext cx="134667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Reported TVPI</a:t>
              </a:r>
            </a:p>
          </p:txBody>
        </p:sp>
        <p:sp>
          <p:nvSpPr>
            <p:cNvPr id="16" name="TextBox 16"/>
            <p:cNvSpPr txBox="1"/>
            <p:nvPr/>
          </p:nvSpPr>
          <p:spPr>
            <a:xfrm>
              <a:off x="8451342" y="3683000"/>
              <a:ext cx="134374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(0.6 + 47.5) ÷ 79.9</a:t>
              </a:r>
            </a:p>
          </p:txBody>
        </p:sp>
        <p:sp>
          <p:nvSpPr>
            <p:cNvPr id="17" name="TextBox 17"/>
            <p:cNvSpPr txBox="1"/>
            <p:nvPr/>
          </p:nvSpPr>
          <p:spPr>
            <a:xfrm>
              <a:off x="8449818" y="4152900"/>
              <a:ext cx="169388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Reported IRR: NM</a:t>
              </a:r>
            </a:p>
          </p:txBody>
        </p:sp>
        <p:sp>
          <p:nvSpPr>
            <p:cNvPr id="18" name="TextBox 18"/>
            <p:cNvSpPr txBox="1"/>
            <p:nvPr/>
          </p:nvSpPr>
          <p:spPr>
            <a:xfrm>
              <a:off x="8451342" y="4445000"/>
              <a:ext cx="125074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(not meaningful)</a:t>
              </a:r>
            </a:p>
          </p:txBody>
        </p:sp>
      </p:grpSp>
      <p:grpSp>
        <p:nvGrpSpPr>
          <p:cNvPr id="21" name="snapshot-note"/>
          <p:cNvGrpSpPr/>
          <p:nvPr/>
        </p:nvGrpSpPr>
        <p:grpSpPr>
          <a:xfrm>
            <a:off x="602742" y="5359400"/>
            <a:ext cx="8163303" cy="264033"/>
            <a:chOff x="602742" y="5359400"/>
            <a:chExt cx="8163303" cy="264033"/>
          </a:xfrm>
        </p:grpSpPr>
        <p:sp>
          <p:nvSpPr>
            <p:cNvPr id="20" name="TextBox 20"/>
            <p:cNvSpPr txBox="1"/>
            <p:nvPr/>
          </p:nvSpPr>
          <p:spPr>
            <a:xfrm>
              <a:off x="602742" y="5359400"/>
              <a:ext cx="816330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Exhibit 7 snapshot — not comparable with the ten-year model IRR on the following slides, and not annualised.</a:t>
              </a:r>
            </a:p>
          </p:txBody>
        </p:sp>
      </p:grpSp>
      <p:grpSp>
        <p:nvGrpSpPr>
          <p:cNvPr id="24" name="footer"/>
          <p:cNvGrpSpPr/>
          <p:nvPr/>
        </p:nvGrpSpPr>
        <p:grpSpPr>
          <a:xfrm>
            <a:off x="604266" y="6426200"/>
            <a:ext cx="10983468" cy="291084"/>
            <a:chOff x="604266" y="6426200"/>
            <a:chExt cx="10983468" cy="291084"/>
          </a:xfrm>
        </p:grpSpPr>
        <p:sp>
          <p:nvSpPr>
            <p:cNvPr id="22" name="TextBox 22"/>
            <p:cNvSpPr txBox="1"/>
            <p:nvPr/>
          </p:nvSpPr>
          <p:spPr>
            <a:xfrm>
              <a:off x="604266" y="6426200"/>
              <a:ext cx="646834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p. 13, Exhibit 7; Inputs!C28:C30; (0.6 + 47.5) ÷ 79.9 = 0.602. Not described as a "realised 40% loss".</a:t>
              </a:r>
            </a:p>
          </p:txBody>
        </p:sp>
        <p:sp>
          <p:nvSpPr>
            <p:cNvPr id="23" name="TextBox 2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422381" cy="586740"/>
            <a:chOff x="594360" y="812800"/>
            <a:chExt cx="6422381" cy="586740"/>
          </a:xfrm>
        </p:grpSpPr>
        <p:sp>
          <p:nvSpPr>
            <p:cNvPr id="5" name="TextBox 5"/>
            <p:cNvSpPr txBox="1"/>
            <p:nvPr/>
          </p:nvSpPr>
          <p:spPr>
            <a:xfrm>
              <a:off x="594360" y="812800"/>
              <a:ext cx="642238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Ten-year cash-flow assumptions</a:t>
              </a:r>
            </a:p>
          </p:txBody>
        </p:sp>
      </p:grpSp>
      <p:graphicFrame>
        <p:nvGraphicFramePr>
          <p:cNvPr id="7" name="assumptions-table"/>
          <p:cNvGraphicFramePr>
            <a:graphicFrameLocks noGrp="1"/>
          </p:cNvGraphicFramePr>
          <p:nvPr/>
        </p:nvGraphicFramePr>
        <p:xfrm>
          <a:off x="609600" y="1714500"/>
          <a:ext cx="10972800" cy="3543300"/>
        </p:xfrm>
        <a:graphic>
          <a:graphicData uri="http://schemas.openxmlformats.org/drawingml/2006/table">
            <a:tbl>
              <a:tblPr firstRow="1" bandRow="0">
                <a:tableStyleId>{5C22544A-7EE6-4342-B048-85BDC9FD1C3A}</a:tableStyleId>
              </a:tblPr>
              <a:tblGrid>
                <a:gridCol w="2409825"/>
                <a:gridCol w="5819775"/>
                <a:gridCol w="2743200"/>
              </a:tblGrid>
              <a:tr h="419100">
                <a:tc>
                  <a:txBody>
                    <a:bodyPr/>
                    <a:lstStyle/>
                    <a:p>
                      <a:pPr/>
                      <a:r>
                        <a:rPr lang="en-US" sz="1500" b="1">
                          <a:solidFill>
                            <a:srgbClr val="FBF8F2"/>
                          </a:solidFill>
                          <a:latin typeface="Calibri"/>
                          <a:ea typeface="Microsoft YaHei"/>
                          <a:cs typeface="Calibri"/>
                        </a:rPr>
                        <a:t>Component</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Model assumption</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Basis / status</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495300">
                <a:tc>
                  <a:txBody>
                    <a:bodyPr/>
                    <a:lstStyle/>
                    <a:p>
                      <a:pPr/>
                      <a:r>
                        <a:rPr lang="en-US" sz="1500" b="1">
                          <a:solidFill>
                            <a:schemeClr val="accent1"/>
                          </a:solidFill>
                          <a:latin typeface="Calibri"/>
                          <a:ea typeface="Microsoft YaHei"/>
                          <a:cs typeface="Calibri"/>
                        </a:rPr>
                        <a:t>Fund and calls</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$20bn; $4bn at the start of Years 1–5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accent5"/>
                          </a:solidFill>
                          <a:latin typeface="Calibri"/>
                          <a:ea typeface="Microsoft YaHei"/>
                          <a:cs typeface="Calibri"/>
                        </a:rPr>
                        <a:t>Question / model input</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95300">
                <a:tc>
                  <a:txBody>
                    <a:bodyPr/>
                    <a:lstStyle/>
                    <a:p>
                      <a:pPr/>
                      <a:r>
                        <a:rPr lang="en-US" sz="1500" b="1">
                          <a:solidFill>
                            <a:schemeClr val="accent1"/>
                          </a:solidFill>
                          <a:latin typeface="Calibri"/>
                          <a:ea typeface="Microsoft YaHei"/>
                          <a:cs typeface="Calibri"/>
                        </a:rPr>
                        <a:t>Management fee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1.50% of commitments, paid in advance in Years 1–10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accent5"/>
                          </a:solidFill>
                          <a:latin typeface="Calibri"/>
                          <a:ea typeface="Microsoft YaHei"/>
                          <a:cs typeface="Calibri"/>
                        </a:rPr>
                        <a:t>Baseline fee, fixed model treatment</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r h="495300">
                <a:tc>
                  <a:txBody>
                    <a:bodyPr/>
                    <a:lstStyle/>
                    <a:p>
                      <a:pPr/>
                      <a:r>
                        <a:rPr lang="en-US" sz="1500" b="1">
                          <a:solidFill>
                            <a:schemeClr val="accent1"/>
                          </a:solidFill>
                          <a:latin typeface="Calibri"/>
                          <a:ea typeface="Microsoft YaHei"/>
                          <a:cs typeface="Calibri"/>
                        </a:rPr>
                        <a:t>Asset growth</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20% per year</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accent5"/>
                          </a:solidFill>
                          <a:latin typeface="Calibri"/>
                          <a:ea typeface="Microsoft YaHei"/>
                          <a:cs typeface="Calibri"/>
                        </a:rPr>
                        <a:t>Prescribed assumption</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95300">
                <a:tc>
                  <a:txBody>
                    <a:bodyPr/>
                    <a:lstStyle/>
                    <a:p>
                      <a:pPr/>
                      <a:r>
                        <a:rPr lang="en-US" sz="1500" b="1">
                          <a:solidFill>
                            <a:schemeClr val="accent1"/>
                          </a:solidFill>
                          <a:latin typeface="Calibri"/>
                          <a:ea typeface="Microsoft YaHei"/>
                          <a:cs typeface="Calibri"/>
                        </a:rPr>
                        <a:t>Exits</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20% at year-end in Years 5–9; full liquidation in Year 10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accent5"/>
                          </a:solidFill>
                          <a:latin typeface="Calibri"/>
                          <a:ea typeface="Microsoft YaHei"/>
                          <a:cs typeface="Calibri"/>
                        </a:rPr>
                        <a:t>Fixed model schedule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r h="571500">
                <a:tc>
                  <a:txBody>
                    <a:bodyPr/>
                    <a:lstStyle/>
                    <a:p>
                      <a:pPr/>
                      <a:r>
                        <a:rPr lang="en-US" sz="1500" b="1">
                          <a:solidFill>
                            <a:schemeClr val="accent1"/>
                          </a:solidFill>
                          <a:latin typeface="Calibri"/>
                          <a:ea typeface="Microsoft YaHei"/>
                          <a:cs typeface="Calibri"/>
                        </a:rPr>
                        <a:t>Distribution</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Return contributed capital first; remaining profit split 80% LP / 20% GP</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accent5"/>
                          </a:solidFill>
                          <a:latin typeface="Calibri"/>
                          <a:ea typeface="Microsoft YaHei"/>
                          <a:cs typeface="Calibri"/>
                        </a:rPr>
                        <a:t>No-hurdle baseline</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571500">
                <a:tc>
                  <a:txBody>
                    <a:bodyPr/>
                    <a:lstStyle/>
                    <a:p>
                      <a:pPr/>
                      <a:r>
                        <a:rPr lang="en-US" sz="1500" b="1">
                          <a:solidFill>
                            <a:schemeClr val="accent1"/>
                          </a:solidFill>
                          <a:latin typeface="Calibri"/>
                          <a:ea typeface="Microsoft YaHei"/>
                          <a:cs typeface="Calibri"/>
                        </a:rPr>
                        <a:t>Valuation</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Model inception (t=0), 15% assumed discount rate, OPERF model share 3.75%</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accent5"/>
                          </a:solidFill>
                          <a:latin typeface="Calibri"/>
                          <a:ea typeface="Microsoft YaHei"/>
                          <a:cs typeface="Calibri"/>
                        </a:rPr>
                        <a:t>Assumed rate, proportional model share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bl>
          </a:graphicData>
        </a:graphic>
      </p:graphicFrame>
      <p:grpSp>
        <p:nvGrpSpPr>
          <p:cNvPr id="10" name="valuation-notes"/>
          <p:cNvGrpSpPr/>
          <p:nvPr/>
        </p:nvGrpSpPr>
        <p:grpSpPr>
          <a:xfrm>
            <a:off x="602742" y="5454650"/>
            <a:ext cx="6890055" cy="511683"/>
            <a:chOff x="602742" y="5454650"/>
            <a:chExt cx="6890055" cy="511683"/>
          </a:xfrm>
        </p:grpSpPr>
        <p:sp>
          <p:nvSpPr>
            <p:cNvPr id="8" name="TextBox 8"/>
            <p:cNvSpPr txBox="1"/>
            <p:nvPr/>
          </p:nvSpPr>
          <p:spPr>
            <a:xfrm>
              <a:off x="602742" y="5454650"/>
              <a:ext cx="3942502"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NPV at model inception; 15% assumed discount rate.</a:t>
              </a:r>
            </a:p>
          </p:txBody>
        </p:sp>
        <p:sp>
          <p:nvSpPr>
            <p:cNvPr id="9" name="TextBox 9"/>
            <p:cNvSpPr txBox="1"/>
            <p:nvPr/>
          </p:nvSpPr>
          <p:spPr>
            <a:xfrm>
              <a:off x="602742" y="5702300"/>
              <a:ext cx="6890055"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Baseline model assumes no hurdle; TPG VI's exact preferred-return terms are not confirmed.</a:t>
              </a:r>
            </a:p>
          </p:txBody>
        </p:sp>
      </p:grpSp>
      <p:grpSp>
        <p:nvGrpSpPr>
          <p:cNvPr id="13" name="footer"/>
          <p:cNvGrpSpPr/>
          <p:nvPr/>
        </p:nvGrpSpPr>
        <p:grpSpPr>
          <a:xfrm>
            <a:off x="604266" y="6350000"/>
            <a:ext cx="10983468" cy="367284"/>
            <a:chOff x="604266" y="6350000"/>
            <a:chExt cx="10983468" cy="367284"/>
          </a:xfrm>
        </p:grpSpPr>
        <p:sp>
          <p:nvSpPr>
            <p:cNvPr id="11" name="TextBox 11"/>
            <p:cNvSpPr txBox="1"/>
            <p:nvPr/>
          </p:nvSpPr>
          <p:spPr>
            <a:xfrm>
              <a:off x="604266" y="6350000"/>
              <a:ext cx="818897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Inputs!C6:C9, C13:L14, C18, C20, C26; Q3 Base case!C63; Case pp. 1, 6. The case's actual fund size is $19.8bn; the question's model uses $20bn.</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TPG's own commitment is not modelled as a separate investor cash flow.</a:t>
              </a:r>
            </a:p>
          </p:txBody>
        </p:sp>
        <p:sp>
          <p:nvSpPr>
            <p:cNvPr id="12" name="TextBox 12"/>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797448" cy="1043940"/>
            <a:chOff x="594360" y="812800"/>
            <a:chExt cx="5797448" cy="1043940"/>
          </a:xfrm>
        </p:grpSpPr>
        <p:sp>
          <p:nvSpPr>
            <p:cNvPr id="5" name="TextBox 5"/>
            <p:cNvSpPr txBox="1"/>
            <p:nvPr/>
          </p:nvSpPr>
          <p:spPr>
            <a:xfrm>
              <a:off x="594360" y="812800"/>
              <a:ext cx="5797448"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42% of modeled LP distributions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arrive in Year 10</a:t>
              </a:r>
            </a:p>
          </p:txBody>
        </p:sp>
      </p:grpSp>
      <p:grpSp>
        <p:nvGrpSpPr>
          <p:cNvPr id="12" name="lp-net-cash-flow"/>
          <p:cNvGrpSpPr/>
          <p:nvPr/>
        </p:nvGrpSpPr>
        <p:grpSpPr>
          <a:xfrm>
            <a:off x="609600" y="1905000"/>
            <a:ext cx="7620000" cy="4191000"/>
            <a:chOff x="609600" y="1905000"/>
            <a:chExt cx="7620000" cy="4191000"/>
          </a:xfrm>
        </p:grpSpPr>
        <p:graphicFrame>
          <p:nvGraphicFramePr>
            <p:cNvPr id="7" name="lp-net-cash-flow"/>
            <p:cNvGraphicFramePr>
              <a:graphicFrameLocks noGrp="1"/>
            </p:cNvGraphicFramePr>
            <p:nvPr/>
          </p:nvGraphicFramePr>
          <p:xfrm>
            <a:off x="609600" y="1905000"/>
            <a:ext cx="7620000" cy="4191000"/>
          </p:xfrm>
          <a:graphic>
            <a:graphicData uri="http://schemas.openxmlformats.org/drawingml/2006/chart">
              <c:chart xmlns:c="http://schemas.openxmlformats.org/drawingml/2006/chart" r:id="rId2"/>
            </a:graphicData>
          </a:graphic>
        </p:graphicFrame>
        <p:sp>
          <p:nvSpPr>
            <p:cNvPr id="8" name="Chart Note 8"/>
            <p:cNvSpPr txBox="1"/>
            <p:nvPr/>
          </p:nvSpPr>
          <p:spPr>
            <a:xfrm>
              <a:off x="2038350" y="5534978"/>
              <a:ext cx="1905000" cy="213360"/>
            </a:xfrm>
            <a:prstGeom prst="rect">
              <a:avLst/>
            </a:prstGeom>
            <a:noFill/>
            <a:ln>
              <a:noFill/>
            </a:ln>
          </p:spPr>
          <p:txBody>
            <a:bodyPr wrap="square" lIns="0" tIns="0" rIns="0" bIns="0" anchor="b" anchorCtr="0"/>
            <a:lstStyle/>
            <a:p>
              <a:pPr algn="ctr"/>
              <a:r>
                <a:rPr lang="en-US" sz="1050">
                  <a:solidFill>
                    <a:srgbClr val="5C6670"/>
                  </a:solidFill>
                  <a:latin typeface="Calibri"/>
                  <a:ea typeface="Microsoft YaHei"/>
                  <a:cs typeface="Calibri"/>
                </a:rPr>
                <a:t>Five calls of $4bn</a:t>
              </a:r>
            </a:p>
          </p:txBody>
        </p:sp>
        <p:sp>
          <p:nvSpPr>
            <p:cNvPr id="9" name="Chart Note 9"/>
            <p:cNvSpPr txBox="1"/>
            <p:nvPr/>
          </p:nvSpPr>
          <p:spPr>
            <a:xfrm>
              <a:off x="3524250" y="3706178"/>
              <a:ext cx="2095500" cy="213360"/>
            </a:xfrm>
            <a:prstGeom prst="rect">
              <a:avLst/>
            </a:prstGeom>
            <a:noFill/>
            <a:ln>
              <a:noFill/>
            </a:ln>
          </p:spPr>
          <p:txBody>
            <a:bodyPr wrap="square" lIns="0" tIns="0" rIns="0" bIns="0" anchor="b" anchorCtr="0"/>
            <a:lstStyle/>
            <a:p>
              <a:pPr algn="ctr"/>
              <a:r>
                <a:rPr lang="en-US" sz="1050">
                  <a:solidFill>
                    <a:srgbClr val="5C6670"/>
                  </a:solidFill>
                  <a:latin typeface="Calibri"/>
                  <a:ea typeface="Microsoft YaHei"/>
                  <a:cs typeface="Calibri"/>
                </a:rPr>
                <a:t>First distribution $6.61bn</a:t>
              </a:r>
            </a:p>
          </p:txBody>
        </p:sp>
        <p:sp>
          <p:nvSpPr>
            <p:cNvPr id="10" name="Chart Note 10"/>
            <p:cNvSpPr txBox="1"/>
            <p:nvPr/>
          </p:nvSpPr>
          <p:spPr>
            <a:xfrm>
              <a:off x="6953250" y="2359342"/>
              <a:ext cx="1143000" cy="274320"/>
            </a:xfrm>
            <a:prstGeom prst="rect">
              <a:avLst/>
            </a:prstGeom>
            <a:noFill/>
            <a:ln>
              <a:noFill/>
            </a:ln>
          </p:spPr>
          <p:txBody>
            <a:bodyPr wrap="square" lIns="0" tIns="0" rIns="0" bIns="0" anchor="b" anchorCtr="0"/>
            <a:lstStyle/>
            <a:p>
              <a:pPr algn="r"/>
              <a:r>
                <a:rPr lang="en-US" sz="1350" b="1">
                  <a:solidFill>
                    <a:srgbClr val="003657"/>
                  </a:solidFill>
                  <a:latin typeface="Calibri"/>
                  <a:ea typeface="Microsoft YaHei"/>
                  <a:cs typeface="Calibri"/>
                </a:rPr>
                <a:t>$20.22bn</a:t>
              </a:r>
            </a:p>
          </p:txBody>
        </p:sp>
        <p:sp>
          <p:nvSpPr>
            <p:cNvPr id="11" name="Chart Note 11"/>
            <p:cNvSpPr txBox="1"/>
            <p:nvPr/>
          </p:nvSpPr>
          <p:spPr>
            <a:xfrm>
              <a:off x="5810250" y="2201228"/>
              <a:ext cx="2286000" cy="213360"/>
            </a:xfrm>
            <a:prstGeom prst="rect">
              <a:avLst/>
            </a:prstGeom>
            <a:noFill/>
            <a:ln>
              <a:noFill/>
            </a:ln>
          </p:spPr>
          <p:txBody>
            <a:bodyPr wrap="square" lIns="0" tIns="0" rIns="0" bIns="0" anchor="b" anchorCtr="0"/>
            <a:lstStyle/>
            <a:p>
              <a:pPr algn="r"/>
              <a:r>
                <a:rPr lang="en-US" sz="1050">
                  <a:solidFill>
                    <a:srgbClr val="5C6670"/>
                  </a:solidFill>
                  <a:latin typeface="Calibri"/>
                  <a:ea typeface="Microsoft YaHei"/>
                  <a:cs typeface="Calibri"/>
                </a:rPr>
                <a:t>42% of nominal LP distributions</a:t>
              </a:r>
            </a:p>
          </p:txBody>
        </p:sp>
      </p:grpSp>
      <p:grpSp>
        <p:nvGrpSpPr>
          <p:cNvPr id="19" name="timing-facts"/>
          <p:cNvGrpSpPr/>
          <p:nvPr/>
        </p:nvGrpSpPr>
        <p:grpSpPr>
          <a:xfrm>
            <a:off x="8564118" y="2019300"/>
            <a:ext cx="2584066" cy="2411857"/>
            <a:chOff x="8564118" y="2019300"/>
            <a:chExt cx="2584066" cy="2411857"/>
          </a:xfrm>
        </p:grpSpPr>
        <p:sp>
          <p:nvSpPr>
            <p:cNvPr id="13" name="Line 13"/>
            <p:cNvSpPr/>
            <p:nvPr/>
          </p:nvSpPr>
          <p:spPr>
            <a:xfrm>
              <a:off x="8572500" y="2019300"/>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14" name="TextBox 14"/>
            <p:cNvSpPr txBox="1"/>
            <p:nvPr/>
          </p:nvSpPr>
          <p:spPr>
            <a:xfrm>
              <a:off x="8564118" y="2108200"/>
              <a:ext cx="2301592"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Calls occur at t = 0–4;</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distributions begin at t = 5.</a:t>
              </a:r>
            </a:p>
          </p:txBody>
        </p:sp>
        <p:sp>
          <p:nvSpPr>
            <p:cNvPr id="15" name="Line 15"/>
            <p:cNvSpPr/>
            <p:nvPr/>
          </p:nvSpPr>
          <p:spPr>
            <a:xfrm>
              <a:off x="8572500" y="2876550"/>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16" name="TextBox 16"/>
            <p:cNvSpPr txBox="1"/>
            <p:nvPr/>
          </p:nvSpPr>
          <p:spPr>
            <a:xfrm>
              <a:off x="8564118" y="2965450"/>
              <a:ext cx="1994099"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Year 10 LP distribution:</a:t>
              </a:r>
              <a:br>
                <a:rPr lang="en-US" sz="1650" dirty="0">
                  <a:solidFill>
                    <a:schemeClr val="accent1"/>
                  </a:solidFill>
                  <a:latin typeface="+mn-lt"/>
                  <a:ea typeface="+mn-ea"/>
                  <a:cs typeface="+mn-cs"/>
                </a:rPr>
              </a:br>
              <a:r>
                <a:rPr lang="en-US" sz="1650" b="1" dirty="0">
                  <a:solidFill>
                    <a:schemeClr val="accent1"/>
                  </a:solidFill>
                  <a:latin typeface="+mn-lt"/>
                  <a:ea typeface="+mn-ea"/>
                  <a:cs typeface="+mn-cs"/>
                </a:rPr>
                <a:t>$20.22bn</a:t>
              </a:r>
            </a:p>
          </p:txBody>
        </p:sp>
        <p:sp>
          <p:nvSpPr>
            <p:cNvPr id="17" name="Line 17"/>
            <p:cNvSpPr/>
            <p:nvPr/>
          </p:nvSpPr>
          <p:spPr>
            <a:xfrm>
              <a:off x="8572500" y="3733800"/>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18" name="TextBox 18"/>
            <p:cNvSpPr txBox="1"/>
            <p:nvPr/>
          </p:nvSpPr>
          <p:spPr>
            <a:xfrm>
              <a:off x="8564118" y="3822700"/>
              <a:ext cx="258406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Year 10 share of total nominal</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 xml:space="preserve">LP distributions: </a:t>
              </a:r>
              <a:r>
                <a:rPr lang="en-US" sz="1650" b="1" dirty="0">
                  <a:solidFill>
                    <a:schemeClr val="accent1"/>
                  </a:solidFill>
                  <a:latin typeface="+mn-lt"/>
                  <a:ea typeface="+mn-ea"/>
                  <a:cs typeface="+mn-cs"/>
                </a:rPr>
                <a:t>42.07%</a:t>
              </a:r>
            </a:p>
          </p:txBody>
        </p:sp>
      </p:grpSp>
      <p:grpSp>
        <p:nvGrpSpPr>
          <p:cNvPr id="22" name="footer"/>
          <p:cNvGrpSpPr/>
          <p:nvPr/>
        </p:nvGrpSpPr>
        <p:grpSpPr>
          <a:xfrm>
            <a:off x="604266" y="6350000"/>
            <a:ext cx="10983468" cy="367284"/>
            <a:chOff x="604266" y="6350000"/>
            <a:chExt cx="10983468" cy="367284"/>
          </a:xfrm>
        </p:grpSpPr>
        <p:sp>
          <p:nvSpPr>
            <p:cNvPr id="20" name="TextBox 20"/>
            <p:cNvSpPr txBox="1"/>
            <p:nvPr/>
          </p:nvSpPr>
          <p:spPr>
            <a:xfrm>
              <a:off x="604266" y="6350000"/>
              <a:ext cx="8003387"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Base case!B41:L43, L35, C53; 20,223.07 ÷ 48,070.52 = 42.07%. LP distributions are after carry; fees are already reflected through smaller</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invested assets, so nothing is deducted twice. 42.07% is a share of nominal, not present-value, distributions.</a:t>
              </a:r>
            </a:p>
          </p:txBody>
        </p:sp>
        <p:sp>
          <p:nvSpPr>
            <p:cNvPr id="21" name="TextBox 2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313627" cy="1043940"/>
            <a:chOff x="594360" y="812800"/>
            <a:chExt cx="6313627" cy="1043940"/>
          </a:xfrm>
        </p:grpSpPr>
        <p:sp>
          <p:nvSpPr>
            <p:cNvPr id="5" name="TextBox 5"/>
            <p:cNvSpPr txBox="1"/>
            <p:nvPr/>
          </p:nvSpPr>
          <p:spPr>
            <a:xfrm>
              <a:off x="594360" y="812800"/>
              <a:ext cx="6313627"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Management fees reduce the capital</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available to invest</a:t>
              </a:r>
            </a:p>
          </p:txBody>
        </p:sp>
      </p:grpSp>
      <p:grpSp>
        <p:nvGrpSpPr>
          <p:cNvPr id="10" name="first-call-use"/>
          <p:cNvGrpSpPr/>
          <p:nvPr/>
        </p:nvGrpSpPr>
        <p:grpSpPr>
          <a:xfrm>
            <a:off x="609600" y="2247900"/>
            <a:ext cx="10972800" cy="1905000"/>
            <a:chOff x="609600" y="2247900"/>
            <a:chExt cx="10972800" cy="1905000"/>
          </a:xfrm>
        </p:grpSpPr>
        <p:graphicFrame>
          <p:nvGraphicFramePr>
            <p:cNvPr id="7" name="first-call-use"/>
            <p:cNvGraphicFramePr>
              <a:graphicFrameLocks noGrp="1"/>
            </p:cNvGraphicFramePr>
            <p:nvPr/>
          </p:nvGraphicFramePr>
          <p:xfrm>
            <a:off x="609600" y="2247900"/>
            <a:ext cx="10972800" cy="1905000"/>
          </p:xfrm>
          <a:graphic>
            <a:graphicData uri="http://schemas.openxmlformats.org/drawingml/2006/chart">
              <c:chart xmlns:c="http://schemas.openxmlformats.org/drawingml/2006/chart" r:id="rId2"/>
            </a:graphicData>
          </a:graphic>
        </p:graphicFrame>
        <p:sp>
          <p:nvSpPr>
            <p:cNvPr id="8" name="Chart Note 8"/>
            <p:cNvSpPr txBox="1"/>
            <p:nvPr/>
          </p:nvSpPr>
          <p:spPr>
            <a:xfrm>
              <a:off x="4076700" y="2984182"/>
              <a:ext cx="2857500" cy="335280"/>
            </a:xfrm>
            <a:prstGeom prst="rect">
              <a:avLst/>
            </a:prstGeom>
            <a:noFill/>
            <a:ln>
              <a:noFill/>
            </a:ln>
          </p:spPr>
          <p:txBody>
            <a:bodyPr wrap="square" lIns="0" tIns="0" rIns="0" bIns="0" anchor="b" anchorCtr="0"/>
            <a:lstStyle/>
            <a:p>
              <a:pPr algn="ctr"/>
              <a:r>
                <a:rPr lang="en-US" sz="1650" b="1">
                  <a:solidFill>
                    <a:srgbClr val="FBF8F2"/>
                  </a:solidFill>
                  <a:latin typeface="Calibri"/>
                  <a:ea typeface="Microsoft YaHei"/>
                  <a:cs typeface="Calibri"/>
                </a:rPr>
                <a:t>Capital invested $3,700m</a:t>
              </a:r>
            </a:p>
          </p:txBody>
        </p:sp>
        <p:sp>
          <p:nvSpPr>
            <p:cNvPr id="9" name="Chart Note 9"/>
            <p:cNvSpPr txBox="1"/>
            <p:nvPr/>
          </p:nvSpPr>
          <p:spPr>
            <a:xfrm>
              <a:off x="8724900" y="3578542"/>
              <a:ext cx="2476500" cy="274320"/>
            </a:xfrm>
            <a:prstGeom prst="rect">
              <a:avLst/>
            </a:prstGeom>
            <a:noFill/>
            <a:ln>
              <a:noFill/>
            </a:ln>
          </p:spPr>
          <p:txBody>
            <a:bodyPr wrap="square" lIns="0" tIns="0" rIns="0" bIns="0" anchor="b" anchorCtr="0"/>
            <a:lstStyle/>
            <a:p>
              <a:pPr algn="r"/>
              <a:r>
                <a:rPr lang="en-US" sz="1350" b="1">
                  <a:solidFill>
                    <a:srgbClr val="BC9E60"/>
                  </a:solidFill>
                  <a:latin typeface="Calibri"/>
                  <a:ea typeface="Microsoft YaHei"/>
                  <a:cs typeface="Calibri"/>
                </a:rPr>
                <a:t>Management fee $300m</a:t>
              </a:r>
            </a:p>
          </p:txBody>
        </p:sp>
      </p:grpSp>
      <p:grpSp>
        <p:nvGrpSpPr>
          <p:cNvPr id="14" name="call-facts"/>
          <p:cNvGrpSpPr/>
          <p:nvPr/>
        </p:nvGrpSpPr>
        <p:grpSpPr>
          <a:xfrm>
            <a:off x="601218" y="4819650"/>
            <a:ext cx="4368304" cy="894207"/>
            <a:chOff x="601218" y="4819650"/>
            <a:chExt cx="4368304" cy="894207"/>
          </a:xfrm>
        </p:grpSpPr>
        <p:sp>
          <p:nvSpPr>
            <p:cNvPr id="11" name="TextBox 11"/>
            <p:cNvSpPr txBox="1"/>
            <p:nvPr/>
          </p:nvSpPr>
          <p:spPr>
            <a:xfrm>
              <a:off x="601218" y="4819650"/>
              <a:ext cx="329650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Annual fee: </a:t>
              </a:r>
              <a:r>
                <a:rPr lang="en-US" sz="1650" b="1" dirty="0">
                  <a:solidFill>
                    <a:schemeClr val="accent1"/>
                  </a:solidFill>
                  <a:latin typeface="+mn-lt"/>
                  <a:ea typeface="+mn-ea"/>
                  <a:cs typeface="+mn-cs"/>
                </a:rPr>
                <a:t>$20bn × 1.50% = $300m</a:t>
              </a:r>
            </a:p>
          </p:txBody>
        </p:sp>
        <p:sp>
          <p:nvSpPr>
            <p:cNvPr id="12" name="TextBox 12"/>
            <p:cNvSpPr txBox="1"/>
            <p:nvPr/>
          </p:nvSpPr>
          <p:spPr>
            <a:xfrm>
              <a:off x="601218" y="5105400"/>
              <a:ext cx="436830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First call: </a:t>
              </a:r>
              <a:r>
                <a:rPr lang="en-US" sz="1650" b="1" dirty="0">
                  <a:solidFill>
                    <a:schemeClr val="accent1"/>
                  </a:solidFill>
                  <a:latin typeface="+mn-lt"/>
                  <a:ea typeface="+mn-ea"/>
                  <a:cs typeface="+mn-cs"/>
                </a:rPr>
                <a:t>$4,000m − $300m = $3,700m invested</a:t>
              </a:r>
            </a:p>
          </p:txBody>
        </p:sp>
        <p:sp>
          <p:nvSpPr>
            <p:cNvPr id="13" name="TextBox 13"/>
            <p:cNvSpPr txBox="1"/>
            <p:nvPr/>
          </p:nvSpPr>
          <p:spPr>
            <a:xfrm>
              <a:off x="601218" y="5391150"/>
              <a:ext cx="413864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The fee base includes uncalled commitments.</a:t>
              </a:r>
            </a:p>
          </p:txBody>
        </p:sp>
      </p:grpSp>
      <p:grpSp>
        <p:nvGrpSpPr>
          <p:cNvPr id="16" name="takeaway"/>
          <p:cNvGrpSpPr/>
          <p:nvPr/>
        </p:nvGrpSpPr>
        <p:grpSpPr>
          <a:xfrm>
            <a:off x="599694" y="5810250"/>
            <a:ext cx="3191116" cy="381381"/>
            <a:chOff x="599694" y="5810250"/>
            <a:chExt cx="3191116" cy="381381"/>
          </a:xfrm>
        </p:grpSpPr>
        <p:sp>
          <p:nvSpPr>
            <p:cNvPr id="15" name="TextBox 15"/>
            <p:cNvSpPr txBox="1"/>
            <p:nvPr/>
          </p:nvSpPr>
          <p:spPr>
            <a:xfrm>
              <a:off x="599694" y="5810250"/>
              <a:ext cx="3191116"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Less capital remains invested.</a:t>
              </a:r>
            </a:p>
          </p:txBody>
        </p:sp>
      </p:grpSp>
      <p:grpSp>
        <p:nvGrpSpPr>
          <p:cNvPr id="19" name="footer"/>
          <p:cNvGrpSpPr/>
          <p:nvPr/>
        </p:nvGrpSpPr>
        <p:grpSpPr>
          <a:xfrm>
            <a:off x="604266" y="6426200"/>
            <a:ext cx="10983468" cy="291084"/>
            <a:chOff x="604266" y="6426200"/>
            <a:chExt cx="10983468" cy="291084"/>
          </a:xfrm>
        </p:grpSpPr>
        <p:sp>
          <p:nvSpPr>
            <p:cNvPr id="17" name="TextBox 17"/>
            <p:cNvSpPr txBox="1"/>
            <p:nvPr/>
          </p:nvSpPr>
          <p:spPr>
            <a:xfrm>
              <a:off x="604266" y="6426200"/>
              <a:ext cx="921355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Inputs!C6, C18; Q3 Base case!C15:C17, C20:C21. 7.5% is the share of the first call used for the fee, not the fee rate; the contractual model rate is 1.50%.</a:t>
              </a:r>
            </a:p>
          </p:txBody>
        </p:sp>
        <p:sp>
          <p:nvSpPr>
            <p:cNvPr id="18" name="TextBox 1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214429" cy="586740"/>
            <a:chOff x="594360" y="812800"/>
            <a:chExt cx="8214429" cy="586740"/>
          </a:xfrm>
        </p:grpSpPr>
        <p:sp>
          <p:nvSpPr>
            <p:cNvPr id="5" name="TextBox 5"/>
            <p:cNvSpPr txBox="1"/>
            <p:nvPr/>
          </p:nvSpPr>
          <p:spPr>
            <a:xfrm>
              <a:off x="594360" y="812800"/>
              <a:ext cx="821442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Capital is returned before profit is shared</a:t>
              </a:r>
            </a:p>
          </p:txBody>
        </p:sp>
      </p:grpSp>
      <p:grpSp>
        <p:nvGrpSpPr>
          <p:cNvPr id="13" name="year8-distribution"/>
          <p:cNvGrpSpPr/>
          <p:nvPr/>
        </p:nvGrpSpPr>
        <p:grpSpPr>
          <a:xfrm>
            <a:off x="609600" y="1714500"/>
            <a:ext cx="10972800" cy="1485900"/>
            <a:chOff x="609600" y="1714500"/>
            <a:chExt cx="10972800" cy="1485900"/>
          </a:xfrm>
        </p:grpSpPr>
        <p:graphicFrame>
          <p:nvGraphicFramePr>
            <p:cNvPr id="7" name="year8-distribution"/>
            <p:cNvGraphicFramePr>
              <a:graphicFrameLocks noGrp="1"/>
            </p:cNvGraphicFramePr>
            <p:nvPr/>
          </p:nvGraphicFramePr>
          <p:xfrm>
            <a:off x="609600" y="1714500"/>
            <a:ext cx="10972800" cy="1485900"/>
          </p:xfrm>
          <a:graphic>
            <a:graphicData uri="http://schemas.openxmlformats.org/drawingml/2006/chart">
              <c:chart xmlns:c="http://schemas.openxmlformats.org/drawingml/2006/chart" r:id="rId2"/>
            </a:graphicData>
          </a:graphic>
        </p:graphicFrame>
        <p:sp>
          <p:nvSpPr>
            <p:cNvPr id="8" name="Chart Note 8"/>
            <p:cNvSpPr txBox="1"/>
            <p:nvPr/>
          </p:nvSpPr>
          <p:spPr>
            <a:xfrm>
              <a:off x="752475" y="2530792"/>
              <a:ext cx="19050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Returned capital</a:t>
              </a:r>
            </a:p>
          </p:txBody>
        </p:sp>
        <p:sp>
          <p:nvSpPr>
            <p:cNvPr id="9" name="Chart Note 9"/>
            <p:cNvSpPr txBox="1"/>
            <p:nvPr/>
          </p:nvSpPr>
          <p:spPr>
            <a:xfrm>
              <a:off x="1133475" y="2740342"/>
              <a:ext cx="1143000" cy="274320"/>
            </a:xfrm>
            <a:prstGeom prst="rect">
              <a:avLst/>
            </a:prstGeom>
            <a:noFill/>
            <a:ln>
              <a:noFill/>
            </a:ln>
          </p:spPr>
          <p:txBody>
            <a:bodyPr wrap="square" lIns="0" tIns="0" rIns="0" bIns="0" anchor="b" anchorCtr="0"/>
            <a:lstStyle/>
            <a:p>
              <a:pPr algn="ctr"/>
              <a:r>
                <a:rPr lang="en-US" sz="1350">
                  <a:solidFill>
                    <a:srgbClr val="003657"/>
                  </a:solidFill>
                  <a:latin typeface="Calibri"/>
                  <a:ea typeface="Microsoft YaHei"/>
                  <a:cs typeface="Calibri"/>
                </a:rPr>
                <a:t>$1.171bn</a:t>
              </a:r>
            </a:p>
          </p:txBody>
        </p:sp>
        <p:sp>
          <p:nvSpPr>
            <p:cNvPr id="10" name="Chart Note 10"/>
            <p:cNvSpPr txBox="1"/>
            <p:nvPr/>
          </p:nvSpPr>
          <p:spPr>
            <a:xfrm>
              <a:off x="5019675" y="2603182"/>
              <a:ext cx="2286000" cy="335280"/>
            </a:xfrm>
            <a:prstGeom prst="rect">
              <a:avLst/>
            </a:prstGeom>
            <a:noFill/>
            <a:ln>
              <a:noFill/>
            </a:ln>
          </p:spPr>
          <p:txBody>
            <a:bodyPr wrap="square" lIns="0" tIns="0" rIns="0" bIns="0" anchor="b" anchorCtr="0"/>
            <a:lstStyle/>
            <a:p>
              <a:pPr algn="ctr"/>
              <a:r>
                <a:rPr lang="en-US" sz="1650" b="1">
                  <a:solidFill>
                    <a:srgbClr val="FBF8F2"/>
                  </a:solidFill>
                  <a:latin typeface="Calibri"/>
                  <a:ea typeface="Microsoft YaHei"/>
                  <a:cs typeface="Calibri"/>
                </a:rPr>
                <a:t>LP profit $3.574bn</a:t>
              </a:r>
            </a:p>
          </p:txBody>
        </p:sp>
        <p:sp>
          <p:nvSpPr>
            <p:cNvPr id="11" name="Chart Note 11"/>
            <p:cNvSpPr txBox="1"/>
            <p:nvPr/>
          </p:nvSpPr>
          <p:spPr>
            <a:xfrm>
              <a:off x="9791700" y="2530792"/>
              <a:ext cx="114300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GP carry</a:t>
              </a:r>
            </a:p>
          </p:txBody>
        </p:sp>
        <p:sp>
          <p:nvSpPr>
            <p:cNvPr id="12" name="Chart Note 12"/>
            <p:cNvSpPr txBox="1"/>
            <p:nvPr/>
          </p:nvSpPr>
          <p:spPr>
            <a:xfrm>
              <a:off x="9791700" y="2740342"/>
              <a:ext cx="1143000" cy="274320"/>
            </a:xfrm>
            <a:prstGeom prst="rect">
              <a:avLst/>
            </a:prstGeom>
            <a:noFill/>
            <a:ln>
              <a:noFill/>
            </a:ln>
          </p:spPr>
          <p:txBody>
            <a:bodyPr wrap="square" lIns="0" tIns="0" rIns="0" bIns="0" anchor="b" anchorCtr="0"/>
            <a:lstStyle/>
            <a:p>
              <a:pPr algn="ctr"/>
              <a:r>
                <a:rPr lang="en-US" sz="1350">
                  <a:solidFill>
                    <a:srgbClr val="FBF8F2"/>
                  </a:solidFill>
                  <a:latin typeface="Calibri"/>
                  <a:ea typeface="Microsoft YaHei"/>
                  <a:cs typeface="Calibri"/>
                </a:rPr>
                <a:t>$0.894bn</a:t>
              </a:r>
            </a:p>
          </p:txBody>
        </p:sp>
      </p:grpSp>
      <p:grpSp>
        <p:nvGrpSpPr>
          <p:cNvPr id="16" name="profit-pool"/>
          <p:cNvGrpSpPr/>
          <p:nvPr/>
        </p:nvGrpSpPr>
        <p:grpSpPr>
          <a:xfrm>
            <a:off x="2809875" y="3238500"/>
            <a:ext cx="8391525" cy="4291013"/>
            <a:chOff x="2809875" y="3238500"/>
            <a:chExt cx="8391525" cy="4291013"/>
          </a:xfrm>
        </p:grpSpPr>
        <p:sp>
          <p:nvSpPr>
            <p:cNvPr id="14" name="Freeform 14"/>
            <p:cNvSpPr/>
            <p:nvPr/>
          </p:nvSpPr>
          <p:spPr>
            <a:xfrm rot="-5400000">
              <a:off x="6910388" y="-862012"/>
              <a:ext cx="190500" cy="8391525"/>
            </a:xfrm>
            <a:prstGeom prst="leftBrace">
              <a:avLst/>
            </a:prstGeom>
            <a:noFill/>
            <a:ln w="14288">
              <a:solidFill>
                <a:schemeClr val="accent1"/>
              </a:solidFill>
            </a:ln>
          </p:spPr>
        </p:sp>
        <p:sp>
          <p:nvSpPr>
            <p:cNvPr id="15" name="TextBox 15"/>
            <p:cNvSpPr txBox="1"/>
            <p:nvPr/>
          </p:nvSpPr>
          <p:spPr>
            <a:xfrm>
              <a:off x="5502382" y="3568700"/>
              <a:ext cx="300651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Profit pool $4.468bn · 80% LP / 20% GP</a:t>
              </a:r>
            </a:p>
          </p:txBody>
        </p:sp>
      </p:grpSp>
      <p:grpSp>
        <p:nvGrpSpPr>
          <p:cNvPr id="20" name="receipts"/>
          <p:cNvGrpSpPr/>
          <p:nvPr/>
        </p:nvGrpSpPr>
        <p:grpSpPr>
          <a:xfrm>
            <a:off x="601218" y="4076700"/>
            <a:ext cx="8048796" cy="322707"/>
            <a:chOff x="601218" y="4076700"/>
            <a:chExt cx="8048796" cy="322707"/>
          </a:xfrm>
        </p:grpSpPr>
        <p:sp>
          <p:nvSpPr>
            <p:cNvPr id="17" name="TextBox 17"/>
            <p:cNvSpPr txBox="1"/>
            <p:nvPr/>
          </p:nvSpPr>
          <p:spPr>
            <a:xfrm>
              <a:off x="601218" y="4076700"/>
              <a:ext cx="194284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LP receipts $4.745bn</a:t>
              </a:r>
            </a:p>
          </p:txBody>
        </p:sp>
        <p:sp>
          <p:nvSpPr>
            <p:cNvPr id="18" name="TextBox 18"/>
            <p:cNvSpPr txBox="1"/>
            <p:nvPr/>
          </p:nvSpPr>
          <p:spPr>
            <a:xfrm>
              <a:off x="2812542" y="4102100"/>
              <a:ext cx="21392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 returned capital + LP profit</a:t>
              </a:r>
            </a:p>
          </p:txBody>
        </p:sp>
        <p:sp>
          <p:nvSpPr>
            <p:cNvPr id="19" name="TextBox 19"/>
            <p:cNvSpPr txBox="1"/>
            <p:nvPr/>
          </p:nvSpPr>
          <p:spPr>
            <a:xfrm>
              <a:off x="6659118" y="4076700"/>
              <a:ext cx="1990896"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GP receipts $0.894bn</a:t>
              </a:r>
            </a:p>
          </p:txBody>
        </p:sp>
      </p:grpSp>
      <p:grpSp>
        <p:nvGrpSpPr>
          <p:cNvPr id="23" name="distribution-facts"/>
          <p:cNvGrpSpPr/>
          <p:nvPr/>
        </p:nvGrpSpPr>
        <p:grpSpPr>
          <a:xfrm>
            <a:off x="602742" y="4749800"/>
            <a:ext cx="8572744" cy="530733"/>
            <a:chOff x="602742" y="4749800"/>
            <a:chExt cx="8572744" cy="530733"/>
          </a:xfrm>
        </p:grpSpPr>
        <p:sp>
          <p:nvSpPr>
            <p:cNvPr id="21" name="TextBox 21"/>
            <p:cNvSpPr txBox="1"/>
            <p:nvPr/>
          </p:nvSpPr>
          <p:spPr>
            <a:xfrm>
              <a:off x="602742" y="4749800"/>
              <a:ext cx="85727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Return remaining capital first ($1,171.10m); split the remaining profit of $4,467.88m 80% to LPs and 20% to the GP.</a:t>
              </a:r>
            </a:p>
          </p:txBody>
        </p:sp>
        <p:sp>
          <p:nvSpPr>
            <p:cNvPr id="22" name="TextBox 22"/>
            <p:cNvSpPr txBox="1"/>
            <p:nvPr/>
          </p:nvSpPr>
          <p:spPr>
            <a:xfrm>
              <a:off x="602742" y="5016500"/>
              <a:ext cx="69552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Year 8 baseline example · no-hurdle model · labels rounded; $0.01m differences are rounding.</a:t>
              </a:r>
            </a:p>
          </p:txBody>
        </p:sp>
      </p:grpSp>
      <p:grpSp>
        <p:nvGrpSpPr>
          <p:cNvPr id="26" name="footer"/>
          <p:cNvGrpSpPr/>
          <p:nvPr/>
        </p:nvGrpSpPr>
        <p:grpSpPr>
          <a:xfrm>
            <a:off x="604266" y="6426200"/>
            <a:ext cx="10983468" cy="291084"/>
            <a:chOff x="604266" y="6426200"/>
            <a:chExt cx="10983468" cy="291084"/>
          </a:xfrm>
        </p:grpSpPr>
        <p:sp>
          <p:nvSpPr>
            <p:cNvPr id="24" name="TextBox 24"/>
            <p:cNvSpPr txBox="1"/>
            <p:nvPr/>
          </p:nvSpPr>
          <p:spPr>
            <a:xfrm>
              <a:off x="604266" y="6426200"/>
              <a:ext cx="799482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case!J23, J27:J28, J34:J36. The waterfall describes this model only; the 15% discount rate is not a distribution hurdle here.</a:t>
              </a:r>
            </a:p>
          </p:txBody>
        </p:sp>
        <p:sp>
          <p:nvSpPr>
            <p:cNvPr id="25" name="TextBox 2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259725" cy="586740"/>
            <a:chOff x="594360" y="812800"/>
            <a:chExt cx="8259725" cy="586740"/>
          </a:xfrm>
        </p:grpSpPr>
        <p:sp>
          <p:nvSpPr>
            <p:cNvPr id="5" name="TextBox 5"/>
            <p:cNvSpPr txBox="1"/>
            <p:nvPr/>
          </p:nvSpPr>
          <p:spPr>
            <a:xfrm>
              <a:off x="594360" y="812800"/>
              <a:ext cx="825972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Fees and carry reduce LP IRR to 15.72%</a:t>
              </a:r>
            </a:p>
          </p:txBody>
        </p:sp>
      </p:grpSp>
      <p:grpSp>
        <p:nvGrpSpPr>
          <p:cNvPr id="15" name="irr-bridge"/>
          <p:cNvGrpSpPr/>
          <p:nvPr/>
        </p:nvGrpSpPr>
        <p:grpSpPr>
          <a:xfrm>
            <a:off x="609600" y="1714500"/>
            <a:ext cx="10972800" cy="4191000"/>
            <a:chOff x="609600" y="1714500"/>
            <a:chExt cx="10972800" cy="4191000"/>
          </a:xfrm>
        </p:grpSpPr>
        <p:graphicFrame>
          <p:nvGraphicFramePr>
            <p:cNvPr id="7" name="irr-bridge"/>
            <p:cNvGraphicFramePr>
              <a:graphicFrameLocks noGrp="1"/>
            </p:cNvGraphicFramePr>
            <p:nvPr/>
          </p:nvGraphicFramePr>
          <p:xfrm>
            <a:off x="609600" y="1714500"/>
            <a:ext cx="10972800" cy="4191000"/>
          </p:xfrm>
          <a:graphic>
            <a:graphicData uri="http://schemas.microsoft.com/office/drawing/2014/chartex">
              <cx:chart xmlns:cx="http://schemas.microsoft.com/office/drawing/2014/chartex" xmlns:r="http://schemas.openxmlformats.org/officeDocument/2006/relationships" r:id="rId2"/>
            </a:graphicData>
          </a:graphic>
        </p:graphicFrame>
        <p:sp>
          <p:nvSpPr>
            <p:cNvPr id="8" name="Chart Note 8"/>
            <p:cNvSpPr txBox="1"/>
            <p:nvPr/>
          </p:nvSpPr>
          <p:spPr>
            <a:xfrm>
              <a:off x="609600" y="1730692"/>
              <a:ext cx="38100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Total modeled reduction: about 428 bps</a:t>
              </a:r>
            </a:p>
          </p:txBody>
        </p:sp>
        <p:sp>
          <p:nvSpPr>
            <p:cNvPr id="9" name="Chart Note 9"/>
            <p:cNvSpPr txBox="1"/>
            <p:nvPr/>
          </p:nvSpPr>
          <p:spPr>
            <a:xfrm>
              <a:off x="2000250" y="2168842"/>
              <a:ext cx="9525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20.00%</a:t>
              </a:r>
            </a:p>
          </p:txBody>
        </p:sp>
        <p:sp>
          <p:nvSpPr>
            <p:cNvPr id="10" name="Chart Note 10"/>
            <p:cNvSpPr txBox="1"/>
            <p:nvPr/>
          </p:nvSpPr>
          <p:spPr>
            <a:xfrm>
              <a:off x="4191000" y="2194560"/>
              <a:ext cx="1524000" cy="243840"/>
            </a:xfrm>
            <a:prstGeom prst="rect">
              <a:avLst/>
            </a:prstGeom>
            <a:noFill/>
            <a:ln>
              <a:noFill/>
            </a:ln>
          </p:spPr>
          <p:txBody>
            <a:bodyPr wrap="square" lIns="0" tIns="0" rIns="0" bIns="0" anchor="b" anchorCtr="0"/>
            <a:lstStyle/>
            <a:p>
              <a:pPr algn="ctr"/>
              <a:r>
                <a:rPr lang="en-US" sz="1200" b="1">
                  <a:solidFill>
                    <a:srgbClr val="A33D3D"/>
                  </a:solidFill>
                  <a:latin typeface="Calibri"/>
                  <a:ea typeface="Microsoft YaHei"/>
                  <a:cs typeface="Calibri"/>
                </a:rPr>
                <a:t>about −220 bps</a:t>
              </a:r>
            </a:p>
          </p:txBody>
        </p:sp>
        <p:sp>
          <p:nvSpPr>
            <p:cNvPr id="11" name="Chart Note 11"/>
            <p:cNvSpPr txBox="1"/>
            <p:nvPr/>
          </p:nvSpPr>
          <p:spPr>
            <a:xfrm>
              <a:off x="4476750" y="2797492"/>
              <a:ext cx="9525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17.80%</a:t>
              </a:r>
            </a:p>
          </p:txBody>
        </p:sp>
        <p:sp>
          <p:nvSpPr>
            <p:cNvPr id="12" name="Chart Note 12"/>
            <p:cNvSpPr txBox="1"/>
            <p:nvPr/>
          </p:nvSpPr>
          <p:spPr>
            <a:xfrm>
              <a:off x="6667500" y="2480310"/>
              <a:ext cx="1524000" cy="243840"/>
            </a:xfrm>
            <a:prstGeom prst="rect">
              <a:avLst/>
            </a:prstGeom>
            <a:noFill/>
            <a:ln>
              <a:noFill/>
            </a:ln>
          </p:spPr>
          <p:txBody>
            <a:bodyPr wrap="square" lIns="0" tIns="0" rIns="0" bIns="0" anchor="b" anchorCtr="0"/>
            <a:lstStyle/>
            <a:p>
              <a:pPr algn="ctr"/>
              <a:r>
                <a:rPr lang="en-US" sz="1200" b="1">
                  <a:solidFill>
                    <a:srgbClr val="A33D3D"/>
                  </a:solidFill>
                  <a:latin typeface="Calibri"/>
                  <a:ea typeface="Microsoft YaHei"/>
                  <a:cs typeface="Calibri"/>
                </a:rPr>
                <a:t>about −208 bps</a:t>
              </a:r>
            </a:p>
          </p:txBody>
        </p:sp>
        <p:sp>
          <p:nvSpPr>
            <p:cNvPr id="13" name="Chart Note 13"/>
            <p:cNvSpPr txBox="1"/>
            <p:nvPr/>
          </p:nvSpPr>
          <p:spPr>
            <a:xfrm>
              <a:off x="9429750" y="2730818"/>
              <a:ext cx="9525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15.72%</a:t>
              </a:r>
            </a:p>
          </p:txBody>
        </p:sp>
        <p:sp>
          <p:nvSpPr>
            <p:cNvPr id="14" name="Chart Note 14"/>
            <p:cNvSpPr txBox="1"/>
            <p:nvPr/>
          </p:nvSpPr>
          <p:spPr>
            <a:xfrm>
              <a:off x="2286000" y="5554028"/>
              <a:ext cx="7620000" cy="213360"/>
            </a:xfrm>
            <a:prstGeom prst="rect">
              <a:avLst/>
            </a:prstGeom>
            <a:noFill/>
            <a:ln>
              <a:noFill/>
            </a:ln>
          </p:spPr>
          <p:txBody>
            <a:bodyPr wrap="square" lIns="0" tIns="0" rIns="0" bIns="0" anchor="b" anchorCtr="0"/>
            <a:lstStyle/>
            <a:p>
              <a:pPr algn="ctr"/>
              <a:r>
                <a:rPr lang="en-US" sz="1050">
                  <a:solidFill>
                    <a:srgbClr val="5C6670"/>
                  </a:solidFill>
                  <a:latin typeface="Calibri"/>
                  <a:ea typeface="Microsoft YaHei"/>
                  <a:cs typeface="Calibri"/>
                </a:rPr>
                <a:t>Sequential scenario differences: management fees added first, then carry. LP IRR, %.</a:t>
              </a:r>
            </a:p>
          </p:txBody>
        </p:sp>
      </p:grpSp>
      <p:grpSp>
        <p:nvGrpSpPr>
          <p:cNvPr id="18" name="footer"/>
          <p:cNvGrpSpPr/>
          <p:nvPr/>
        </p:nvGrpSpPr>
        <p:grpSpPr>
          <a:xfrm>
            <a:off x="604266" y="6350000"/>
            <a:ext cx="10983468" cy="367284"/>
            <a:chOff x="604266" y="6350000"/>
            <a:chExt cx="10983468" cy="367284"/>
          </a:xfrm>
        </p:grpSpPr>
        <p:sp>
          <p:nvSpPr>
            <p:cNvPr id="16" name="TextBox 16"/>
            <p:cNvSpPr txBox="1"/>
            <p:nvPr/>
          </p:nvSpPr>
          <p:spPr>
            <a:xfrm>
              <a:off x="604266" y="6350000"/>
              <a:ext cx="816151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Analysis!B18:B20, C19:C21. Step heights come from recomputed IRRs (−219.51 bps, −208.23 bps; total −427.74 bps), not from the 1.50% or</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20% contract rates. The split depends on the order in which fees and carry are added; 15.72% is after both.</a:t>
              </a:r>
            </a:p>
          </p:txBody>
        </p:sp>
        <p:sp>
          <p:nvSpPr>
            <p:cNvPr id="17" name="TextBox 17"/>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7505471" cy="1043940"/>
            <a:chOff x="594360" y="812800"/>
            <a:chExt cx="7505471" cy="1043940"/>
          </a:xfrm>
        </p:grpSpPr>
        <p:sp>
          <p:nvSpPr>
            <p:cNvPr id="5" name="TextBox 5"/>
            <p:cNvSpPr txBox="1"/>
            <p:nvPr/>
          </p:nvSpPr>
          <p:spPr>
            <a:xfrm>
              <a:off x="594360" y="812800"/>
              <a:ext cx="750547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LP IRR exceeds the 15% model benchmark</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by about 0.72 percentage points</a:t>
              </a:r>
            </a:p>
          </p:txBody>
        </p:sp>
      </p:grpSp>
      <p:grpSp>
        <p:nvGrpSpPr>
          <p:cNvPr id="8" name="standfirst"/>
          <p:cNvGrpSpPr/>
          <p:nvPr/>
        </p:nvGrpSpPr>
        <p:grpSpPr>
          <a:xfrm>
            <a:off x="601218" y="1841500"/>
            <a:ext cx="5636371" cy="608457"/>
            <a:chOff x="601218" y="1841500"/>
            <a:chExt cx="5636371" cy="608457"/>
          </a:xfrm>
        </p:grpSpPr>
        <p:sp>
          <p:nvSpPr>
            <p:cNvPr id="7" name="TextBox 7"/>
            <p:cNvSpPr txBox="1"/>
            <p:nvPr/>
          </p:nvSpPr>
          <p:spPr>
            <a:xfrm>
              <a:off x="601218" y="1841500"/>
              <a:ext cx="563637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Under the prescribed assumptions, LP IRR exceeds the 15% model</a:t>
              </a:r>
              <a:br>
                <a:rPr lang="en-US" sz="1650" dirty="0">
                  <a:solidFill>
                    <a:schemeClr val="dk1"/>
                  </a:solidFill>
                  <a:latin typeface="+mn-lt"/>
                  <a:ea typeface="+mn-ea"/>
                  <a:cs typeface="+mn-cs"/>
                </a:rPr>
              </a:br>
              <a:r>
                <a:rPr lang="en-US" sz="1650" dirty="0">
                  <a:solidFill>
                    <a:schemeClr val="dk1"/>
                  </a:solidFill>
                  <a:latin typeface="+mn-lt"/>
                  <a:ea typeface="+mn-ea"/>
                  <a:cs typeface="+mn-cs"/>
                </a:rPr>
                <a:t>benchmark by approximately 0.72 percentage points.</a:t>
              </a:r>
            </a:p>
          </p:txBody>
        </p:sp>
      </p:grpSp>
      <p:grpSp>
        <p:nvGrpSpPr>
          <p:cNvPr id="31" name="irr-benchmark-dot"/>
          <p:cNvGrpSpPr/>
          <p:nvPr/>
        </p:nvGrpSpPr>
        <p:grpSpPr>
          <a:xfrm>
            <a:off x="771354" y="2882900"/>
            <a:ext cx="6839293" cy="1291209"/>
            <a:chOff x="771354" y="2882900"/>
            <a:chExt cx="6839293" cy="1291209"/>
          </a:xfrm>
        </p:grpSpPr>
        <p:grpSp>
          <p:nvGrpSpPr>
            <p:cNvPr id="30" name="irr-benchmark-dot-chartArea"/>
            <p:cNvGrpSpPr/>
            <p:nvPr/>
          </p:nvGrpSpPr>
          <p:grpSpPr>
            <a:xfrm>
              <a:off x="771354" y="2882900"/>
              <a:ext cx="6839293" cy="1291209"/>
              <a:chOff x="771354" y="2882900"/>
              <a:chExt cx="6839293" cy="1291209"/>
            </a:xfrm>
          </p:grpSpPr>
          <p:sp>
            <p:nvSpPr>
              <p:cNvPr id="9" name="Line 9"/>
              <p:cNvSpPr/>
              <p:nvPr/>
            </p:nvSpPr>
            <p:spPr>
              <a:xfrm>
                <a:off x="952500" y="3810000"/>
                <a:ext cx="6477000" cy="9525"/>
              </a:xfrm>
              <a:custGeom>
                <a:avLst/>
                <a:gdLst/>
                <a:ahLst/>
                <a:cxnLst/>
                <a:rect l="l" t="t" r="r" b="b"/>
                <a:pathLst>
                  <a:path w="6477000" h="9525">
                    <a:moveTo>
                      <a:pt x="0" y="0"/>
                    </a:moveTo>
                    <a:lnTo>
                      <a:pt x="6477000" y="0"/>
                    </a:lnTo>
                  </a:path>
                </a:pathLst>
              </a:custGeom>
              <a:noFill/>
              <a:ln w="14288">
                <a:solidFill>
                  <a:srgbClr val="5C6670"/>
                </a:solidFill>
              </a:ln>
            </p:spPr>
          </p:sp>
          <p:grpSp>
            <p:nvGrpSpPr>
              <p:cNvPr id="16" name="Group 16"/>
              <p:cNvGrpSpPr/>
              <p:nvPr/>
            </p:nvGrpSpPr>
            <p:grpSpPr>
              <a:xfrm>
                <a:off x="952500" y="3810000"/>
                <a:ext cx="6486525" cy="95250"/>
                <a:chOff x="952500" y="3810000"/>
                <a:chExt cx="6486525" cy="95250"/>
              </a:xfrm>
            </p:grpSpPr>
            <p:sp>
              <p:nvSpPr>
                <p:cNvPr id="10" name="Line 10"/>
                <p:cNvSpPr/>
                <p:nvPr/>
              </p:nvSpPr>
              <p:spPr>
                <a:xfrm>
                  <a:off x="9525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1" name="Line 11"/>
                <p:cNvSpPr/>
                <p:nvPr/>
              </p:nvSpPr>
              <p:spPr>
                <a:xfrm>
                  <a:off x="22479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2" name="Line 12"/>
                <p:cNvSpPr/>
                <p:nvPr/>
              </p:nvSpPr>
              <p:spPr>
                <a:xfrm>
                  <a:off x="35433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3" name="Line 13"/>
                <p:cNvSpPr/>
                <p:nvPr/>
              </p:nvSpPr>
              <p:spPr>
                <a:xfrm>
                  <a:off x="48387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4" name="Line 14"/>
                <p:cNvSpPr/>
                <p:nvPr/>
              </p:nvSpPr>
              <p:spPr>
                <a:xfrm>
                  <a:off x="61341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5" name="Line 15"/>
                <p:cNvSpPr/>
                <p:nvPr/>
              </p:nvSpPr>
              <p:spPr>
                <a:xfrm>
                  <a:off x="7429500" y="3810000"/>
                  <a:ext cx="9525" cy="95250"/>
                </a:xfrm>
                <a:custGeom>
                  <a:avLst/>
                  <a:gdLst/>
                  <a:ahLst/>
                  <a:cxnLst/>
                  <a:rect l="l" t="t" r="r" b="b"/>
                  <a:pathLst>
                    <a:path w="9525" h="95250">
                      <a:moveTo>
                        <a:pt x="0" y="0"/>
                      </a:moveTo>
                      <a:lnTo>
                        <a:pt x="0" y="95250"/>
                      </a:lnTo>
                    </a:path>
                  </a:pathLst>
                </a:custGeom>
                <a:noFill/>
                <a:ln w="9525">
                  <a:solidFill>
                    <a:srgbClr val="5C6670"/>
                  </a:solidFill>
                </a:ln>
              </p:spPr>
            </p:sp>
          </p:grpSp>
          <p:grpSp>
            <p:nvGrpSpPr>
              <p:cNvPr id="23" name="Group 23"/>
              <p:cNvGrpSpPr/>
              <p:nvPr/>
            </p:nvGrpSpPr>
            <p:grpSpPr>
              <a:xfrm>
                <a:off x="771354" y="3968750"/>
                <a:ext cx="6839293" cy="205359"/>
                <a:chOff x="771354" y="3968750"/>
                <a:chExt cx="6839293" cy="205359"/>
              </a:xfrm>
            </p:grpSpPr>
            <p:sp>
              <p:nvSpPr>
                <p:cNvPr id="17" name="TextBox 17"/>
                <p:cNvSpPr txBox="1"/>
                <p:nvPr/>
              </p:nvSpPr>
              <p:spPr>
                <a:xfrm>
                  <a:off x="7713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14.0%</a:t>
                  </a:r>
                </a:p>
              </p:txBody>
            </p:sp>
            <p:sp>
              <p:nvSpPr>
                <p:cNvPr id="18" name="TextBox 18"/>
                <p:cNvSpPr txBox="1"/>
                <p:nvPr/>
              </p:nvSpPr>
              <p:spPr>
                <a:xfrm>
                  <a:off x="20667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14.5%</a:t>
                  </a:r>
                </a:p>
              </p:txBody>
            </p:sp>
            <p:sp>
              <p:nvSpPr>
                <p:cNvPr id="19" name="TextBox 19"/>
                <p:cNvSpPr txBox="1"/>
                <p:nvPr/>
              </p:nvSpPr>
              <p:spPr>
                <a:xfrm>
                  <a:off x="33621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15.0%</a:t>
                  </a:r>
                </a:p>
              </p:txBody>
            </p:sp>
            <p:sp>
              <p:nvSpPr>
                <p:cNvPr id="20" name="TextBox 20"/>
                <p:cNvSpPr txBox="1"/>
                <p:nvPr/>
              </p:nvSpPr>
              <p:spPr>
                <a:xfrm>
                  <a:off x="46575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15.5%</a:t>
                  </a:r>
                </a:p>
              </p:txBody>
            </p:sp>
            <p:sp>
              <p:nvSpPr>
                <p:cNvPr id="21" name="TextBox 21"/>
                <p:cNvSpPr txBox="1"/>
                <p:nvPr/>
              </p:nvSpPr>
              <p:spPr>
                <a:xfrm>
                  <a:off x="59529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16.0%</a:t>
                  </a:r>
                </a:p>
              </p:txBody>
            </p:sp>
            <p:sp>
              <p:nvSpPr>
                <p:cNvPr id="22" name="TextBox 22"/>
                <p:cNvSpPr txBox="1"/>
                <p:nvPr/>
              </p:nvSpPr>
              <p:spPr>
                <a:xfrm>
                  <a:off x="72483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16.5%</a:t>
                  </a:r>
                </a:p>
              </p:txBody>
            </p:sp>
          </p:grpSp>
          <p:sp>
            <p:nvSpPr>
              <p:cNvPr id="24" name="Line 24"/>
              <p:cNvSpPr/>
              <p:nvPr/>
            </p:nvSpPr>
            <p:spPr>
              <a:xfrm>
                <a:off x="3543300" y="3390900"/>
                <a:ext cx="9525" cy="419100"/>
              </a:xfrm>
              <a:custGeom>
                <a:avLst/>
                <a:gdLst/>
                <a:ahLst/>
                <a:cxnLst/>
                <a:rect l="l" t="t" r="r" b="b"/>
                <a:pathLst>
                  <a:path w="9525" h="419100">
                    <a:moveTo>
                      <a:pt x="0" y="0"/>
                    </a:moveTo>
                    <a:lnTo>
                      <a:pt x="0" y="419100"/>
                    </a:lnTo>
                  </a:path>
                </a:pathLst>
              </a:custGeom>
              <a:noFill/>
              <a:ln w="19050">
                <a:solidFill>
                  <a:srgbClr val="5C6670"/>
                </a:solidFill>
                <a:prstDash val="dash"/>
              </a:ln>
            </p:spPr>
          </p:sp>
          <p:sp>
            <p:nvSpPr>
              <p:cNvPr id="25" name="TextBox 25"/>
              <p:cNvSpPr txBox="1"/>
              <p:nvPr/>
            </p:nvSpPr>
            <p:spPr>
              <a:xfrm>
                <a:off x="2522691" y="3155950"/>
                <a:ext cx="2041218"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Assumed discount rate 15.00%</a:t>
                </a:r>
              </a:p>
            </p:txBody>
          </p:sp>
          <p:sp>
            <p:nvSpPr>
              <p:cNvPr id="26" name="Line 26"/>
              <p:cNvSpPr/>
              <p:nvPr/>
            </p:nvSpPr>
            <p:spPr>
              <a:xfrm>
                <a:off x="3543300" y="3810000"/>
                <a:ext cx="1871662" cy="9525"/>
              </a:xfrm>
              <a:custGeom>
                <a:avLst/>
                <a:gdLst/>
                <a:ahLst/>
                <a:cxnLst/>
                <a:rect l="l" t="t" r="r" b="b"/>
                <a:pathLst>
                  <a:path w="1871662" h="9525">
                    <a:moveTo>
                      <a:pt x="0" y="0"/>
                    </a:moveTo>
                    <a:lnTo>
                      <a:pt x="1871662" y="0"/>
                    </a:lnTo>
                  </a:path>
                </a:pathLst>
              </a:custGeom>
              <a:noFill/>
              <a:ln w="38100">
                <a:solidFill>
                  <a:schemeClr val="accent1"/>
                </a:solidFill>
              </a:ln>
            </p:spPr>
          </p:sp>
          <p:sp>
            <p:nvSpPr>
              <p:cNvPr id="27" name="TextBox 27"/>
              <p:cNvSpPr txBox="1"/>
              <p:nvPr/>
            </p:nvSpPr>
            <p:spPr>
              <a:xfrm>
                <a:off x="3560153" y="2882900"/>
                <a:ext cx="1833194"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+0.72 percentage points</a:t>
                </a:r>
              </a:p>
            </p:txBody>
          </p:sp>
          <p:sp>
            <p:nvSpPr>
              <p:cNvPr id="28" name="Ellipse 28"/>
              <p:cNvSpPr/>
              <p:nvPr/>
            </p:nvSpPr>
            <p:spPr>
              <a:xfrm>
                <a:off x="5319712" y="3714750"/>
                <a:ext cx="190500" cy="190500"/>
              </a:xfrm>
              <a:prstGeom prst="ellipse">
                <a:avLst/>
              </a:prstGeom>
              <a:solidFill>
                <a:schemeClr val="accent1"/>
              </a:solidFill>
              <a:ln>
                <a:noFill/>
              </a:ln>
            </p:spPr>
          </p:sp>
          <p:sp>
            <p:nvSpPr>
              <p:cNvPr id="29" name="TextBox 29"/>
              <p:cNvSpPr txBox="1"/>
              <p:nvPr/>
            </p:nvSpPr>
            <p:spPr>
              <a:xfrm>
                <a:off x="4692155" y="3416300"/>
                <a:ext cx="1445615"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Net LP IRR 15.72%</a:t>
                </a:r>
              </a:p>
            </p:txBody>
          </p:sp>
        </p:grpSp>
      </p:grpSp>
      <p:grpSp>
        <p:nvGrpSpPr>
          <p:cNvPr id="35" name="hero-npv"/>
          <p:cNvGrpSpPr/>
          <p:nvPr/>
        </p:nvGrpSpPr>
        <p:grpSpPr>
          <a:xfrm>
            <a:off x="8153400" y="2667000"/>
            <a:ext cx="3422503" cy="1714500"/>
            <a:chOff x="8153400" y="2667000"/>
            <a:chExt cx="3422503" cy="1714500"/>
          </a:xfrm>
        </p:grpSpPr>
        <p:sp>
          <p:nvSpPr>
            <p:cNvPr id="32" name="Line 32"/>
            <p:cNvSpPr/>
            <p:nvPr/>
          </p:nvSpPr>
          <p:spPr>
            <a:xfrm>
              <a:off x="8153400" y="2667000"/>
              <a:ext cx="9525" cy="1714500"/>
            </a:xfrm>
            <a:custGeom>
              <a:avLst/>
              <a:gdLst/>
              <a:ahLst/>
              <a:cxnLst/>
              <a:rect l="l" t="t" r="r" b="b"/>
              <a:pathLst>
                <a:path w="9525" h="1714500">
                  <a:moveTo>
                    <a:pt x="0" y="0"/>
                  </a:moveTo>
                  <a:lnTo>
                    <a:pt x="0" y="1714500"/>
                  </a:lnTo>
                </a:path>
              </a:pathLst>
            </a:custGeom>
            <a:noFill/>
            <a:ln w="9525">
              <a:solidFill>
                <a:schemeClr val="accent6"/>
              </a:solidFill>
            </a:ln>
          </p:spPr>
        </p:sp>
        <p:sp>
          <p:nvSpPr>
            <p:cNvPr id="33" name="TextBox 33"/>
            <p:cNvSpPr txBox="1"/>
            <p:nvPr/>
          </p:nvSpPr>
          <p:spPr>
            <a:xfrm>
              <a:off x="8439150" y="3003550"/>
              <a:ext cx="3136753"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$21.68m</a:t>
              </a:r>
            </a:p>
          </p:txBody>
        </p:sp>
        <p:sp>
          <p:nvSpPr>
            <p:cNvPr id="34" name="TextBox 34"/>
            <p:cNvSpPr txBox="1"/>
            <p:nvPr/>
          </p:nvSpPr>
          <p:spPr>
            <a:xfrm>
              <a:off x="8449818" y="3867150"/>
              <a:ext cx="253477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Positive OPERF NPV at 15%</a:t>
              </a:r>
            </a:p>
          </p:txBody>
        </p:sp>
      </p:grpSp>
      <p:grpSp>
        <p:nvGrpSpPr>
          <p:cNvPr id="39" name="benchmark-notes"/>
          <p:cNvGrpSpPr/>
          <p:nvPr/>
        </p:nvGrpSpPr>
        <p:grpSpPr>
          <a:xfrm>
            <a:off x="602742" y="5016500"/>
            <a:ext cx="7930638" cy="778383"/>
            <a:chOff x="602742" y="5016500"/>
            <a:chExt cx="7930638" cy="778383"/>
          </a:xfrm>
        </p:grpSpPr>
        <p:sp>
          <p:nvSpPr>
            <p:cNvPr id="36" name="TextBox 36"/>
            <p:cNvSpPr txBox="1"/>
            <p:nvPr/>
          </p:nvSpPr>
          <p:spPr>
            <a:xfrm>
              <a:off x="602742" y="5016500"/>
              <a:ext cx="7930638"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LP IRR 15.72% versus the 15.00% assumed discount rate; margin about 0.72 percentage points (72.26 bps).</a:t>
              </a:r>
            </a:p>
          </p:txBody>
        </p:sp>
        <p:sp>
          <p:nvSpPr>
            <p:cNvPr id="37" name="TextBox 37"/>
            <p:cNvSpPr txBox="1"/>
            <p:nvPr/>
          </p:nvSpPr>
          <p:spPr>
            <a:xfrm>
              <a:off x="602742" y="5283200"/>
              <a:ext cx="39425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a:t>
              </a:r>
            </a:p>
          </p:txBody>
        </p:sp>
        <p:sp>
          <p:nvSpPr>
            <p:cNvPr id="38" name="TextBox 38"/>
            <p:cNvSpPr txBox="1"/>
            <p:nvPr/>
          </p:nvSpPr>
          <p:spPr>
            <a:xfrm>
              <a:off x="602742" y="5530850"/>
              <a:ext cx="678032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15% rate is a preparation-question assumption, not OPERF's actual policy requirement.</a:t>
              </a:r>
            </a:p>
          </p:txBody>
        </p:sp>
      </p:grpSp>
      <p:grpSp>
        <p:nvGrpSpPr>
          <p:cNvPr id="42" name="footer"/>
          <p:cNvGrpSpPr/>
          <p:nvPr/>
        </p:nvGrpSpPr>
        <p:grpSpPr>
          <a:xfrm>
            <a:off x="604266" y="6426200"/>
            <a:ext cx="10983468" cy="291084"/>
            <a:chOff x="604266" y="6426200"/>
            <a:chExt cx="10983468" cy="291084"/>
          </a:xfrm>
        </p:grpSpPr>
        <p:sp>
          <p:nvSpPr>
            <p:cNvPr id="40" name="TextBox 40"/>
            <p:cNvSpPr txBox="1"/>
            <p:nvPr/>
          </p:nvSpPr>
          <p:spPr>
            <a:xfrm>
              <a:off x="604266" y="6426200"/>
              <a:ext cx="914186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case!C50:C51, C63:C64; Inputs!C9. OPERF's 3.75% model share scales amounts, not the IRR; NPV is not nominal profit or recovered principal.</a:t>
              </a:r>
            </a:p>
          </p:txBody>
        </p:sp>
        <p:sp>
          <p:nvSpPr>
            <p:cNvPr id="41" name="TextBox 4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981482" cy="1043940"/>
            <a:chOff x="594360" y="812800"/>
            <a:chExt cx="6981482" cy="1043940"/>
          </a:xfrm>
        </p:grpSpPr>
        <p:sp>
          <p:nvSpPr>
            <p:cNvPr id="5" name="TextBox 5"/>
            <p:cNvSpPr txBox="1"/>
            <p:nvPr/>
          </p:nvSpPr>
          <p:spPr>
            <a:xfrm>
              <a:off x="594360" y="812800"/>
              <a:ext cx="6981482"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Fees reduce LP value through payments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lost reinvestment</a:t>
              </a:r>
            </a:p>
          </p:txBody>
        </p:sp>
      </p:grpSp>
      <p:grpSp>
        <p:nvGrpSpPr>
          <p:cNvPr id="16" name="lp-value-bridge"/>
          <p:cNvGrpSpPr/>
          <p:nvPr/>
        </p:nvGrpSpPr>
        <p:grpSpPr>
          <a:xfrm>
            <a:off x="609600" y="1905000"/>
            <a:ext cx="10972800" cy="4000500"/>
            <a:chOff x="609600" y="1905000"/>
            <a:chExt cx="10972800" cy="4000500"/>
          </a:xfrm>
        </p:grpSpPr>
        <p:graphicFrame>
          <p:nvGraphicFramePr>
            <p:cNvPr id="7" name="lp-value-bridge"/>
            <p:cNvGraphicFramePr>
              <a:graphicFrameLocks noGrp="1"/>
            </p:cNvGraphicFramePr>
            <p:nvPr/>
          </p:nvGraphicFramePr>
          <p:xfrm>
            <a:off x="609600" y="1905000"/>
            <a:ext cx="10972800" cy="4000500"/>
          </p:xfrm>
          <a:graphic>
            <a:graphicData uri="http://schemas.microsoft.com/office/drawing/2014/chartex">
              <cx:chart xmlns:cx="http://schemas.microsoft.com/office/drawing/2014/chartex" xmlns:r="http://schemas.openxmlformats.org/officeDocument/2006/relationships" r:id="rId2"/>
            </a:graphicData>
          </a:graphic>
        </p:graphicFrame>
        <p:sp>
          <p:nvSpPr>
            <p:cNvPr id="8" name="Chart Title 8"/>
            <p:cNvSpPr txBox="1"/>
            <p:nvPr/>
          </p:nvSpPr>
          <p:spPr>
            <a:xfrm>
              <a:off x="609600" y="1908810"/>
              <a:ext cx="10972800" cy="243840"/>
            </a:xfrm>
            <a:prstGeom prst="rect">
              <a:avLst/>
            </a:prstGeom>
            <a:noFill/>
            <a:ln>
              <a:noFill/>
            </a:ln>
          </p:spPr>
          <p:txBody>
            <a:bodyPr wrap="square" lIns="0" tIns="0" rIns="0" bIns="0" anchor="b" anchorCtr="0"/>
            <a:lstStyle/>
            <a:p>
              <a:pPr algn="l"/>
              <a:r>
                <a:rPr lang="en-US" sz="1200" b="1">
                  <a:solidFill>
                    <a:srgbClr val="003657"/>
                  </a:solidFill>
                  <a:latin typeface="Calibri"/>
                  <a:ea typeface="Microsoft YaHei"/>
                  <a:cs typeface="Calibri"/>
                </a:rPr>
                <a:t>Fund LP value, $m PV at 15%</a:t>
              </a:r>
            </a:p>
          </p:txBody>
        </p:sp>
        <p:sp>
          <p:nvSpPr>
            <p:cNvPr id="9" name="Chart Note 9"/>
            <p:cNvSpPr txBox="1"/>
            <p:nvPr/>
          </p:nvSpPr>
          <p:spPr>
            <a:xfrm>
              <a:off x="1143000" y="2149792"/>
              <a:ext cx="11430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4,562.19</a:t>
              </a:r>
            </a:p>
          </p:txBody>
        </p:sp>
        <p:sp>
          <p:nvSpPr>
            <p:cNvPr id="10" name="Chart Note 10"/>
            <p:cNvSpPr txBox="1"/>
            <p:nvPr/>
          </p:nvSpPr>
          <p:spPr>
            <a:xfrm>
              <a:off x="3333750" y="2149792"/>
              <a:ext cx="1143000" cy="274320"/>
            </a:xfrm>
            <a:prstGeom prst="rect">
              <a:avLst/>
            </a:prstGeom>
            <a:noFill/>
            <a:ln>
              <a:noFill/>
            </a:ln>
          </p:spPr>
          <p:txBody>
            <a:bodyPr wrap="square" lIns="0" tIns="0" rIns="0" bIns="0" anchor="b" anchorCtr="0"/>
            <a:lstStyle/>
            <a:p>
              <a:pPr algn="ctr"/>
              <a:r>
                <a:rPr lang="en-US" sz="1350" b="1">
                  <a:solidFill>
                    <a:srgbClr val="A33D3D"/>
                  </a:solidFill>
                  <a:latin typeface="Calibri"/>
                  <a:ea typeface="Microsoft YaHei"/>
                  <a:cs typeface="Calibri"/>
                </a:rPr>
                <a:t>−1,731.48</a:t>
              </a:r>
            </a:p>
          </p:txBody>
        </p:sp>
        <p:sp>
          <p:nvSpPr>
            <p:cNvPr id="11" name="Chart Note 11"/>
            <p:cNvSpPr txBox="1"/>
            <p:nvPr/>
          </p:nvSpPr>
          <p:spPr>
            <a:xfrm>
              <a:off x="5524500" y="3149918"/>
              <a:ext cx="1143000" cy="274320"/>
            </a:xfrm>
            <a:prstGeom prst="rect">
              <a:avLst/>
            </a:prstGeom>
            <a:noFill/>
            <a:ln>
              <a:noFill/>
            </a:ln>
          </p:spPr>
          <p:txBody>
            <a:bodyPr wrap="square" lIns="0" tIns="0" rIns="0" bIns="0" anchor="b" anchorCtr="0"/>
            <a:lstStyle/>
            <a:p>
              <a:pPr algn="ctr"/>
              <a:r>
                <a:rPr lang="en-US" sz="1350" b="1">
                  <a:solidFill>
                    <a:srgbClr val="A33D3D"/>
                  </a:solidFill>
                  <a:latin typeface="Calibri"/>
                  <a:ea typeface="Microsoft YaHei"/>
                  <a:cs typeface="Calibri"/>
                </a:rPr>
                <a:t>−407.01</a:t>
              </a:r>
            </a:p>
          </p:txBody>
        </p:sp>
        <p:sp>
          <p:nvSpPr>
            <p:cNvPr id="12" name="Chart Note 12"/>
            <p:cNvSpPr txBox="1"/>
            <p:nvPr/>
          </p:nvSpPr>
          <p:spPr>
            <a:xfrm>
              <a:off x="7715250" y="3388042"/>
              <a:ext cx="1143000" cy="274320"/>
            </a:xfrm>
            <a:prstGeom prst="rect">
              <a:avLst/>
            </a:prstGeom>
            <a:noFill/>
            <a:ln>
              <a:noFill/>
            </a:ln>
          </p:spPr>
          <p:txBody>
            <a:bodyPr wrap="square" lIns="0" tIns="0" rIns="0" bIns="0" anchor="b" anchorCtr="0"/>
            <a:lstStyle/>
            <a:p>
              <a:pPr algn="ctr"/>
              <a:r>
                <a:rPr lang="en-US" sz="1350" b="1">
                  <a:solidFill>
                    <a:srgbClr val="A33D3D"/>
                  </a:solidFill>
                  <a:latin typeface="Calibri"/>
                  <a:ea typeface="Microsoft YaHei"/>
                  <a:cs typeface="Calibri"/>
                </a:rPr>
                <a:t>−1,845.49</a:t>
              </a:r>
            </a:p>
          </p:txBody>
        </p:sp>
        <p:sp>
          <p:nvSpPr>
            <p:cNvPr id="13" name="Chart Note 13"/>
            <p:cNvSpPr txBox="1"/>
            <p:nvPr/>
          </p:nvSpPr>
          <p:spPr>
            <a:xfrm>
              <a:off x="9906000" y="4454842"/>
              <a:ext cx="11430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578.22</a:t>
              </a:r>
            </a:p>
          </p:txBody>
        </p:sp>
        <p:sp>
          <p:nvSpPr>
            <p:cNvPr id="14" name="Chart Note 14"/>
            <p:cNvSpPr txBox="1"/>
            <p:nvPr/>
          </p:nvSpPr>
          <p:spPr>
            <a:xfrm>
              <a:off x="4667250" y="3782378"/>
              <a:ext cx="2857500" cy="213360"/>
            </a:xfrm>
            <a:prstGeom prst="rect">
              <a:avLst/>
            </a:prstGeom>
            <a:noFill/>
            <a:ln>
              <a:noFill/>
            </a:ln>
          </p:spPr>
          <p:txBody>
            <a:bodyPr wrap="square" lIns="0" tIns="0" rIns="0" bIns="0" anchor="b" anchorCtr="0"/>
            <a:lstStyle/>
            <a:p>
              <a:pPr algn="ctr"/>
              <a:r>
                <a:rPr lang="en-US" sz="1050">
                  <a:solidFill>
                    <a:srgbClr val="5C6670"/>
                  </a:solidFill>
                  <a:latin typeface="Calibri"/>
                  <a:ea typeface="Microsoft YaHei"/>
                  <a:cs typeface="Calibri"/>
                </a:rPr>
                <a:t>Model reconciliation, not a GP payment</a:t>
              </a:r>
            </a:p>
          </p:txBody>
        </p:sp>
        <p:sp>
          <p:nvSpPr>
            <p:cNvPr id="15" name="Chart Note 15"/>
            <p:cNvSpPr txBox="1"/>
            <p:nvPr/>
          </p:nvSpPr>
          <p:spPr>
            <a:xfrm>
              <a:off x="3238500" y="5554028"/>
              <a:ext cx="5715000" cy="213360"/>
            </a:xfrm>
            <a:prstGeom prst="rect">
              <a:avLst/>
            </a:prstGeom>
            <a:noFill/>
            <a:ln>
              <a:noFill/>
            </a:ln>
          </p:spPr>
          <p:txBody>
            <a:bodyPr wrap="square" lIns="0" tIns="0" rIns="0" bIns="0" anchor="b" anchorCtr="0"/>
            <a:lstStyle/>
            <a:p>
              <a:pPr algn="ctr"/>
              <a:r>
                <a:rPr lang="en-US" sz="1050">
                  <a:solidFill>
                    <a:srgbClr val="5C6670"/>
                  </a:solidFill>
                  <a:latin typeface="Calibri"/>
                  <a:ea typeface="Microsoft YaHei"/>
                  <a:cs typeface="Calibri"/>
                </a:rPr>
                <a:t>Fund value at model inception; 15% assumed discount rate.</a:t>
              </a:r>
            </a:p>
          </p:txBody>
        </p:sp>
      </p:grpSp>
      <p:grpSp>
        <p:nvGrpSpPr>
          <p:cNvPr id="19" name="footer"/>
          <p:cNvGrpSpPr/>
          <p:nvPr/>
        </p:nvGrpSpPr>
        <p:grpSpPr>
          <a:xfrm>
            <a:off x="604266" y="6350000"/>
            <a:ext cx="10983468" cy="367284"/>
            <a:chOff x="604266" y="6350000"/>
            <a:chExt cx="10983468" cy="367284"/>
          </a:xfrm>
        </p:grpSpPr>
        <p:sp>
          <p:nvSpPr>
            <p:cNvPr id="17" name="TextBox 17"/>
            <p:cNvSpPr txBox="1"/>
            <p:nvPr/>
          </p:nvSpPr>
          <p:spPr>
            <a:xfrm>
              <a:off x="604266" y="6350000"/>
              <a:ext cx="845459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Analysis!B25:B30; check B29 − B26 − B30 − B27 = B25. The three present values are not the contractual profit split; the 407.01 step is the growth</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that fee dollars would have earned had they stayed invested, not a payment to the GP.</a:t>
              </a:r>
            </a:p>
          </p:txBody>
        </p:sp>
        <p:sp>
          <p:nvSpPr>
            <p:cNvPr id="18" name="TextBox 1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9188002" cy="586740"/>
            <a:chOff x="594360" y="812800"/>
            <a:chExt cx="9188002" cy="586740"/>
          </a:xfrm>
        </p:grpSpPr>
        <p:sp>
          <p:nvSpPr>
            <p:cNvPr id="5" name="TextBox 5"/>
            <p:cNvSpPr txBox="1"/>
            <p:nvPr/>
          </p:nvSpPr>
          <p:spPr>
            <a:xfrm>
              <a:off x="594360" y="812800"/>
              <a:ext cx="918800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Early fees account for 48% of GP receipt value</a:t>
              </a:r>
            </a:p>
          </p:txBody>
        </p:sp>
      </p:grpSp>
      <p:grpSp>
        <p:nvGrpSpPr>
          <p:cNvPr id="14" name="gp-receipts-mix"/>
          <p:cNvGrpSpPr/>
          <p:nvPr/>
        </p:nvGrpSpPr>
        <p:grpSpPr>
          <a:xfrm>
            <a:off x="609600" y="1714500"/>
            <a:ext cx="11296650" cy="2857500"/>
            <a:chOff x="609600" y="1714500"/>
            <a:chExt cx="11296650" cy="2857500"/>
          </a:xfrm>
        </p:grpSpPr>
        <p:graphicFrame>
          <p:nvGraphicFramePr>
            <p:cNvPr id="7" name="gp-receipts-mix"/>
            <p:cNvGraphicFramePr>
              <a:graphicFrameLocks noGrp="1"/>
            </p:cNvGraphicFramePr>
            <p:nvPr/>
          </p:nvGraphicFramePr>
          <p:xfrm>
            <a:off x="609600" y="1714500"/>
            <a:ext cx="10972800" cy="2857500"/>
          </p:xfrm>
          <a:graphic>
            <a:graphicData uri="http://schemas.openxmlformats.org/drawingml/2006/chart">
              <c:chart xmlns:c="http://schemas.openxmlformats.org/drawingml/2006/chart" r:id="rId2"/>
            </a:graphicData>
          </a:graphic>
        </p:graphicFrame>
        <p:sp>
          <p:nvSpPr>
            <p:cNvPr id="8" name="Chart Note 8"/>
            <p:cNvSpPr txBox="1"/>
            <p:nvPr/>
          </p:nvSpPr>
          <p:spPr>
            <a:xfrm>
              <a:off x="3712845" y="2435542"/>
              <a:ext cx="57150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30%</a:t>
              </a:r>
            </a:p>
          </p:txBody>
        </p:sp>
        <p:sp>
          <p:nvSpPr>
            <p:cNvPr id="9" name="Chart Note 9"/>
            <p:cNvSpPr txBox="1"/>
            <p:nvPr/>
          </p:nvSpPr>
          <p:spPr>
            <a:xfrm>
              <a:off x="7522845" y="2435542"/>
              <a:ext cx="57150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70%</a:t>
              </a:r>
            </a:p>
          </p:txBody>
        </p:sp>
        <p:sp>
          <p:nvSpPr>
            <p:cNvPr id="10" name="Chart Note 10"/>
            <p:cNvSpPr txBox="1"/>
            <p:nvPr/>
          </p:nvSpPr>
          <p:spPr>
            <a:xfrm>
              <a:off x="4416742" y="3235642"/>
              <a:ext cx="57150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48%</a:t>
              </a:r>
            </a:p>
          </p:txBody>
        </p:sp>
        <p:sp>
          <p:nvSpPr>
            <p:cNvPr id="11" name="Chart Note 11"/>
            <p:cNvSpPr txBox="1"/>
            <p:nvPr/>
          </p:nvSpPr>
          <p:spPr>
            <a:xfrm>
              <a:off x="8226742" y="3235642"/>
              <a:ext cx="57150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52%</a:t>
              </a:r>
            </a:p>
          </p:txBody>
        </p:sp>
        <p:sp>
          <p:nvSpPr>
            <p:cNvPr id="12" name="Chart Note 12"/>
            <p:cNvSpPr txBox="1"/>
            <p:nvPr/>
          </p:nvSpPr>
          <p:spPr>
            <a:xfrm>
              <a:off x="10572750" y="2435542"/>
              <a:ext cx="1333500" cy="274320"/>
            </a:xfrm>
            <a:prstGeom prst="rect">
              <a:avLst/>
            </a:prstGeom>
            <a:noFill/>
            <a:ln>
              <a:noFill/>
            </a:ln>
          </p:spPr>
          <p:txBody>
            <a:bodyPr wrap="square" lIns="0" tIns="0" rIns="0" bIns="0" anchor="b" anchorCtr="0"/>
            <a:lstStyle/>
            <a:p>
              <a:pPr algn="l"/>
              <a:r>
                <a:rPr lang="en-US" sz="1350">
                  <a:solidFill>
                    <a:srgbClr val="003657"/>
                  </a:solidFill>
                  <a:latin typeface="Calibri"/>
                  <a:ea typeface="Microsoft YaHei"/>
                  <a:cs typeface="Calibri"/>
                </a:rPr>
                <a:t>$10,017.63m</a:t>
              </a:r>
            </a:p>
          </p:txBody>
        </p:sp>
        <p:sp>
          <p:nvSpPr>
            <p:cNvPr id="13" name="Chart Note 13"/>
            <p:cNvSpPr txBox="1"/>
            <p:nvPr/>
          </p:nvSpPr>
          <p:spPr>
            <a:xfrm>
              <a:off x="10572750" y="3235642"/>
              <a:ext cx="1333500" cy="274320"/>
            </a:xfrm>
            <a:prstGeom prst="rect">
              <a:avLst/>
            </a:prstGeom>
            <a:noFill/>
            <a:ln>
              <a:noFill/>
            </a:ln>
          </p:spPr>
          <p:txBody>
            <a:bodyPr wrap="square" lIns="0" tIns="0" rIns="0" bIns="0" anchor="b" anchorCtr="0"/>
            <a:lstStyle/>
            <a:p>
              <a:pPr algn="l"/>
              <a:r>
                <a:rPr lang="en-US" sz="1350">
                  <a:solidFill>
                    <a:srgbClr val="003657"/>
                  </a:solidFill>
                  <a:latin typeface="Calibri"/>
                  <a:ea typeface="Microsoft YaHei"/>
                  <a:cs typeface="Calibri"/>
                </a:rPr>
                <a:t>$3,576.97m</a:t>
              </a:r>
            </a:p>
          </p:txBody>
        </p:sp>
      </p:grpSp>
      <p:grpSp>
        <p:nvGrpSpPr>
          <p:cNvPr id="16" name="timing-sentence"/>
          <p:cNvGrpSpPr/>
          <p:nvPr/>
        </p:nvGrpSpPr>
        <p:grpSpPr>
          <a:xfrm>
            <a:off x="601218" y="4819650"/>
            <a:ext cx="5297834" cy="322707"/>
            <a:chOff x="601218" y="4819650"/>
            <a:chExt cx="5297834" cy="322707"/>
          </a:xfrm>
        </p:grpSpPr>
        <p:sp>
          <p:nvSpPr>
            <p:cNvPr id="15" name="TextBox 15"/>
            <p:cNvSpPr txBox="1"/>
            <p:nvPr/>
          </p:nvSpPr>
          <p:spPr>
            <a:xfrm>
              <a:off x="601218" y="4819650"/>
              <a:ext cx="5297834"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Fees begin at t = 0; carry first appears at the end of Year 8.</a:t>
              </a:r>
            </a:p>
          </p:txBody>
        </p:sp>
      </p:grpSp>
      <p:grpSp>
        <p:nvGrpSpPr>
          <p:cNvPr id="19" name="measure-caption"/>
          <p:cNvGrpSpPr/>
          <p:nvPr/>
        </p:nvGrpSpPr>
        <p:grpSpPr>
          <a:xfrm>
            <a:off x="602742" y="5359400"/>
            <a:ext cx="8946869" cy="511683"/>
            <a:chOff x="602742" y="5359400"/>
            <a:chExt cx="8946869" cy="511683"/>
          </a:xfrm>
        </p:grpSpPr>
        <p:sp>
          <p:nvSpPr>
            <p:cNvPr id="17" name="TextBox 17"/>
            <p:cNvSpPr txBox="1"/>
            <p:nvPr/>
          </p:nvSpPr>
          <p:spPr>
            <a:xfrm>
              <a:off x="602742" y="5359400"/>
              <a:ext cx="894686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Fund GP receipts. Nominal amounts and PV at model inception are separate measures; each bar is 100% of its own total.</a:t>
              </a:r>
            </a:p>
          </p:txBody>
        </p:sp>
        <p:sp>
          <p:nvSpPr>
            <p:cNvPr id="18" name="TextBox 18"/>
            <p:cNvSpPr txBox="1"/>
            <p:nvPr/>
          </p:nvSpPr>
          <p:spPr>
            <a:xfrm>
              <a:off x="602742" y="5607050"/>
              <a:ext cx="459454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PV uses a 15% assumed discount rate. Before operating costs.</a:t>
              </a:r>
            </a:p>
          </p:txBody>
        </p:sp>
      </p:grpSp>
      <p:grpSp>
        <p:nvGrpSpPr>
          <p:cNvPr id="22" name="footer"/>
          <p:cNvGrpSpPr/>
          <p:nvPr/>
        </p:nvGrpSpPr>
        <p:grpSpPr>
          <a:xfrm>
            <a:off x="604266" y="6350000"/>
            <a:ext cx="10983468" cy="367284"/>
            <a:chOff x="604266" y="6350000"/>
            <a:chExt cx="10983468" cy="367284"/>
          </a:xfrm>
        </p:grpSpPr>
        <p:sp>
          <p:nvSpPr>
            <p:cNvPr id="20" name="TextBox 20"/>
            <p:cNvSpPr txBox="1"/>
            <p:nvPr/>
          </p:nvSpPr>
          <p:spPr>
            <a:xfrm>
              <a:off x="604266" y="6350000"/>
              <a:ext cx="8849639"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Base case!C55:C60, C62, B44:L45. Fees 3,000.00 / PV 1,731.48; carry 7,017.63 / PV 1,845.49; 3,000 ÷ 10,017.63 = 29.95%; 1,731.48 ÷ 3,576.97 = 48.41%.</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Not a GP profit share and not an estimate of TPG's own cost of capital.</a:t>
              </a:r>
            </a:p>
          </p:txBody>
        </p:sp>
        <p:sp>
          <p:nvSpPr>
            <p:cNvPr id="21" name="TextBox 2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95399" cy="244475"/>
            <a:chOff x="603504" y="546100"/>
            <a:chExt cx="1995399" cy="244475"/>
          </a:xfrm>
        </p:grpSpPr>
        <p:sp>
          <p:nvSpPr>
            <p:cNvPr id="2" name="TextBox 2"/>
            <p:cNvSpPr txBox="1"/>
            <p:nvPr/>
          </p:nvSpPr>
          <p:spPr>
            <a:xfrm>
              <a:off x="603504" y="546100"/>
              <a:ext cx="1995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325732" cy="1043940"/>
            <a:chOff x="594360" y="812800"/>
            <a:chExt cx="5325732" cy="1043940"/>
          </a:xfrm>
        </p:grpSpPr>
        <p:sp>
          <p:nvSpPr>
            <p:cNvPr id="5" name="TextBox 5"/>
            <p:cNvSpPr txBox="1"/>
            <p:nvPr/>
          </p:nvSpPr>
          <p:spPr>
            <a:xfrm>
              <a:off x="594360" y="812800"/>
              <a:ext cx="5325732"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baseline pays carry below</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15% model benchmark</a:t>
              </a:r>
            </a:p>
          </p:txBody>
        </p:sp>
      </p:grpSp>
      <p:grpSp>
        <p:nvGrpSpPr>
          <p:cNvPr id="8" name="lead"/>
          <p:cNvGrpSpPr/>
          <p:nvPr/>
        </p:nvGrpSpPr>
        <p:grpSpPr>
          <a:xfrm>
            <a:off x="601218" y="1885950"/>
            <a:ext cx="8504847" cy="322707"/>
            <a:chOff x="601218" y="1885950"/>
            <a:chExt cx="8504847" cy="322707"/>
          </a:xfrm>
        </p:grpSpPr>
        <p:sp>
          <p:nvSpPr>
            <p:cNvPr id="7" name="TextBox 7"/>
            <p:cNvSpPr txBox="1"/>
            <p:nvPr/>
          </p:nvSpPr>
          <p:spPr>
            <a:xfrm>
              <a:off x="601218" y="1885950"/>
              <a:ext cx="850484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At 10% growth, LP IRR falls below the 15% model benchmark while GP carry remains positive.</a:t>
              </a:r>
            </a:p>
          </p:txBody>
        </p:sp>
      </p:grpSp>
      <p:grpSp>
        <p:nvGrpSpPr>
          <p:cNvPr id="11" name="lp-irr-by-growth"/>
          <p:cNvGrpSpPr/>
          <p:nvPr/>
        </p:nvGrpSpPr>
        <p:grpSpPr>
          <a:xfrm>
            <a:off x="609600" y="2286000"/>
            <a:ext cx="5143500" cy="2286000"/>
            <a:chOff x="609600" y="2286000"/>
            <a:chExt cx="5143500" cy="2286000"/>
          </a:xfrm>
        </p:grpSpPr>
        <p:graphicFrame>
          <p:nvGraphicFramePr>
            <p:cNvPr id="9" name="lp-irr-by-growth"/>
            <p:cNvGraphicFramePr>
              <a:graphicFrameLocks noGrp="1"/>
            </p:cNvGraphicFramePr>
            <p:nvPr/>
          </p:nvGraphicFramePr>
          <p:xfrm>
            <a:off x="609600" y="2286000"/>
            <a:ext cx="5143500" cy="2286000"/>
          </p:xfrm>
          <a:graphic>
            <a:graphicData uri="http://schemas.openxmlformats.org/drawingml/2006/chart">
              <c:chart xmlns:c="http://schemas.openxmlformats.org/drawingml/2006/chart" r:id="rId2"/>
            </a:graphicData>
          </a:graphic>
        </p:graphicFrame>
        <p:sp>
          <p:nvSpPr>
            <p:cNvPr id="10" name="Chart Note 10"/>
            <p:cNvSpPr txBox="1"/>
            <p:nvPr/>
          </p:nvSpPr>
          <p:spPr>
            <a:xfrm>
              <a:off x="3048000" y="2582228"/>
              <a:ext cx="2095500" cy="213360"/>
            </a:xfrm>
            <a:prstGeom prst="rect">
              <a:avLst/>
            </a:prstGeom>
            <a:noFill/>
            <a:ln>
              <a:noFill/>
            </a:ln>
          </p:spPr>
          <p:txBody>
            <a:bodyPr wrap="square" lIns="0" tIns="0" rIns="0" bIns="0" anchor="b" anchorCtr="0"/>
            <a:lstStyle/>
            <a:p>
              <a:pPr algn="r"/>
              <a:r>
                <a:rPr lang="en-US" sz="1050">
                  <a:solidFill>
                    <a:srgbClr val="5C6670"/>
                  </a:solidFill>
                  <a:latin typeface="Calibri"/>
                  <a:ea typeface="Microsoft YaHei"/>
                  <a:cs typeface="Calibri"/>
                </a:rPr>
                <a:t>Assumed model benchmark 15%</a:t>
              </a:r>
            </a:p>
          </p:txBody>
        </p:sp>
      </p:grpSp>
      <p:graphicFrame>
        <p:nvGraphicFramePr>
          <p:cNvPr id="12" name="gp-receipts-by-growth"/>
          <p:cNvGraphicFramePr>
            <a:graphicFrameLocks noGrp="1"/>
          </p:cNvGraphicFramePr>
          <p:nvPr/>
        </p:nvGraphicFramePr>
        <p:xfrm>
          <a:off x="6096000" y="2286000"/>
          <a:ext cx="5486400" cy="2286000"/>
        </p:xfrm>
        <a:graphic>
          <a:graphicData uri="http://schemas.openxmlformats.org/drawingml/2006/chart">
            <c:chart xmlns:c="http://schemas.openxmlformats.org/drawingml/2006/chart" r:id="rId3"/>
          </a:graphicData>
        </a:graphic>
      </p:graphicFrame>
      <p:grpSp>
        <p:nvGrpSpPr>
          <p:cNvPr id="15" name="scenario-caption"/>
          <p:cNvGrpSpPr/>
          <p:nvPr/>
        </p:nvGrpSpPr>
        <p:grpSpPr>
          <a:xfrm>
            <a:off x="602742" y="5397500"/>
            <a:ext cx="9130072" cy="511683"/>
            <a:chOff x="602742" y="5397500"/>
            <a:chExt cx="9130072" cy="511683"/>
          </a:xfrm>
        </p:grpSpPr>
        <p:sp>
          <p:nvSpPr>
            <p:cNvPr id="13" name="TextBox 13"/>
            <p:cNvSpPr txBox="1"/>
            <p:nvPr/>
          </p:nvSpPr>
          <p:spPr>
            <a:xfrm>
              <a:off x="602742" y="5397500"/>
              <a:ext cx="87328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Baseline model assumes no hurdle; TPG VI's exact preferred-return terms are not confirmed. 1.50% management fee.</a:t>
              </a:r>
            </a:p>
          </p:txBody>
        </p:sp>
        <p:sp>
          <p:nvSpPr>
            <p:cNvPr id="14" name="TextBox 14"/>
            <p:cNvSpPr txBox="1"/>
            <p:nvPr/>
          </p:nvSpPr>
          <p:spPr>
            <a:xfrm>
              <a:off x="602742" y="5645150"/>
              <a:ext cx="91300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GP receipts are PV at model inception, 15% assumed discount rate; TPG's co-investment and operating costs not modelled.</a:t>
              </a:r>
            </a:p>
          </p:txBody>
        </p:sp>
      </p:grpSp>
      <p:grpSp>
        <p:nvGrpSpPr>
          <p:cNvPr id="18" name="footer"/>
          <p:cNvGrpSpPr/>
          <p:nvPr/>
        </p:nvGrpSpPr>
        <p:grpSpPr>
          <a:xfrm>
            <a:off x="604266" y="6350000"/>
            <a:ext cx="10983468" cy="367284"/>
            <a:chOff x="604266" y="6350000"/>
            <a:chExt cx="10983468" cy="367284"/>
          </a:xfrm>
        </p:grpSpPr>
        <p:sp>
          <p:nvSpPr>
            <p:cNvPr id="16" name="TextBox 16"/>
            <p:cNvSpPr txBox="1"/>
            <p:nvPr/>
          </p:nvSpPr>
          <p:spPr>
            <a:xfrm>
              <a:off x="604266" y="6350000"/>
              <a:ext cx="821473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Analysis!A34:E34, A36:E36, A38:E38; Case pp. 4–5. The 10% case is still a positive IRR, not a nominal LP loss; 15% is not a contractual hurdle.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The no-hurdle model returns capital and then splits profit regardless of the LP's rate of return.</a:t>
              </a:r>
            </a:p>
          </p:txBody>
        </p:sp>
        <p:sp>
          <p:nvSpPr>
            <p:cNvPr id="17" name="TextBox 17"/>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346289" cy="586740"/>
            <a:chOff x="594360" y="812800"/>
            <a:chExt cx="8346289" cy="586740"/>
          </a:xfrm>
        </p:grpSpPr>
        <p:sp>
          <p:nvSpPr>
            <p:cNvPr id="5" name="TextBox 5"/>
            <p:cNvSpPr txBox="1"/>
            <p:nvPr/>
          </p:nvSpPr>
          <p:spPr>
            <a:xfrm>
              <a:off x="594360" y="812800"/>
              <a:ext cx="834628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LP and GP cash flows carry different risks</a:t>
              </a:r>
            </a:p>
          </p:txBody>
        </p:sp>
      </p:grpSp>
      <p:graphicFrame>
        <p:nvGraphicFramePr>
          <p:cNvPr id="7" name="lp-gp-risk-table"/>
          <p:cNvGraphicFramePr>
            <a:graphicFrameLocks noGrp="1"/>
          </p:cNvGraphicFramePr>
          <p:nvPr/>
        </p:nvGraphicFramePr>
        <p:xfrm>
          <a:off x="609600" y="1714500"/>
          <a:ext cx="10972800" cy="2590800"/>
        </p:xfrm>
        <a:graphic>
          <a:graphicData uri="http://schemas.openxmlformats.org/drawingml/2006/table">
            <a:tbl>
              <a:tblPr firstRow="1" bandRow="0">
                <a:tableStyleId>{5C22544A-7EE6-4342-B048-85BDC9FD1C3A}</a:tableStyleId>
              </a:tblPr>
              <a:tblGrid>
                <a:gridCol w="2628900"/>
                <a:gridCol w="4171950"/>
                <a:gridCol w="4171950"/>
              </a:tblGrid>
              <a:tr h="419100">
                <a:tc>
                  <a:txBody>
                    <a:bodyPr/>
                    <a:lstStyle/>
                    <a:p>
                      <a:pPr/>
                      <a:r>
                        <a:rPr lang="en-US" sz="1500" b="1">
                          <a:solidFill>
                            <a:srgbClr val="FBF8F2"/>
                          </a:solidFill>
                          <a:latin typeface="Calibri"/>
                          <a:ea typeface="Microsoft YaHei"/>
                          <a:cs typeface="Calibri"/>
                        </a:rPr>
                        <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LP</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GP</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2"/>
                    </a:solidFill>
                  </a:tcPr>
                </a:tc>
              </a:tr>
              <a:tr h="723900">
                <a:tc>
                  <a:txBody>
                    <a:bodyPr/>
                    <a:lstStyle/>
                    <a:p>
                      <a:pPr/>
                      <a:r>
                        <a:rPr lang="en-US" sz="1500" b="1">
                          <a:solidFill>
                            <a:schemeClr val="accent1"/>
                          </a:solidFill>
                          <a:latin typeface="Calibri"/>
                          <a:ea typeface="Microsoft YaHei"/>
                          <a:cs typeface="Calibri"/>
                        </a:rPr>
                        <a:t>Modeled receipts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Investment distributions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Management fees and carry</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723900">
                <a:tc>
                  <a:txBody>
                    <a:bodyPr/>
                    <a:lstStyle/>
                    <a:p>
                      <a:pPr/>
                      <a:r>
                        <a:rPr lang="en-US" sz="1500" b="1">
                          <a:solidFill>
                            <a:schemeClr val="accent1"/>
                          </a:solidFill>
                          <a:latin typeface="Calibri"/>
                          <a:ea typeface="Microsoft YaHei"/>
                          <a:cs typeface="Calibri"/>
                        </a:rPr>
                        <a:t>Performance exposure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IRR and NPV change with growth and timing</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0">
                          <a:solidFill>
                            <a:schemeClr val="dk1"/>
                          </a:solidFill>
                          <a:latin typeface="Calibri"/>
                          <a:ea typeface="Microsoft YaHei"/>
                          <a:cs typeface="Calibri"/>
                        </a:rPr>
                        <a:t>Carry changes with fund performance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r>
              <a:tr h="723900">
                <a:tc>
                  <a:txBody>
                    <a:bodyPr/>
                    <a:lstStyle/>
                    <a:p>
                      <a:pPr/>
                      <a:r>
                        <a:rPr lang="en-US" sz="1500" b="1">
                          <a:solidFill>
                            <a:schemeClr val="accent1"/>
                          </a:solidFill>
                          <a:latin typeface="Calibri"/>
                          <a:ea typeface="Microsoft YaHei"/>
                          <a:cs typeface="Calibri"/>
                        </a:rPr>
                        <a:t>Additional context</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Capital committed before returns are realised</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0">
                          <a:solidFill>
                            <a:schemeClr val="dk1"/>
                          </a:solidFill>
                          <a:latin typeface="Calibri"/>
                          <a:ea typeface="Microsoft YaHei"/>
                          <a:cs typeface="Calibri"/>
                        </a:rPr>
                        <a:t>About $500m own-capital commitment; operating costs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0" name="conclusion"/>
          <p:cNvGrpSpPr/>
          <p:nvPr/>
        </p:nvGrpSpPr>
        <p:grpSpPr>
          <a:xfrm>
            <a:off x="599694" y="4572000"/>
            <a:ext cx="8037366" cy="879983"/>
            <a:chOff x="599694" y="4572000"/>
            <a:chExt cx="8037366" cy="879983"/>
          </a:xfrm>
        </p:grpSpPr>
        <p:sp>
          <p:nvSpPr>
            <p:cNvPr id="8" name="TextBox 8"/>
            <p:cNvSpPr txBox="1"/>
            <p:nvPr/>
          </p:nvSpPr>
          <p:spPr>
            <a:xfrm>
              <a:off x="599694" y="4572000"/>
              <a:ext cx="7292927"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Fixed fees support part of GP income; they do not eliminate GP risk.</a:t>
              </a:r>
            </a:p>
          </p:txBody>
        </p:sp>
        <p:sp>
          <p:nvSpPr>
            <p:cNvPr id="9" name="TextBox 9"/>
            <p:cNvSpPr txBox="1"/>
            <p:nvPr/>
          </p:nvSpPr>
          <p:spPr>
            <a:xfrm>
              <a:off x="602742" y="4978400"/>
              <a:ext cx="8034318"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Q3 in one line: the LP's return depends on growth and timing; the GP has a fixed fee plus performance-linked carry,</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its own capital at risk and costs to cover.</a:t>
              </a:r>
            </a:p>
          </p:txBody>
        </p:sp>
      </p:grpSp>
      <p:grpSp>
        <p:nvGrpSpPr>
          <p:cNvPr id="13" name="footer"/>
          <p:cNvGrpSpPr/>
          <p:nvPr/>
        </p:nvGrpSpPr>
        <p:grpSpPr>
          <a:xfrm>
            <a:off x="604266" y="6426200"/>
            <a:ext cx="10983468" cy="291084"/>
            <a:chOff x="604266" y="6426200"/>
            <a:chExt cx="10983468" cy="291084"/>
          </a:xfrm>
        </p:grpSpPr>
        <p:sp>
          <p:nvSpPr>
            <p:cNvPr id="11" name="TextBox 11"/>
            <p:cNvSpPr txBox="1"/>
            <p:nvPr/>
          </p:nvSpPr>
          <p:spPr>
            <a:xfrm>
              <a:off x="604266" y="6426200"/>
              <a:ext cx="912570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Analysis!A34:G40; Q3 Base case!B41:L46; Case pp. 4–5. TPG's co-investment return is not modelled separately; no risk probabilities are estimated.</a:t>
              </a:r>
            </a:p>
          </p:txBody>
        </p:sp>
        <p:sp>
          <p:nvSpPr>
            <p:cNvPr id="12" name="TextBox 12"/>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535948" cy="586740"/>
            <a:chOff x="594360" y="812800"/>
            <a:chExt cx="8535948" cy="586740"/>
          </a:xfrm>
        </p:grpSpPr>
        <p:sp>
          <p:nvSpPr>
            <p:cNvPr id="5" name="TextBox 5"/>
            <p:cNvSpPr txBox="1"/>
            <p:nvPr/>
          </p:nvSpPr>
          <p:spPr>
            <a:xfrm>
              <a:off x="594360" y="812800"/>
              <a:ext cx="853594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fee cut improves fund-level LP returns</a:t>
              </a:r>
            </a:p>
          </p:txBody>
        </p:sp>
      </p:grpSp>
      <p:graphicFrame>
        <p:nvGraphicFramePr>
          <p:cNvPr id="7" name="fee-cut-fund-table"/>
          <p:cNvGraphicFramePr>
            <a:graphicFrameLocks noGrp="1"/>
          </p:cNvGraphicFramePr>
          <p:nvPr/>
        </p:nvGraphicFramePr>
        <p:xfrm>
          <a:off x="609600" y="1714500"/>
          <a:ext cx="10972800" cy="2705100"/>
        </p:xfrm>
        <a:graphic>
          <a:graphicData uri="http://schemas.openxmlformats.org/drawingml/2006/table">
            <a:tbl>
              <a:tblPr firstRow="1" bandRow="0">
                <a:tableStyleId>{5C22544A-7EE6-4342-B048-85BDC9FD1C3A}</a:tableStyleId>
              </a:tblPr>
              <a:tblGrid>
                <a:gridCol w="4391025"/>
                <a:gridCol w="2190750"/>
                <a:gridCol w="2190750"/>
                <a:gridCol w="2200275"/>
              </a:tblGrid>
              <a:tr h="419100">
                <a:tc>
                  <a:txBody>
                    <a:bodyPr/>
                    <a:lstStyle/>
                    <a:p>
                      <a:pPr/>
                      <a:r>
                        <a:rPr lang="en-US" sz="1500" b="1">
                          <a:solidFill>
                            <a:srgbClr val="FBF8F2"/>
                          </a:solidFill>
                          <a:latin typeface="Calibri"/>
                          <a:ea typeface="Microsoft YaHei"/>
                          <a:cs typeface="Calibri"/>
                        </a:rPr>
                        <a:t>Metric</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Q3 baseline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Q4 fee cut</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Change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r>
              <a:tr h="571500">
                <a:tc>
                  <a:txBody>
                    <a:bodyPr/>
                    <a:lstStyle/>
                    <a:p>
                      <a:pPr/>
                      <a:r>
                        <a:rPr lang="en-US" sz="1500" b="0">
                          <a:solidFill>
                            <a:schemeClr val="accent1"/>
                          </a:solidFill>
                          <a:latin typeface="Calibri"/>
                          <a:ea typeface="Microsoft YaHei"/>
                          <a:cs typeface="Calibri"/>
                        </a:rPr>
                        <a:t>Management fee rate</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1.50%</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1.35%</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1">
                          <a:solidFill>
                            <a:schemeClr val="accent1"/>
                          </a:solidFill>
                          <a:latin typeface="Calibri"/>
                          <a:ea typeface="Microsoft YaHei"/>
                          <a:cs typeface="Calibri"/>
                        </a:rPr>
                        <a:t>−15 bps</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571500">
                <a:tc>
                  <a:txBody>
                    <a:bodyPr/>
                    <a:lstStyle/>
                    <a:p>
                      <a:pPr/>
                      <a:r>
                        <a:rPr lang="en-US" sz="1500" b="0">
                          <a:solidFill>
                            <a:schemeClr val="accent1"/>
                          </a:solidFill>
                          <a:latin typeface="Calibri"/>
                          <a:ea typeface="Microsoft YaHei"/>
                          <a:cs typeface="Calibri"/>
                        </a:rPr>
                        <a:t>Annual fund fee ($m)</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300.00</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270.00</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1">
                          <a:solidFill>
                            <a:schemeClr val="accent1"/>
                          </a:solidFill>
                          <a:latin typeface="Calibri"/>
                          <a:ea typeface="Microsoft YaHei"/>
                          <a:cs typeface="Calibri"/>
                        </a:rPr>
                        <a:t>−30.00</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571500">
                <a:tc>
                  <a:txBody>
                    <a:bodyPr/>
                    <a:lstStyle/>
                    <a:p>
                      <a:pPr/>
                      <a:r>
                        <a:rPr lang="en-US" sz="1500" b="0">
                          <a:solidFill>
                            <a:schemeClr val="accent1"/>
                          </a:solidFill>
                          <a:latin typeface="Calibri"/>
                          <a:ea typeface="Microsoft YaHei"/>
                          <a:cs typeface="Calibri"/>
                        </a:rPr>
                        <a:t>LP IRR</a:t>
                      </a:r>
                    </a:p>
                  </a:txBody>
                  <a:tcPr anchor="ctr" marL="152400" marR="152400" marT="57150" marB="57150">
                    <a:lnT w="19050">
                      <a:solidFill>
                        <a:schemeClr val="accent1"/>
                      </a:solidFill>
                      <a:prstDash val="solid"/>
                    </a:lnT>
                    <a:noFill/>
                  </a:tcPr>
                </a:tc>
                <a:tc>
                  <a:txBody>
                    <a:bodyPr/>
                    <a:lstStyle/>
                    <a:p>
                      <a:pPr algn="r"/>
                      <a:r>
                        <a:rPr lang="en-US" sz="1500" b="0">
                          <a:solidFill>
                            <a:schemeClr val="dk1"/>
                          </a:solidFill>
                          <a:latin typeface="Calibri"/>
                          <a:ea typeface="Microsoft YaHei"/>
                          <a:cs typeface="Calibri"/>
                        </a:rPr>
                        <a:t>15.72%</a:t>
                      </a:r>
                    </a:p>
                  </a:txBody>
                  <a:tcPr anchor="ctr" marL="152400" marR="152400" marT="57150" marB="57150">
                    <a:lnT w="19050">
                      <a:solidFill>
                        <a:schemeClr val="accent1"/>
                      </a:solidFill>
                      <a:prstDash val="solid"/>
                    </a:lnT>
                    <a:noFill/>
                  </a:tcPr>
                </a:tc>
                <a:tc>
                  <a:txBody>
                    <a:bodyPr/>
                    <a:lstStyle/>
                    <a:p>
                      <a:pPr algn="r"/>
                      <a:r>
                        <a:rPr lang="en-US" sz="1500" b="0">
                          <a:solidFill>
                            <a:schemeClr val="dk1"/>
                          </a:solidFill>
                          <a:latin typeface="Calibri"/>
                          <a:ea typeface="Microsoft YaHei"/>
                          <a:cs typeface="Calibri"/>
                        </a:rPr>
                        <a:t>15.94%</a:t>
                      </a:r>
                    </a:p>
                  </a:txBody>
                  <a:tcPr anchor="ctr" marL="152400" marR="152400" marT="57150" marB="57150">
                    <a:lnT w="19050">
                      <a:solidFill>
                        <a:schemeClr val="accent1"/>
                      </a:solidFill>
                      <a:prstDash val="solid"/>
                    </a:lnT>
                    <a:noFill/>
                  </a:tcPr>
                </a:tc>
                <a:tc>
                  <a:txBody>
                    <a:bodyPr/>
                    <a:lstStyle/>
                    <a:p>
                      <a:pPr algn="r"/>
                      <a:r>
                        <a:rPr lang="en-US" sz="1500" b="1">
                          <a:solidFill>
                            <a:srgbClr val="2E7D5B"/>
                          </a:solidFill>
                          <a:latin typeface="Calibri"/>
                          <a:ea typeface="Microsoft YaHei"/>
                          <a:cs typeface="Calibri"/>
                        </a:rPr>
                        <a:t>+21.36 bps</a:t>
                      </a:r>
                    </a:p>
                  </a:txBody>
                  <a:tcPr anchor="ctr" marL="152400" marR="152400" marT="57150" marB="57150">
                    <a:lnT w="19050">
                      <a:solidFill>
                        <a:schemeClr val="accent1"/>
                      </a:solidFill>
                      <a:prstDash val="solid"/>
                    </a:lnT>
                    <a:noFill/>
                  </a:tcPr>
                </a:tc>
              </a:tr>
              <a:tr h="571500">
                <a:tc>
                  <a:txBody>
                    <a:bodyPr/>
                    <a:lstStyle/>
                    <a:p>
                      <a:pPr/>
                      <a:r>
                        <a:rPr lang="en-US" sz="1500" b="0">
                          <a:solidFill>
                            <a:schemeClr val="accent1"/>
                          </a:solidFill>
                          <a:latin typeface="Calibri"/>
                          <a:ea typeface="Microsoft YaHei"/>
                          <a:cs typeface="Calibri"/>
                        </a:rPr>
                        <a:t>Fund LP NPV at 15% ($m)</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578.22</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752.98</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1">
                          <a:solidFill>
                            <a:srgbClr val="2E7D5B"/>
                          </a:solidFill>
                          <a:latin typeface="Calibri"/>
                          <a:ea typeface="Microsoft YaHei"/>
                          <a:cs typeface="Calibri"/>
                        </a:rPr>
                        <a:t>+174.76</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1" name="reading"/>
          <p:cNvGrpSpPr/>
          <p:nvPr/>
        </p:nvGrpSpPr>
        <p:grpSpPr>
          <a:xfrm>
            <a:off x="601218" y="4711700"/>
            <a:ext cx="8837777" cy="854583"/>
            <a:chOff x="601218" y="4711700"/>
            <a:chExt cx="8837777" cy="854583"/>
          </a:xfrm>
        </p:grpSpPr>
        <p:sp>
          <p:nvSpPr>
            <p:cNvPr id="8" name="TextBox 8"/>
            <p:cNvSpPr txBox="1"/>
            <p:nvPr/>
          </p:nvSpPr>
          <p:spPr>
            <a:xfrm>
              <a:off x="602742" y="4711700"/>
              <a:ext cx="883625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Hypothetical $20bn fund. NPV at model inception; 15% assumed discount rate. Inputs above the rule, outputs below it.</a:t>
              </a:r>
            </a:p>
          </p:txBody>
        </p:sp>
        <p:sp>
          <p:nvSpPr>
            <p:cNvPr id="9" name="TextBox 9"/>
            <p:cNvSpPr txBox="1"/>
            <p:nvPr/>
          </p:nvSpPr>
          <p:spPr>
            <a:xfrm>
              <a:off x="601218" y="5048250"/>
              <a:ext cx="688125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15 bp fee cut saves the fund $30m a year and lifts LP IRR by about 21 bps.</a:t>
              </a:r>
            </a:p>
          </p:txBody>
        </p:sp>
        <p:sp>
          <p:nvSpPr>
            <p:cNvPr id="10" name="TextBox 10"/>
            <p:cNvSpPr txBox="1"/>
            <p:nvPr/>
          </p:nvSpPr>
          <p:spPr>
            <a:xfrm>
              <a:off x="602742" y="5302250"/>
              <a:ext cx="650286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−15 bps fee rate and the +21.36 bps IRR gain are different measures of one change.</a:t>
              </a:r>
            </a:p>
          </p:txBody>
        </p:sp>
      </p:grpSp>
      <p:grpSp>
        <p:nvGrpSpPr>
          <p:cNvPr id="14" name="footer"/>
          <p:cNvGrpSpPr/>
          <p:nvPr/>
        </p:nvGrpSpPr>
        <p:grpSpPr>
          <a:xfrm>
            <a:off x="604266" y="6426200"/>
            <a:ext cx="10983468" cy="291084"/>
            <a:chOff x="604266" y="6426200"/>
            <a:chExt cx="10983468" cy="291084"/>
          </a:xfrm>
        </p:grpSpPr>
        <p:sp>
          <p:nvSpPr>
            <p:cNvPr id="12" name="TextBox 12"/>
            <p:cNvSpPr txBox="1"/>
            <p:nvPr/>
          </p:nvSpPr>
          <p:spPr>
            <a:xfrm>
              <a:off x="604266" y="6426200"/>
              <a:ext cx="934886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Inputs!C6, C18:C19; Q4 Analysis!B6:D7. The IRR change uses full precision (21.3581 bps); OPERF's 3.75% model share scales amounts only, never the IRR.</a:t>
              </a:r>
            </a:p>
          </p:txBody>
        </p:sp>
        <p:sp>
          <p:nvSpPr>
            <p:cNvPr id="13" name="TextBox 1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10288686" cy="586740"/>
            <a:chOff x="594360" y="812800"/>
            <a:chExt cx="10288686" cy="586740"/>
          </a:xfrm>
        </p:grpSpPr>
        <p:sp>
          <p:nvSpPr>
            <p:cNvPr id="5" name="TextBox 5"/>
            <p:cNvSpPr txBox="1"/>
            <p:nvPr/>
          </p:nvSpPr>
          <p:spPr>
            <a:xfrm>
              <a:off x="594360" y="812800"/>
              <a:ext cx="1028868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fee cut adds $6.55m to OPERF's modeled NPV</a:t>
              </a:r>
            </a:p>
          </p:txBody>
        </p:sp>
      </p:grpSp>
      <p:grpSp>
        <p:nvGrpSpPr>
          <p:cNvPr id="8" name="setup-line"/>
          <p:cNvGrpSpPr/>
          <p:nvPr/>
        </p:nvGrpSpPr>
        <p:grpSpPr>
          <a:xfrm>
            <a:off x="601218" y="1771650"/>
            <a:ext cx="6882857" cy="322707"/>
            <a:chOff x="601218" y="1771650"/>
            <a:chExt cx="6882857" cy="322707"/>
          </a:xfrm>
        </p:grpSpPr>
        <p:sp>
          <p:nvSpPr>
            <p:cNvPr id="7" name="TextBox 7"/>
            <p:cNvSpPr txBox="1"/>
            <p:nvPr/>
          </p:nvSpPr>
          <p:spPr>
            <a:xfrm>
              <a:off x="601218" y="1771650"/>
              <a:ext cx="688285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Management fee </a:t>
              </a:r>
              <a:r>
                <a:rPr lang="en-US" sz="1650" b="1" dirty="0">
                  <a:solidFill>
                    <a:schemeClr val="accent1"/>
                  </a:solidFill>
                  <a:latin typeface="+mn-lt"/>
                  <a:ea typeface="+mn-ea"/>
                  <a:cs typeface="+mn-cs"/>
                </a:rPr>
                <a:t>1.50% → 1.35%</a:t>
              </a:r>
              <a:r>
                <a:rPr lang="en-US" sz="1650" dirty="0">
                  <a:solidFill>
                    <a:schemeClr val="dk1"/>
                  </a:solidFill>
                  <a:latin typeface="+mn-lt"/>
                  <a:ea typeface="+mn-ea"/>
                  <a:cs typeface="+mn-cs"/>
                </a:rPr>
                <a:t>, with all other assumptions held constant.</a:t>
              </a:r>
            </a:p>
          </p:txBody>
        </p:sp>
      </p:grpSp>
      <p:grpSp>
        <p:nvGrpSpPr>
          <p:cNvPr id="38" name="operf-npv-dumbbell"/>
          <p:cNvGrpSpPr/>
          <p:nvPr/>
        </p:nvGrpSpPr>
        <p:grpSpPr>
          <a:xfrm>
            <a:off x="1101848" y="2590800"/>
            <a:ext cx="10024122" cy="1432433"/>
            <a:chOff x="1101848" y="2590800"/>
            <a:chExt cx="10024122" cy="1432433"/>
          </a:xfrm>
        </p:grpSpPr>
        <p:grpSp>
          <p:nvGrpSpPr>
            <p:cNvPr id="37" name="operf-npv-dumbbell-chartArea"/>
            <p:cNvGrpSpPr/>
            <p:nvPr/>
          </p:nvGrpSpPr>
          <p:grpSpPr>
            <a:xfrm>
              <a:off x="1101848" y="2590800"/>
              <a:ext cx="10024122" cy="1432433"/>
              <a:chOff x="1101848" y="2590800"/>
              <a:chExt cx="10024122" cy="1432433"/>
            </a:xfrm>
          </p:grpSpPr>
          <p:sp>
            <p:nvSpPr>
              <p:cNvPr id="9" name="Line 9"/>
              <p:cNvSpPr/>
              <p:nvPr/>
            </p:nvSpPr>
            <p:spPr>
              <a:xfrm>
                <a:off x="1143000" y="3429000"/>
                <a:ext cx="9906000" cy="9525"/>
              </a:xfrm>
              <a:custGeom>
                <a:avLst/>
                <a:gdLst/>
                <a:ahLst/>
                <a:cxnLst/>
                <a:rect l="l" t="t" r="r" b="b"/>
                <a:pathLst>
                  <a:path w="9906000" h="9525">
                    <a:moveTo>
                      <a:pt x="0" y="0"/>
                    </a:moveTo>
                    <a:lnTo>
                      <a:pt x="9906000" y="0"/>
                    </a:lnTo>
                  </a:path>
                </a:pathLst>
              </a:custGeom>
              <a:noFill/>
              <a:ln w="14288">
                <a:solidFill>
                  <a:srgbClr val="5C6670"/>
                </a:solidFill>
              </a:ln>
            </p:spPr>
          </p:sp>
          <p:grpSp>
            <p:nvGrpSpPr>
              <p:cNvPr id="19" name="Group 19"/>
              <p:cNvGrpSpPr/>
              <p:nvPr/>
            </p:nvGrpSpPr>
            <p:grpSpPr>
              <a:xfrm>
                <a:off x="1143000" y="3429000"/>
                <a:ext cx="9915525" cy="76200"/>
                <a:chOff x="1143000" y="3429000"/>
                <a:chExt cx="9915525" cy="76200"/>
              </a:xfrm>
            </p:grpSpPr>
            <p:sp>
              <p:nvSpPr>
                <p:cNvPr id="10" name="Line 10"/>
                <p:cNvSpPr/>
                <p:nvPr/>
              </p:nvSpPr>
              <p:spPr>
                <a:xfrm>
                  <a:off x="11430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1" name="Line 11"/>
                <p:cNvSpPr/>
                <p:nvPr/>
              </p:nvSpPr>
              <p:spPr>
                <a:xfrm>
                  <a:off x="23812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2" name="Line 12"/>
                <p:cNvSpPr/>
                <p:nvPr/>
              </p:nvSpPr>
              <p:spPr>
                <a:xfrm>
                  <a:off x="36195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3" name="Line 13"/>
                <p:cNvSpPr/>
                <p:nvPr/>
              </p:nvSpPr>
              <p:spPr>
                <a:xfrm>
                  <a:off x="48577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4" name="Line 14"/>
                <p:cNvSpPr/>
                <p:nvPr/>
              </p:nvSpPr>
              <p:spPr>
                <a:xfrm>
                  <a:off x="60960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5" name="Line 15"/>
                <p:cNvSpPr/>
                <p:nvPr/>
              </p:nvSpPr>
              <p:spPr>
                <a:xfrm>
                  <a:off x="73342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6" name="Line 16"/>
                <p:cNvSpPr/>
                <p:nvPr/>
              </p:nvSpPr>
              <p:spPr>
                <a:xfrm>
                  <a:off x="85725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7" name="Line 17"/>
                <p:cNvSpPr/>
                <p:nvPr/>
              </p:nvSpPr>
              <p:spPr>
                <a:xfrm>
                  <a:off x="98107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8" name="Line 18"/>
                <p:cNvSpPr/>
                <p:nvPr/>
              </p:nvSpPr>
              <p:spPr>
                <a:xfrm>
                  <a:off x="11049000" y="3429000"/>
                  <a:ext cx="9525" cy="76200"/>
                </a:xfrm>
                <a:custGeom>
                  <a:avLst/>
                  <a:gdLst/>
                  <a:ahLst/>
                  <a:cxnLst/>
                  <a:rect l="l" t="t" r="r" b="b"/>
                  <a:pathLst>
                    <a:path w="9525" h="76200">
                      <a:moveTo>
                        <a:pt x="0" y="0"/>
                      </a:moveTo>
                      <a:lnTo>
                        <a:pt x="0" y="76200"/>
                      </a:lnTo>
                    </a:path>
                  </a:pathLst>
                </a:custGeom>
                <a:noFill/>
                <a:ln w="9525">
                  <a:solidFill>
                    <a:srgbClr val="5C6670"/>
                  </a:solidFill>
                </a:ln>
              </p:spPr>
            </p:sp>
          </p:grpSp>
          <p:grpSp>
            <p:nvGrpSpPr>
              <p:cNvPr id="29" name="Group 29"/>
              <p:cNvGrpSpPr/>
              <p:nvPr/>
            </p:nvGrpSpPr>
            <p:grpSpPr>
              <a:xfrm>
                <a:off x="1101848" y="3549650"/>
                <a:ext cx="10024122" cy="205359"/>
                <a:chOff x="1101848" y="3549650"/>
                <a:chExt cx="10024122" cy="205359"/>
              </a:xfrm>
            </p:grpSpPr>
            <p:sp>
              <p:nvSpPr>
                <p:cNvPr id="20" name="TextBox 20"/>
                <p:cNvSpPr txBox="1"/>
                <p:nvPr/>
              </p:nvSpPr>
              <p:spPr>
                <a:xfrm>
                  <a:off x="1101848" y="3549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21" name="TextBox 21"/>
                <p:cNvSpPr txBox="1"/>
                <p:nvPr/>
              </p:nvSpPr>
              <p:spPr>
                <a:xfrm>
                  <a:off x="2340098" y="3549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a:t>
                  </a:r>
                </a:p>
              </p:txBody>
            </p:sp>
            <p:sp>
              <p:nvSpPr>
                <p:cNvPr id="22" name="TextBox 22"/>
                <p:cNvSpPr txBox="1"/>
                <p:nvPr/>
              </p:nvSpPr>
              <p:spPr>
                <a:xfrm>
                  <a:off x="3578348" y="3549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8</a:t>
                  </a:r>
                </a:p>
              </p:txBody>
            </p:sp>
            <p:sp>
              <p:nvSpPr>
                <p:cNvPr id="23" name="TextBox 23"/>
                <p:cNvSpPr txBox="1"/>
                <p:nvPr/>
              </p:nvSpPr>
              <p:spPr>
                <a:xfrm>
                  <a:off x="478077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12</a:t>
                  </a:r>
                </a:p>
              </p:txBody>
            </p:sp>
            <p:sp>
              <p:nvSpPr>
                <p:cNvPr id="24" name="TextBox 24"/>
                <p:cNvSpPr txBox="1"/>
                <p:nvPr/>
              </p:nvSpPr>
              <p:spPr>
                <a:xfrm>
                  <a:off x="601902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16</a:t>
                  </a:r>
                </a:p>
              </p:txBody>
            </p:sp>
            <p:sp>
              <p:nvSpPr>
                <p:cNvPr id="25" name="TextBox 25"/>
                <p:cNvSpPr txBox="1"/>
                <p:nvPr/>
              </p:nvSpPr>
              <p:spPr>
                <a:xfrm>
                  <a:off x="725727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26" name="TextBox 26"/>
                <p:cNvSpPr txBox="1"/>
                <p:nvPr/>
              </p:nvSpPr>
              <p:spPr>
                <a:xfrm>
                  <a:off x="849552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24</a:t>
                  </a:r>
                </a:p>
              </p:txBody>
            </p:sp>
            <p:sp>
              <p:nvSpPr>
                <p:cNvPr id="27" name="TextBox 27"/>
                <p:cNvSpPr txBox="1"/>
                <p:nvPr/>
              </p:nvSpPr>
              <p:spPr>
                <a:xfrm>
                  <a:off x="973377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28</a:t>
                  </a:r>
                </a:p>
              </p:txBody>
            </p:sp>
            <p:sp>
              <p:nvSpPr>
                <p:cNvPr id="28" name="TextBox 28"/>
                <p:cNvSpPr txBox="1"/>
                <p:nvPr/>
              </p:nvSpPr>
              <p:spPr>
                <a:xfrm>
                  <a:off x="1097202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32</a:t>
                  </a:r>
                </a:p>
              </p:txBody>
            </p:sp>
          </p:grpSp>
          <p:sp>
            <p:nvSpPr>
              <p:cNvPr id="30" name="TextBox 30"/>
              <p:cNvSpPr txBox="1"/>
              <p:nvPr/>
            </p:nvSpPr>
            <p:spPr>
              <a:xfrm>
                <a:off x="9660136" y="3797300"/>
                <a:ext cx="139419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OPERF NPV at 15%, $m</a:t>
                </a:r>
              </a:p>
            </p:txBody>
          </p:sp>
          <p:sp>
            <p:nvSpPr>
              <p:cNvPr id="31" name="Line 31"/>
              <p:cNvSpPr/>
              <p:nvPr/>
            </p:nvSpPr>
            <p:spPr>
              <a:xfrm>
                <a:off x="7855268" y="3429000"/>
                <a:ext cx="2028825" cy="9525"/>
              </a:xfrm>
              <a:custGeom>
                <a:avLst/>
                <a:gdLst/>
                <a:ahLst/>
                <a:cxnLst/>
                <a:rect l="l" t="t" r="r" b="b"/>
                <a:pathLst>
                  <a:path w="2028825" h="9525">
                    <a:moveTo>
                      <a:pt x="0" y="0"/>
                    </a:moveTo>
                    <a:lnTo>
                      <a:pt x="2028825" y="0"/>
                    </a:lnTo>
                  </a:path>
                </a:pathLst>
              </a:custGeom>
              <a:noFill/>
              <a:ln w="57150">
                <a:solidFill>
                  <a:schemeClr val="accent1"/>
                </a:solidFill>
              </a:ln>
            </p:spPr>
          </p:sp>
          <p:sp>
            <p:nvSpPr>
              <p:cNvPr id="32" name="Ellipse 32"/>
              <p:cNvSpPr/>
              <p:nvPr/>
            </p:nvSpPr>
            <p:spPr>
              <a:xfrm>
                <a:off x="7740968" y="3314700"/>
                <a:ext cx="228600" cy="228600"/>
              </a:xfrm>
              <a:prstGeom prst="ellipse">
                <a:avLst/>
              </a:prstGeom>
              <a:solidFill>
                <a:schemeClr val="lt1"/>
              </a:solidFill>
              <a:ln w="28575">
                <a:solidFill>
                  <a:schemeClr val="accent1"/>
                </a:solidFill>
              </a:ln>
            </p:spPr>
          </p:sp>
          <p:sp>
            <p:nvSpPr>
              <p:cNvPr id="33" name="Ellipse 33"/>
              <p:cNvSpPr/>
              <p:nvPr/>
            </p:nvSpPr>
            <p:spPr>
              <a:xfrm>
                <a:off x="9769792" y="3314700"/>
                <a:ext cx="228600" cy="228600"/>
              </a:xfrm>
              <a:prstGeom prst="ellipse">
                <a:avLst/>
              </a:prstGeom>
              <a:solidFill>
                <a:schemeClr val="accent2"/>
              </a:solidFill>
              <a:ln>
                <a:noFill/>
              </a:ln>
            </p:spPr>
          </p:sp>
          <p:sp>
            <p:nvSpPr>
              <p:cNvPr id="34" name="TextBox 34"/>
              <p:cNvSpPr txBox="1"/>
              <p:nvPr/>
            </p:nvSpPr>
            <p:spPr>
              <a:xfrm>
                <a:off x="7093847" y="3759200"/>
                <a:ext cx="1522842"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1.50% fee · $21.68m</a:t>
                </a:r>
              </a:p>
            </p:txBody>
          </p:sp>
          <p:sp>
            <p:nvSpPr>
              <p:cNvPr id="35" name="TextBox 35"/>
              <p:cNvSpPr txBox="1"/>
              <p:nvPr/>
            </p:nvSpPr>
            <p:spPr>
              <a:xfrm>
                <a:off x="9113921" y="2940050"/>
                <a:ext cx="154034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1.35% fee · $28.24m</a:t>
                </a:r>
              </a:p>
            </p:txBody>
          </p:sp>
          <p:sp>
            <p:nvSpPr>
              <p:cNvPr id="36" name="TextBox 36"/>
              <p:cNvSpPr txBox="1"/>
              <p:nvPr/>
            </p:nvSpPr>
            <p:spPr>
              <a:xfrm>
                <a:off x="8089711" y="2590800"/>
                <a:ext cx="1556129" cy="381381"/>
              </a:xfrm>
              <a:prstGeom prst="rect">
                <a:avLst/>
              </a:prstGeom>
              <a:noFill/>
              <a:ln>
                <a:noFill/>
              </a:ln>
            </p:spPr>
            <p:txBody>
              <a:bodyPr wrap="none" lIns="0" tIns="0" rIns="0" bIns="0" anchor="t" anchorCtr="0">
                <a:spAutoFit/>
              </a:bodyPr>
              <a:lstStyle/>
              <a:p>
                <a:pPr algn="ctr"/>
                <a:r>
                  <a:rPr lang="en-US" sz="1950" b="1" dirty="0">
                    <a:solidFill>
                      <a:schemeClr val="accent1"/>
                    </a:solidFill>
                    <a:latin typeface="+mn-lt"/>
                    <a:ea typeface="+mn-ea"/>
                    <a:cs typeface="+mn-cs"/>
                  </a:rPr>
                  <a:t>+$6.55m NPV</a:t>
                </a:r>
              </a:p>
            </p:txBody>
          </p:sp>
        </p:grpSp>
      </p:grpSp>
      <p:grpSp>
        <p:nvGrpSpPr>
          <p:cNvPr id="41" name="irr-and-savings"/>
          <p:cNvGrpSpPr/>
          <p:nvPr/>
        </p:nvGrpSpPr>
        <p:grpSpPr>
          <a:xfrm>
            <a:off x="601218" y="4610100"/>
            <a:ext cx="9886335" cy="575183"/>
            <a:chOff x="601218" y="4610100"/>
            <a:chExt cx="9886335" cy="575183"/>
          </a:xfrm>
        </p:grpSpPr>
        <p:sp>
          <p:nvSpPr>
            <p:cNvPr id="39" name="TextBox 39"/>
            <p:cNvSpPr txBox="1"/>
            <p:nvPr/>
          </p:nvSpPr>
          <p:spPr>
            <a:xfrm>
              <a:off x="601218" y="4610100"/>
              <a:ext cx="378412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LP IRR 15.72% → 15.94%, about +21 bps.</a:t>
              </a:r>
            </a:p>
          </p:txBody>
        </p:sp>
        <p:sp>
          <p:nvSpPr>
            <p:cNvPr id="40" name="TextBox 40"/>
            <p:cNvSpPr txBox="1"/>
            <p:nvPr/>
          </p:nvSpPr>
          <p:spPr>
            <a:xfrm>
              <a:off x="602742" y="4921250"/>
              <a:ext cx="988481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Nominal fee saving $1.125m per year, $11.25m over ten years (OPERF share 750 ÷ 20,000 = 3.75%) — not the same measure as NPV.</a:t>
              </a:r>
            </a:p>
          </p:txBody>
        </p:sp>
      </p:grpSp>
      <p:grpSp>
        <p:nvGrpSpPr>
          <p:cNvPr id="44" name="valuation-caption"/>
          <p:cNvGrpSpPr/>
          <p:nvPr/>
        </p:nvGrpSpPr>
        <p:grpSpPr>
          <a:xfrm>
            <a:off x="602742" y="5397500"/>
            <a:ext cx="7625352" cy="511683"/>
            <a:chOff x="602742" y="5397500"/>
            <a:chExt cx="7625352" cy="511683"/>
          </a:xfrm>
        </p:grpSpPr>
        <p:sp>
          <p:nvSpPr>
            <p:cNvPr id="42" name="TextBox 42"/>
            <p:cNvSpPr txBox="1"/>
            <p:nvPr/>
          </p:nvSpPr>
          <p:spPr>
            <a:xfrm>
              <a:off x="602742" y="5397500"/>
              <a:ext cx="64205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 Fee saving amounts are nominal.</a:t>
              </a:r>
            </a:p>
          </p:txBody>
        </p:sp>
        <p:sp>
          <p:nvSpPr>
            <p:cNvPr id="43" name="TextBox 43"/>
            <p:cNvSpPr txBox="1"/>
            <p:nvPr/>
          </p:nvSpPr>
          <p:spPr>
            <a:xfrm>
              <a:off x="602742" y="5645150"/>
              <a:ext cx="762535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Ten-year inception-model comparison; not a valuation of the remaining investment in December 2008.</a:t>
              </a:r>
            </a:p>
          </p:txBody>
        </p:sp>
      </p:grpSp>
      <p:grpSp>
        <p:nvGrpSpPr>
          <p:cNvPr id="47" name="footer"/>
          <p:cNvGrpSpPr/>
          <p:nvPr/>
        </p:nvGrpSpPr>
        <p:grpSpPr>
          <a:xfrm>
            <a:off x="604266" y="6426200"/>
            <a:ext cx="10983468" cy="291084"/>
            <a:chOff x="604266" y="6426200"/>
            <a:chExt cx="10983468" cy="291084"/>
          </a:xfrm>
        </p:grpSpPr>
        <p:sp>
          <p:nvSpPr>
            <p:cNvPr id="45" name="TextBox 45"/>
            <p:cNvSpPr txBox="1"/>
            <p:nvPr/>
          </p:nvSpPr>
          <p:spPr>
            <a:xfrm>
              <a:off x="604266" y="6426200"/>
              <a:ext cx="933869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Q4 Analysis!C17:C21, C25, C28; Q3 Base case!C64; Q4 Fee cut!C64. The gain uses full precision (6.5536), not the rounded difference 28.24 − 21.68 = 6.56.</a:t>
              </a:r>
            </a:p>
          </p:txBody>
        </p:sp>
        <p:sp>
          <p:nvSpPr>
            <p:cNvPr id="46" name="TextBox 4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168951" cy="1043940"/>
            <a:chOff x="594360" y="812800"/>
            <a:chExt cx="5168951" cy="1043940"/>
          </a:xfrm>
        </p:grpSpPr>
        <p:sp>
          <p:nvSpPr>
            <p:cNvPr id="5" name="TextBox 5"/>
            <p:cNvSpPr txBox="1"/>
            <p:nvPr/>
          </p:nvSpPr>
          <p:spPr>
            <a:xfrm>
              <a:off x="594360" y="812800"/>
              <a:ext cx="516895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Reinvested fee savings create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additional LP value</a:t>
              </a:r>
            </a:p>
          </p:txBody>
        </p:sp>
      </p:grpSp>
      <p:grpSp>
        <p:nvGrpSpPr>
          <p:cNvPr id="13" name="fee-gain-bridge"/>
          <p:cNvGrpSpPr/>
          <p:nvPr/>
        </p:nvGrpSpPr>
        <p:grpSpPr>
          <a:xfrm>
            <a:off x="609600" y="1756410"/>
            <a:ext cx="10972800" cy="4149090"/>
            <a:chOff x="609600" y="1756410"/>
            <a:chExt cx="10972800" cy="4149090"/>
          </a:xfrm>
        </p:grpSpPr>
        <p:graphicFrame>
          <p:nvGraphicFramePr>
            <p:cNvPr id="7" name="fee-gain-bridge"/>
            <p:cNvGraphicFramePr>
              <a:graphicFrameLocks noGrp="1"/>
            </p:cNvGraphicFramePr>
            <p:nvPr/>
          </p:nvGraphicFramePr>
          <p:xfrm>
            <a:off x="609600" y="1790700"/>
            <a:ext cx="10972800" cy="4114800"/>
          </p:xfrm>
          <a:graphic>
            <a:graphicData uri="http://schemas.microsoft.com/office/drawing/2014/chartex">
              <cx:chart xmlns:cx="http://schemas.microsoft.com/office/drawing/2014/chartex" xmlns:r="http://schemas.openxmlformats.org/officeDocument/2006/relationships" r:id="rId2"/>
            </a:graphicData>
          </a:graphic>
        </p:graphicFrame>
        <p:sp>
          <p:nvSpPr>
            <p:cNvPr id="8" name="Chart Title 8"/>
            <p:cNvSpPr txBox="1"/>
            <p:nvPr/>
          </p:nvSpPr>
          <p:spPr>
            <a:xfrm>
              <a:off x="609600" y="1756410"/>
              <a:ext cx="10972800" cy="243840"/>
            </a:xfrm>
            <a:prstGeom prst="rect">
              <a:avLst/>
            </a:prstGeom>
            <a:noFill/>
            <a:ln>
              <a:noFill/>
            </a:ln>
          </p:spPr>
          <p:txBody>
            <a:bodyPr wrap="square" lIns="0" tIns="0" rIns="0" bIns="0" anchor="b" anchorCtr="0"/>
            <a:lstStyle/>
            <a:p>
              <a:pPr algn="l"/>
              <a:r>
                <a:rPr lang="en-US" sz="1200" b="1">
                  <a:solidFill>
                    <a:srgbClr val="003657"/>
                  </a:solidFill>
                  <a:latin typeface="Calibri"/>
                  <a:ea typeface="Microsoft YaHei"/>
                  <a:cs typeface="Calibri"/>
                </a:rPr>
                <a:t>Lower fees leave more capital invested</a:t>
              </a:r>
            </a:p>
          </p:txBody>
        </p:sp>
        <p:sp>
          <p:nvSpPr>
            <p:cNvPr id="9" name="Chart Note 9"/>
            <p:cNvSpPr txBox="1"/>
            <p:nvPr/>
          </p:nvSpPr>
          <p:spPr>
            <a:xfrm>
              <a:off x="2571750" y="2654618"/>
              <a:ext cx="952500" cy="274320"/>
            </a:xfrm>
            <a:prstGeom prst="rect">
              <a:avLst/>
            </a:prstGeom>
            <a:noFill/>
            <a:ln>
              <a:noFill/>
            </a:ln>
          </p:spPr>
          <p:txBody>
            <a:bodyPr wrap="square" lIns="0" tIns="0" rIns="0" bIns="0" anchor="b" anchorCtr="0"/>
            <a:lstStyle/>
            <a:p>
              <a:pPr algn="ctr"/>
              <a:r>
                <a:rPr lang="en-US" sz="1350" b="1">
                  <a:solidFill>
                    <a:srgbClr val="2E7D5B"/>
                  </a:solidFill>
                  <a:latin typeface="Calibri"/>
                  <a:ea typeface="Microsoft YaHei"/>
                  <a:cs typeface="Calibri"/>
                </a:rPr>
                <a:t>+8.02</a:t>
              </a:r>
            </a:p>
          </p:txBody>
        </p:sp>
        <p:sp>
          <p:nvSpPr>
            <p:cNvPr id="10" name="Chart Note 10"/>
            <p:cNvSpPr txBox="1"/>
            <p:nvPr/>
          </p:nvSpPr>
          <p:spPr>
            <a:xfrm>
              <a:off x="5619750" y="2654618"/>
              <a:ext cx="952500" cy="274320"/>
            </a:xfrm>
            <a:prstGeom prst="rect">
              <a:avLst/>
            </a:prstGeom>
            <a:noFill/>
            <a:ln>
              <a:noFill/>
            </a:ln>
          </p:spPr>
          <p:txBody>
            <a:bodyPr wrap="square" lIns="0" tIns="0" rIns="0" bIns="0" anchor="b" anchorCtr="0"/>
            <a:lstStyle/>
            <a:p>
              <a:pPr algn="ctr"/>
              <a:r>
                <a:rPr lang="en-US" sz="1350" b="1">
                  <a:solidFill>
                    <a:srgbClr val="A33D3D"/>
                  </a:solidFill>
                  <a:latin typeface="Calibri"/>
                  <a:ea typeface="Microsoft YaHei"/>
                  <a:cs typeface="Calibri"/>
                </a:rPr>
                <a:t>−1.47</a:t>
              </a:r>
            </a:p>
          </p:txBody>
        </p:sp>
        <p:sp>
          <p:nvSpPr>
            <p:cNvPr id="11" name="Chart Note 11"/>
            <p:cNvSpPr txBox="1"/>
            <p:nvPr/>
          </p:nvSpPr>
          <p:spPr>
            <a:xfrm>
              <a:off x="8667750" y="3045142"/>
              <a:ext cx="952500" cy="274320"/>
            </a:xfrm>
            <a:prstGeom prst="rect">
              <a:avLst/>
            </a:prstGeom>
            <a:noFill/>
            <a:ln>
              <a:noFill/>
            </a:ln>
          </p:spPr>
          <p:txBody>
            <a:bodyPr wrap="square" lIns="0" tIns="0" rIns="0" bIns="0" anchor="b" anchorCtr="0"/>
            <a:lstStyle/>
            <a:p>
              <a:pPr algn="ctr"/>
              <a:r>
                <a:rPr lang="en-US" sz="1350" b="1">
                  <a:solidFill>
                    <a:srgbClr val="003657"/>
                  </a:solidFill>
                  <a:latin typeface="Calibri"/>
                  <a:ea typeface="Microsoft YaHei"/>
                  <a:cs typeface="Calibri"/>
                </a:rPr>
                <a:t>+6.55</a:t>
              </a:r>
            </a:p>
          </p:txBody>
        </p:sp>
        <p:sp>
          <p:nvSpPr>
            <p:cNvPr id="12" name="Chart Note 12"/>
            <p:cNvSpPr txBox="1"/>
            <p:nvPr/>
          </p:nvSpPr>
          <p:spPr>
            <a:xfrm>
              <a:off x="2762250" y="5573078"/>
              <a:ext cx="6667500" cy="213360"/>
            </a:xfrm>
            <a:prstGeom prst="rect">
              <a:avLst/>
            </a:prstGeom>
            <a:noFill/>
            <a:ln>
              <a:noFill/>
            </a:ln>
          </p:spPr>
          <p:txBody>
            <a:bodyPr wrap="square" lIns="0" tIns="0" rIns="0" bIns="0" anchor="b" anchorCtr="0"/>
            <a:lstStyle/>
            <a:p>
              <a:pPr algn="ctr"/>
              <a:r>
                <a:rPr lang="en-US" sz="1050">
                  <a:solidFill>
                    <a:srgbClr val="5C6670"/>
                  </a:solidFill>
                  <a:latin typeface="Calibri"/>
                  <a:ea typeface="Microsoft YaHei"/>
                  <a:cs typeface="Calibri"/>
                </a:rPr>
                <a:t>OPERF share of incremental cash flows, $m PV at 15%; NPV at model inception.</a:t>
              </a:r>
            </a:p>
          </p:txBody>
        </p:sp>
      </p:grpSp>
      <p:grpSp>
        <p:nvGrpSpPr>
          <p:cNvPr id="16" name="footer"/>
          <p:cNvGrpSpPr/>
          <p:nvPr/>
        </p:nvGrpSpPr>
        <p:grpSpPr>
          <a:xfrm>
            <a:off x="604266" y="6350000"/>
            <a:ext cx="10983468" cy="367284"/>
            <a:chOff x="604266" y="6350000"/>
            <a:chExt cx="10983468" cy="367284"/>
          </a:xfrm>
        </p:grpSpPr>
        <p:sp>
          <p:nvSpPr>
            <p:cNvPr id="14" name="TextBox 14"/>
            <p:cNvSpPr txBox="1"/>
            <p:nvPr/>
          </p:nvSpPr>
          <p:spPr>
            <a:xfrm>
              <a:off x="604266" y="6350000"/>
              <a:ext cx="837555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Q4 Analysis!C23:C25; 8.019301 − 1.465723 = 6.553578. The PV of the direct fee saving (Q4 Analysis!C22 = $6.49m) is an alternative view and is not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added on top; the −1.47 is not simply 20% of 8.02, because capital-return and carry timing change period by period.</a:t>
              </a:r>
            </a:p>
          </p:txBody>
        </p:sp>
        <p:sp>
          <p:nvSpPr>
            <p:cNvPr id="15" name="TextBox 1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275673" cy="586740"/>
            <a:chOff x="594360" y="812800"/>
            <a:chExt cx="8275673" cy="586740"/>
          </a:xfrm>
        </p:grpSpPr>
        <p:sp>
          <p:nvSpPr>
            <p:cNvPr id="5" name="TextBox 5"/>
            <p:cNvSpPr txBox="1"/>
            <p:nvPr/>
          </p:nvSpPr>
          <p:spPr>
            <a:xfrm>
              <a:off x="594360" y="812800"/>
              <a:ext cx="827567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GP carry rises, while total GP receipts fall</a:t>
              </a:r>
            </a:p>
          </p:txBody>
        </p:sp>
      </p:grpSp>
      <p:grpSp>
        <p:nvGrpSpPr>
          <p:cNvPr id="10" name="gp-receipts-change"/>
          <p:cNvGrpSpPr/>
          <p:nvPr/>
        </p:nvGrpSpPr>
        <p:grpSpPr>
          <a:xfrm>
            <a:off x="609600" y="1714500"/>
            <a:ext cx="10972800" cy="2857500"/>
            <a:chOff x="609600" y="1714500"/>
            <a:chExt cx="10972800" cy="2857500"/>
          </a:xfrm>
        </p:grpSpPr>
        <p:graphicFrame>
          <p:nvGraphicFramePr>
            <p:cNvPr id="7" name="gp-receipts-change"/>
            <p:cNvGraphicFramePr>
              <a:graphicFrameLocks noGrp="1"/>
            </p:cNvGraphicFramePr>
            <p:nvPr/>
          </p:nvGraphicFramePr>
          <p:xfrm>
            <a:off x="609600" y="1714500"/>
            <a:ext cx="10972800" cy="2857500"/>
          </p:xfrm>
          <a:graphic>
            <a:graphicData uri="http://schemas.openxmlformats.org/drawingml/2006/chart">
              <c:chart xmlns:c="http://schemas.openxmlformats.org/drawingml/2006/chart" r:id="rId2"/>
            </a:graphicData>
          </a:graphic>
        </p:graphicFrame>
        <p:sp>
          <p:nvSpPr>
            <p:cNvPr id="8" name="Chart Note 8"/>
            <p:cNvSpPr txBox="1"/>
            <p:nvPr/>
          </p:nvSpPr>
          <p:spPr>
            <a:xfrm>
              <a:off x="2400300" y="2549842"/>
              <a:ext cx="952500" cy="274320"/>
            </a:xfrm>
            <a:prstGeom prst="rect">
              <a:avLst/>
            </a:prstGeom>
            <a:noFill/>
            <a:ln>
              <a:noFill/>
            </a:ln>
          </p:spPr>
          <p:txBody>
            <a:bodyPr wrap="square" lIns="0" tIns="0" rIns="0" bIns="0" anchor="b" anchorCtr="0"/>
            <a:lstStyle/>
            <a:p>
              <a:pPr algn="r"/>
              <a:r>
                <a:rPr lang="en-US" sz="1350" b="1">
                  <a:solidFill>
                    <a:srgbClr val="BC9E60"/>
                  </a:solidFill>
                  <a:latin typeface="Calibri"/>
                  <a:ea typeface="Microsoft YaHei"/>
                  <a:cs typeface="Calibri"/>
                </a:rPr>
                <a:t>−300.00</a:t>
              </a:r>
            </a:p>
          </p:txBody>
        </p:sp>
        <p:sp>
          <p:nvSpPr>
            <p:cNvPr id="9" name="Chart Note 9"/>
            <p:cNvSpPr txBox="1"/>
            <p:nvPr/>
          </p:nvSpPr>
          <p:spPr>
            <a:xfrm>
              <a:off x="10210800" y="3349942"/>
              <a:ext cx="952500" cy="274320"/>
            </a:xfrm>
            <a:prstGeom prst="rect">
              <a:avLst/>
            </a:prstGeom>
            <a:noFill/>
            <a:ln>
              <a:noFill/>
            </a:ln>
          </p:spPr>
          <p:txBody>
            <a:bodyPr wrap="square" lIns="0" tIns="0" rIns="0" bIns="0" anchor="b" anchorCtr="0"/>
            <a:lstStyle/>
            <a:p>
              <a:pPr algn="l"/>
              <a:r>
                <a:rPr lang="en-US" sz="1350" b="1">
                  <a:solidFill>
                    <a:srgbClr val="0055FF"/>
                  </a:solidFill>
                  <a:latin typeface="Calibri"/>
                  <a:ea typeface="Microsoft YaHei"/>
                  <a:cs typeface="Calibri"/>
                </a:rPr>
                <a:t>+140.22</a:t>
              </a:r>
            </a:p>
          </p:txBody>
        </p:sp>
      </p:grpSp>
      <p:grpSp>
        <p:nvGrpSpPr>
          <p:cNvPr id="13" name="net-change"/>
          <p:cNvGrpSpPr/>
          <p:nvPr/>
        </p:nvGrpSpPr>
        <p:grpSpPr>
          <a:xfrm>
            <a:off x="599694" y="4781550"/>
            <a:ext cx="10982706" cy="476631"/>
            <a:chOff x="599694" y="4781550"/>
            <a:chExt cx="10982706" cy="476631"/>
          </a:xfrm>
        </p:grpSpPr>
        <p:sp>
          <p:nvSpPr>
            <p:cNvPr id="11" name="Line 11"/>
            <p:cNvSpPr/>
            <p:nvPr/>
          </p:nvSpPr>
          <p:spPr>
            <a:xfrm>
              <a:off x="609600" y="4781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TextBox 12"/>
            <p:cNvSpPr txBox="1"/>
            <p:nvPr/>
          </p:nvSpPr>
          <p:spPr>
            <a:xfrm>
              <a:off x="599694" y="4876800"/>
              <a:ext cx="253919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Net change −$159.78m</a:t>
              </a:r>
            </a:p>
          </p:txBody>
        </p:sp>
      </p:grpSp>
      <p:grpSp>
        <p:nvGrpSpPr>
          <p:cNvPr id="16" name="takeaway"/>
          <p:cNvGrpSpPr/>
          <p:nvPr/>
        </p:nvGrpSpPr>
        <p:grpSpPr>
          <a:xfrm>
            <a:off x="601218" y="5372100"/>
            <a:ext cx="8708552" cy="556133"/>
            <a:chOff x="601218" y="5372100"/>
            <a:chExt cx="8708552" cy="556133"/>
          </a:xfrm>
        </p:grpSpPr>
        <p:sp>
          <p:nvSpPr>
            <p:cNvPr id="14" name="TextBox 14"/>
            <p:cNvSpPr txBox="1"/>
            <p:nvPr/>
          </p:nvSpPr>
          <p:spPr>
            <a:xfrm>
              <a:off x="601218" y="5372100"/>
              <a:ext cx="4725534"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Extra carry offsets only part of the reduction in fees.</a:t>
              </a:r>
            </a:p>
          </p:txBody>
        </p:sp>
        <p:sp>
          <p:nvSpPr>
            <p:cNvPr id="15" name="TextBox 15"/>
            <p:cNvSpPr txBox="1"/>
            <p:nvPr/>
          </p:nvSpPr>
          <p:spPr>
            <a:xfrm>
              <a:off x="602742" y="5664200"/>
              <a:ext cx="87070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Whole-fund nominal amounts over ten years; before GP operating costs. The −300 − 140.22 arithmetic gives −159.78.</a:t>
              </a:r>
            </a:p>
          </p:txBody>
        </p:sp>
      </p:grpSp>
      <p:grpSp>
        <p:nvGrpSpPr>
          <p:cNvPr id="19" name="footer"/>
          <p:cNvGrpSpPr/>
          <p:nvPr/>
        </p:nvGrpSpPr>
        <p:grpSpPr>
          <a:xfrm>
            <a:off x="604266" y="6426200"/>
            <a:ext cx="10983468" cy="291084"/>
            <a:chOff x="604266" y="6426200"/>
            <a:chExt cx="10983468" cy="291084"/>
          </a:xfrm>
        </p:grpSpPr>
        <p:sp>
          <p:nvSpPr>
            <p:cNvPr id="17" name="TextBox 17"/>
            <p:cNvSpPr txBox="1"/>
            <p:nvPr/>
          </p:nvSpPr>
          <p:spPr>
            <a:xfrm>
              <a:off x="604266" y="6426200"/>
              <a:ext cx="593984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Q4 Analysis!B10:D11; −300.00 + 140.216831 = −159.783169. GP operating costs not deducted.</a:t>
              </a:r>
            </a:p>
          </p:txBody>
        </p:sp>
        <p:sp>
          <p:nvSpPr>
            <p:cNvPr id="18" name="TextBox 1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95399" cy="244475"/>
            <a:chOff x="603504" y="546100"/>
            <a:chExt cx="1995399" cy="244475"/>
          </a:xfrm>
        </p:grpSpPr>
        <p:sp>
          <p:nvSpPr>
            <p:cNvPr id="2" name="TextBox 2"/>
            <p:cNvSpPr txBox="1"/>
            <p:nvPr/>
          </p:nvSpPr>
          <p:spPr>
            <a:xfrm>
              <a:off x="603504" y="546100"/>
              <a:ext cx="1995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491440" cy="1043940"/>
            <a:chOff x="594360" y="812800"/>
            <a:chExt cx="6491440" cy="1043940"/>
          </a:xfrm>
        </p:grpSpPr>
        <p:sp>
          <p:nvSpPr>
            <p:cNvPr id="5" name="TextBox 5"/>
            <p:cNvSpPr txBox="1"/>
            <p:nvPr/>
          </p:nvSpPr>
          <p:spPr>
            <a:xfrm>
              <a:off x="594360" y="812800"/>
              <a:ext cx="6491440"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Lower fees improve each tested case,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with different IRR and NPV gains</a:t>
              </a:r>
            </a:p>
          </p:txBody>
        </p:sp>
      </p:grpSp>
      <p:graphicFrame>
        <p:nvGraphicFramePr>
          <p:cNvPr id="7" name="npv-gain-by-growth"/>
          <p:cNvGraphicFramePr>
            <a:graphicFrameLocks noGrp="1"/>
          </p:cNvGraphicFramePr>
          <p:nvPr/>
        </p:nvGraphicFramePr>
        <p:xfrm>
          <a:off x="609600" y="1866900"/>
          <a:ext cx="6477000" cy="3238500"/>
        </p:xfrm>
        <a:graphic>
          <a:graphicData uri="http://schemas.openxmlformats.org/drawingml/2006/chart">
            <c:chart xmlns:c="http://schemas.openxmlformats.org/drawingml/2006/chart" r:id="rId2"/>
          </a:graphicData>
        </a:graphic>
      </p:graphicFrame>
      <p:grpSp>
        <p:nvGrpSpPr>
          <p:cNvPr id="38" name="irr-gain-by-growth"/>
          <p:cNvGrpSpPr/>
          <p:nvPr/>
        </p:nvGrpSpPr>
        <p:grpSpPr>
          <a:xfrm>
            <a:off x="7232142" y="1911350"/>
            <a:ext cx="4197858" cy="3196209"/>
            <a:chOff x="7232142" y="1911350"/>
            <a:chExt cx="4197858" cy="3196209"/>
          </a:xfrm>
        </p:grpSpPr>
        <p:sp>
          <p:nvSpPr>
            <p:cNvPr id="8" name="TextBox 8"/>
            <p:cNvSpPr txBox="1"/>
            <p:nvPr/>
          </p:nvSpPr>
          <p:spPr>
            <a:xfrm>
              <a:off x="7232142" y="1911350"/>
              <a:ext cx="248483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LP IRR gain from the fee cut, bps</a:t>
              </a:r>
            </a:p>
          </p:txBody>
        </p:sp>
        <p:grpSp>
          <p:nvGrpSpPr>
            <p:cNvPr id="37" name="irr-gain-by-growth-chartArea"/>
            <p:cNvGrpSpPr/>
            <p:nvPr/>
          </p:nvGrpSpPr>
          <p:grpSpPr>
            <a:xfrm>
              <a:off x="7376143" y="2387600"/>
              <a:ext cx="4053857" cy="2719959"/>
              <a:chOff x="7376143" y="2387600"/>
              <a:chExt cx="4053857" cy="2719959"/>
            </a:xfrm>
          </p:grpSpPr>
          <p:grpSp>
            <p:nvGrpSpPr>
              <p:cNvPr id="12" name="irr-gain-by-growth-grid"/>
              <p:cNvGrpSpPr/>
              <p:nvPr/>
            </p:nvGrpSpPr>
            <p:grpSpPr>
              <a:xfrm>
                <a:off x="7620000" y="2775585"/>
                <a:ext cx="3810000" cy="1206818"/>
                <a:chOff x="7620000" y="2775585"/>
                <a:chExt cx="3810000" cy="1206818"/>
              </a:xfrm>
            </p:grpSpPr>
            <p:sp>
              <p:nvSpPr>
                <p:cNvPr id="9" name="Line 9"/>
                <p:cNvSpPr/>
                <p:nvPr/>
              </p:nvSpPr>
              <p:spPr>
                <a:xfrm>
                  <a:off x="7620000" y="2775585"/>
                  <a:ext cx="3810000" cy="9525"/>
                </a:xfrm>
                <a:custGeom>
                  <a:avLst/>
                  <a:gdLst/>
                  <a:ahLst/>
                  <a:cxnLst/>
                  <a:rect l="l" t="t" r="r" b="b"/>
                  <a:pathLst>
                    <a:path w="3810000" h="9525">
                      <a:moveTo>
                        <a:pt x="0" y="0"/>
                      </a:moveTo>
                      <a:lnTo>
                        <a:pt x="3810000" y="0"/>
                      </a:lnTo>
                    </a:path>
                  </a:pathLst>
                </a:custGeom>
                <a:noFill/>
                <a:ln w="9525">
                  <a:solidFill>
                    <a:srgbClr val="E6E0D4"/>
                  </a:solidFill>
                </a:ln>
              </p:spPr>
            </p:sp>
            <p:sp>
              <p:nvSpPr>
                <p:cNvPr id="10" name="Line 10"/>
                <p:cNvSpPr/>
                <p:nvPr/>
              </p:nvSpPr>
              <p:spPr>
                <a:xfrm>
                  <a:off x="7620000" y="3374708"/>
                  <a:ext cx="3810000" cy="9525"/>
                </a:xfrm>
                <a:custGeom>
                  <a:avLst/>
                  <a:gdLst/>
                  <a:ahLst/>
                  <a:cxnLst/>
                  <a:rect l="l" t="t" r="r" b="b"/>
                  <a:pathLst>
                    <a:path w="3810000" h="9525">
                      <a:moveTo>
                        <a:pt x="0" y="0"/>
                      </a:moveTo>
                      <a:lnTo>
                        <a:pt x="3810000" y="0"/>
                      </a:lnTo>
                    </a:path>
                  </a:pathLst>
                </a:custGeom>
                <a:noFill/>
                <a:ln w="9525">
                  <a:solidFill>
                    <a:srgbClr val="E6E0D4"/>
                  </a:solidFill>
                </a:ln>
              </p:spPr>
            </p:sp>
            <p:sp>
              <p:nvSpPr>
                <p:cNvPr id="11" name="Line 11"/>
                <p:cNvSpPr/>
                <p:nvPr/>
              </p:nvSpPr>
              <p:spPr>
                <a:xfrm>
                  <a:off x="7620000" y="3972878"/>
                  <a:ext cx="3810000" cy="9525"/>
                </a:xfrm>
                <a:custGeom>
                  <a:avLst/>
                  <a:gdLst/>
                  <a:ahLst/>
                  <a:cxnLst/>
                  <a:rect l="l" t="t" r="r" b="b"/>
                  <a:pathLst>
                    <a:path w="3810000" h="9525">
                      <a:moveTo>
                        <a:pt x="0" y="0"/>
                      </a:moveTo>
                      <a:lnTo>
                        <a:pt x="3810000" y="0"/>
                      </a:lnTo>
                    </a:path>
                  </a:pathLst>
                </a:custGeom>
                <a:noFill/>
                <a:ln w="9525">
                  <a:solidFill>
                    <a:srgbClr val="E6E0D4"/>
                  </a:solidFill>
                </a:ln>
              </p:spPr>
            </p:sp>
          </p:grpSp>
          <p:grpSp>
            <p:nvGrpSpPr>
              <p:cNvPr id="15" name="irr-gain-by-growth-axis"/>
              <p:cNvGrpSpPr/>
              <p:nvPr/>
            </p:nvGrpSpPr>
            <p:grpSpPr>
              <a:xfrm>
                <a:off x="7620000" y="2476500"/>
                <a:ext cx="3810000" cy="2105025"/>
                <a:chOff x="7620000" y="2476500"/>
                <a:chExt cx="3810000" cy="2105025"/>
              </a:xfrm>
            </p:grpSpPr>
            <p:sp>
              <p:nvSpPr>
                <p:cNvPr id="13" name="Line 13"/>
                <p:cNvSpPr/>
                <p:nvPr/>
              </p:nvSpPr>
              <p:spPr>
                <a:xfrm>
                  <a:off x="7620000" y="2476500"/>
                  <a:ext cx="9525" cy="2095500"/>
                </a:xfrm>
                <a:custGeom>
                  <a:avLst/>
                  <a:gdLst/>
                  <a:ahLst/>
                  <a:cxnLst/>
                  <a:rect l="l" t="t" r="r" b="b"/>
                  <a:pathLst>
                    <a:path w="9525" h="2095500">
                      <a:moveTo>
                        <a:pt x="0" y="0"/>
                      </a:moveTo>
                      <a:lnTo>
                        <a:pt x="0" y="2095500"/>
                      </a:lnTo>
                    </a:path>
                  </a:pathLst>
                </a:custGeom>
                <a:noFill/>
                <a:ln w="14288">
                  <a:solidFill>
                    <a:srgbClr val="5C6670"/>
                  </a:solidFill>
                </a:ln>
              </p:spPr>
            </p:sp>
            <p:sp>
              <p:nvSpPr>
                <p:cNvPr id="14" name="Line 14"/>
                <p:cNvSpPr/>
                <p:nvPr/>
              </p:nvSpPr>
              <p:spPr>
                <a:xfrm>
                  <a:off x="7620000" y="4572000"/>
                  <a:ext cx="3810000" cy="9525"/>
                </a:xfrm>
                <a:custGeom>
                  <a:avLst/>
                  <a:gdLst/>
                  <a:ahLst/>
                  <a:cxnLst/>
                  <a:rect l="l" t="t" r="r" b="b"/>
                  <a:pathLst>
                    <a:path w="3810000" h="9525">
                      <a:moveTo>
                        <a:pt x="0" y="0"/>
                      </a:moveTo>
                      <a:lnTo>
                        <a:pt x="3810000" y="0"/>
                      </a:lnTo>
                    </a:path>
                  </a:pathLst>
                </a:custGeom>
                <a:noFill/>
                <a:ln w="14288">
                  <a:solidFill>
                    <a:srgbClr val="5C6670"/>
                  </a:solidFill>
                </a:ln>
              </p:spPr>
            </p:sp>
          </p:grpSp>
          <p:grpSp>
            <p:nvGrpSpPr>
              <p:cNvPr id="19" name="Group 19"/>
              <p:cNvGrpSpPr/>
              <p:nvPr/>
            </p:nvGrpSpPr>
            <p:grpSpPr>
              <a:xfrm>
                <a:off x="8010525" y="2621280"/>
                <a:ext cx="3028950" cy="811530"/>
                <a:chOff x="8010525" y="2621280"/>
                <a:chExt cx="3028950" cy="811530"/>
              </a:xfrm>
            </p:grpSpPr>
            <p:sp>
              <p:nvSpPr>
                <p:cNvPr id="16" name="Ellipse 16"/>
                <p:cNvSpPr/>
                <p:nvPr/>
              </p:nvSpPr>
              <p:spPr>
                <a:xfrm>
                  <a:off x="8010525" y="2621280"/>
                  <a:ext cx="171450" cy="171450"/>
                </a:xfrm>
                <a:prstGeom prst="ellipse">
                  <a:avLst/>
                </a:prstGeom>
                <a:solidFill>
                  <a:schemeClr val="lt1"/>
                </a:solidFill>
                <a:ln w="28575">
                  <a:solidFill>
                    <a:schemeClr val="accent1"/>
                  </a:solidFill>
                </a:ln>
              </p:spPr>
            </p:sp>
            <p:sp>
              <p:nvSpPr>
                <p:cNvPr id="17" name="Ellipse 17"/>
                <p:cNvSpPr/>
                <p:nvPr/>
              </p:nvSpPr>
              <p:spPr>
                <a:xfrm>
                  <a:off x="8963025" y="3118485"/>
                  <a:ext cx="171450" cy="171450"/>
                </a:xfrm>
                <a:prstGeom prst="ellipse">
                  <a:avLst/>
                </a:prstGeom>
                <a:solidFill>
                  <a:schemeClr val="lt1"/>
                </a:solidFill>
                <a:ln w="28575">
                  <a:solidFill>
                    <a:schemeClr val="accent1"/>
                  </a:solidFill>
                </a:ln>
              </p:spPr>
            </p:sp>
            <p:sp>
              <p:nvSpPr>
                <p:cNvPr id="18" name="Ellipse 18"/>
                <p:cNvSpPr/>
                <p:nvPr/>
              </p:nvSpPr>
              <p:spPr>
                <a:xfrm>
                  <a:off x="10868025" y="3261360"/>
                  <a:ext cx="171450" cy="171450"/>
                </a:xfrm>
                <a:prstGeom prst="ellipse">
                  <a:avLst/>
                </a:prstGeom>
                <a:solidFill>
                  <a:schemeClr val="lt1"/>
                </a:solidFill>
                <a:ln w="28575">
                  <a:solidFill>
                    <a:schemeClr val="accent1"/>
                  </a:solidFill>
                </a:ln>
              </p:spPr>
            </p:sp>
          </p:grpSp>
          <p:sp>
            <p:nvSpPr>
              <p:cNvPr id="20" name="Ellipse 20"/>
              <p:cNvSpPr/>
              <p:nvPr/>
            </p:nvSpPr>
            <p:spPr>
              <a:xfrm>
                <a:off x="9915525" y="3207068"/>
                <a:ext cx="171450" cy="171450"/>
              </a:xfrm>
              <a:prstGeom prst="ellipse">
                <a:avLst/>
              </a:prstGeom>
              <a:solidFill>
                <a:schemeClr val="accent1"/>
              </a:solidFill>
              <a:ln>
                <a:noFill/>
              </a:ln>
            </p:spPr>
          </p:sp>
          <p:grpSp>
            <p:nvGrpSpPr>
              <p:cNvPr id="25" name="Group 25"/>
              <p:cNvGrpSpPr/>
              <p:nvPr/>
            </p:nvGrpSpPr>
            <p:grpSpPr>
              <a:xfrm>
                <a:off x="7882248" y="2387600"/>
                <a:ext cx="3285504" cy="1349883"/>
                <a:chOff x="7882248" y="2387600"/>
                <a:chExt cx="3285504" cy="1349883"/>
              </a:xfrm>
            </p:grpSpPr>
            <p:sp>
              <p:nvSpPr>
                <p:cNvPr id="21" name="TextBox 21"/>
                <p:cNvSpPr txBox="1"/>
                <p:nvPr/>
              </p:nvSpPr>
              <p:spPr>
                <a:xfrm>
                  <a:off x="7882248" y="2387600"/>
                  <a:ext cx="42800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31.15</a:t>
                  </a:r>
                </a:p>
              </p:txBody>
            </p:sp>
            <p:sp>
              <p:nvSpPr>
                <p:cNvPr id="22" name="TextBox 22"/>
                <p:cNvSpPr txBox="1"/>
                <p:nvPr/>
              </p:nvSpPr>
              <p:spPr>
                <a:xfrm>
                  <a:off x="8834748" y="2882900"/>
                  <a:ext cx="42800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22.84</a:t>
                  </a:r>
                </a:p>
              </p:txBody>
            </p:sp>
            <p:sp>
              <p:nvSpPr>
                <p:cNvPr id="23" name="TextBox 23"/>
                <p:cNvSpPr txBox="1"/>
                <p:nvPr/>
              </p:nvSpPr>
              <p:spPr>
                <a:xfrm>
                  <a:off x="9785912" y="2968625"/>
                  <a:ext cx="430675"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21.36</a:t>
                  </a:r>
                </a:p>
              </p:txBody>
            </p:sp>
            <p:sp>
              <p:nvSpPr>
                <p:cNvPr id="24" name="TextBox 24"/>
                <p:cNvSpPr txBox="1"/>
                <p:nvPr/>
              </p:nvSpPr>
              <p:spPr>
                <a:xfrm>
                  <a:off x="10739748" y="3473450"/>
                  <a:ext cx="42800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20.46</a:t>
                  </a:r>
                </a:p>
              </p:txBody>
            </p:sp>
          </p:grpSp>
          <p:grpSp>
            <p:nvGrpSpPr>
              <p:cNvPr id="30" name="Group 30"/>
              <p:cNvGrpSpPr/>
              <p:nvPr/>
            </p:nvGrpSpPr>
            <p:grpSpPr>
              <a:xfrm>
                <a:off x="7376143" y="2692400"/>
                <a:ext cx="153941" cy="2005584"/>
                <a:chOff x="7376143" y="2692400"/>
                <a:chExt cx="153941" cy="2005584"/>
              </a:xfrm>
            </p:grpSpPr>
            <p:sp>
              <p:nvSpPr>
                <p:cNvPr id="26" name="TextBox 26"/>
                <p:cNvSpPr txBox="1"/>
                <p:nvPr/>
              </p:nvSpPr>
              <p:spPr>
                <a:xfrm>
                  <a:off x="7376143" y="2692400"/>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30</a:t>
                  </a:r>
                </a:p>
              </p:txBody>
            </p:sp>
            <p:sp>
              <p:nvSpPr>
                <p:cNvPr id="27" name="TextBox 27"/>
                <p:cNvSpPr txBox="1"/>
                <p:nvPr/>
              </p:nvSpPr>
              <p:spPr>
                <a:xfrm>
                  <a:off x="7376143" y="329247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20</a:t>
                  </a:r>
                </a:p>
              </p:txBody>
            </p:sp>
            <p:sp>
              <p:nvSpPr>
                <p:cNvPr id="28" name="TextBox 28"/>
                <p:cNvSpPr txBox="1"/>
                <p:nvPr/>
              </p:nvSpPr>
              <p:spPr>
                <a:xfrm>
                  <a:off x="7376143" y="3892550"/>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10</a:t>
                  </a:r>
                </a:p>
              </p:txBody>
            </p:sp>
            <p:sp>
              <p:nvSpPr>
                <p:cNvPr id="29" name="TextBox 29"/>
                <p:cNvSpPr txBox="1"/>
                <p:nvPr/>
              </p:nvSpPr>
              <p:spPr>
                <a:xfrm>
                  <a:off x="7447779" y="44926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0</a:t>
                  </a:r>
                </a:p>
              </p:txBody>
            </p:sp>
          </p:grpSp>
          <p:grpSp>
            <p:nvGrpSpPr>
              <p:cNvPr id="36" name="Group 36"/>
              <p:cNvGrpSpPr/>
              <p:nvPr/>
            </p:nvGrpSpPr>
            <p:grpSpPr>
              <a:xfrm>
                <a:off x="8004579" y="4654550"/>
                <a:ext cx="3076660" cy="453009"/>
                <a:chOff x="8004579" y="4654550"/>
                <a:chExt cx="3076660" cy="453009"/>
              </a:xfrm>
            </p:grpSpPr>
            <p:sp>
              <p:nvSpPr>
                <p:cNvPr id="31" name="TextBox 31"/>
                <p:cNvSpPr txBox="1"/>
                <p:nvPr/>
              </p:nvSpPr>
              <p:spPr>
                <a:xfrm>
                  <a:off x="8004579" y="465455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2" name="TextBox 32"/>
                <p:cNvSpPr txBox="1"/>
                <p:nvPr/>
              </p:nvSpPr>
              <p:spPr>
                <a:xfrm>
                  <a:off x="8921260"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33" name="TextBox 33"/>
                <p:cNvSpPr txBox="1"/>
                <p:nvPr/>
              </p:nvSpPr>
              <p:spPr>
                <a:xfrm>
                  <a:off x="9873760"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34" name="TextBox 34"/>
                <p:cNvSpPr txBox="1"/>
                <p:nvPr/>
              </p:nvSpPr>
              <p:spPr>
                <a:xfrm>
                  <a:off x="10826260"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sp>
              <p:nvSpPr>
                <p:cNvPr id="35" name="TextBox 35"/>
                <p:cNvSpPr txBox="1"/>
                <p:nvPr/>
              </p:nvSpPr>
              <p:spPr>
                <a:xfrm>
                  <a:off x="9140224" y="4902200"/>
                  <a:ext cx="76955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Asset growth</a:t>
                  </a:r>
                </a:p>
              </p:txBody>
            </p:sp>
          </p:grpSp>
        </p:grpSp>
      </p:grpSp>
      <p:grpSp>
        <p:nvGrpSpPr>
          <p:cNvPr id="40" name="conclusion"/>
          <p:cNvGrpSpPr/>
          <p:nvPr/>
        </p:nvGrpSpPr>
        <p:grpSpPr>
          <a:xfrm>
            <a:off x="601218" y="5219700"/>
            <a:ext cx="5932197" cy="322707"/>
            <a:chOff x="601218" y="5219700"/>
            <a:chExt cx="5932197" cy="322707"/>
          </a:xfrm>
        </p:grpSpPr>
        <p:sp>
          <p:nvSpPr>
            <p:cNvPr id="39" name="TextBox 39"/>
            <p:cNvSpPr txBox="1"/>
            <p:nvPr/>
          </p:nvSpPr>
          <p:spPr>
            <a:xfrm>
              <a:off x="601218" y="5219700"/>
              <a:ext cx="593219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NPV gain rises across the displayed cases, while the IRR gain falls.</a:t>
              </a:r>
            </a:p>
          </p:txBody>
        </p:sp>
      </p:grpSp>
      <p:grpSp>
        <p:nvGrpSpPr>
          <p:cNvPr id="43" name="scenario-notes"/>
          <p:cNvGrpSpPr/>
          <p:nvPr/>
        </p:nvGrpSpPr>
        <p:grpSpPr>
          <a:xfrm>
            <a:off x="602742" y="5607050"/>
            <a:ext cx="8830573" cy="511683"/>
            <a:chOff x="602742" y="5607050"/>
            <a:chExt cx="8830573" cy="511683"/>
          </a:xfrm>
        </p:grpSpPr>
        <p:sp>
          <p:nvSpPr>
            <p:cNvPr id="41" name="TextBox 41"/>
            <p:cNvSpPr txBox="1"/>
            <p:nvPr/>
          </p:nvSpPr>
          <p:spPr>
            <a:xfrm>
              <a:off x="602742" y="5607050"/>
              <a:ext cx="70734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At 10% growth, LP IRR improves from 6.42% to 6.65% — still below the 15% model benchmark.</a:t>
              </a:r>
            </a:p>
          </p:txBody>
        </p:sp>
        <p:sp>
          <p:nvSpPr>
            <p:cNvPr id="42" name="TextBox 42"/>
            <p:cNvSpPr txBox="1"/>
            <p:nvPr/>
          </p:nvSpPr>
          <p:spPr>
            <a:xfrm>
              <a:off x="602742" y="5854700"/>
              <a:ext cx="88305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1.50% versus 1.35% fee; single-variable scenarios, other assumptions fixed; NPV at model inception, 15% discount rate.</a:t>
              </a:r>
            </a:p>
          </p:txBody>
        </p:sp>
      </p:grpSp>
      <p:grpSp>
        <p:nvGrpSpPr>
          <p:cNvPr id="46" name="footer"/>
          <p:cNvGrpSpPr/>
          <p:nvPr/>
        </p:nvGrpSpPr>
        <p:grpSpPr>
          <a:xfrm>
            <a:off x="604266" y="6426200"/>
            <a:ext cx="10983468" cy="291084"/>
            <a:chOff x="604266" y="6426200"/>
            <a:chExt cx="10983468" cy="291084"/>
          </a:xfrm>
        </p:grpSpPr>
        <p:sp>
          <p:nvSpPr>
            <p:cNvPr id="44" name="TextBox 44"/>
            <p:cNvSpPr txBox="1"/>
            <p:nvPr/>
          </p:nvSpPr>
          <p:spPr>
            <a:xfrm>
              <a:off x="604266" y="6426200"/>
              <a:ext cx="900127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Q4 Analysis!A37:E37, A39:E39, A41:E41, A43:E43. Scenarios are not probabilities; the model does not test whether a fee cut changes GP behaviour.</a:t>
              </a:r>
            </a:p>
          </p:txBody>
        </p:sp>
        <p:sp>
          <p:nvSpPr>
            <p:cNvPr id="45" name="TextBox 4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95399" cy="244475"/>
            <a:chOff x="603504" y="546100"/>
            <a:chExt cx="1995399" cy="244475"/>
          </a:xfrm>
        </p:grpSpPr>
        <p:sp>
          <p:nvSpPr>
            <p:cNvPr id="2" name="TextBox 2"/>
            <p:cNvSpPr txBox="1"/>
            <p:nvPr/>
          </p:nvSpPr>
          <p:spPr>
            <a:xfrm>
              <a:off x="603504" y="546100"/>
              <a:ext cx="1995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74549" cy="1043940"/>
            <a:chOff x="594360" y="812800"/>
            <a:chExt cx="6674549" cy="1043940"/>
          </a:xfrm>
        </p:grpSpPr>
        <p:sp>
          <p:nvSpPr>
            <p:cNvPr id="5" name="TextBox 5"/>
            <p:cNvSpPr txBox="1"/>
            <p:nvPr/>
          </p:nvSpPr>
          <p:spPr>
            <a:xfrm>
              <a:off x="594360" y="812800"/>
              <a:ext cx="667454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 one-point growth decline outweighs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modeled fee benefit</a:t>
              </a:r>
            </a:p>
          </p:txBody>
        </p:sp>
      </p:grpSp>
      <p:grpSp>
        <p:nvGrpSpPr>
          <p:cNvPr id="14" name="growth-vs-fee-bars"/>
          <p:cNvGrpSpPr/>
          <p:nvPr/>
        </p:nvGrpSpPr>
        <p:grpSpPr>
          <a:xfrm>
            <a:off x="609600" y="1875472"/>
            <a:ext cx="10972800" cy="2696528"/>
            <a:chOff x="609600" y="1875472"/>
            <a:chExt cx="10972800" cy="2696528"/>
          </a:xfrm>
        </p:grpSpPr>
        <p:graphicFrame>
          <p:nvGraphicFramePr>
            <p:cNvPr id="7" name="growth-vs-fee-bars"/>
            <p:cNvGraphicFramePr>
              <a:graphicFrameLocks noGrp="1"/>
            </p:cNvGraphicFramePr>
            <p:nvPr/>
          </p:nvGraphicFramePr>
          <p:xfrm>
            <a:off x="609600" y="1905000"/>
            <a:ext cx="10972800" cy="2667000"/>
          </p:xfrm>
          <a:graphic>
            <a:graphicData uri="http://schemas.openxmlformats.org/drawingml/2006/chart">
              <c:chart xmlns:c="http://schemas.openxmlformats.org/drawingml/2006/chart" r:id="rId2"/>
            </a:graphicData>
          </a:graphic>
        </p:graphicFrame>
        <p:sp>
          <p:nvSpPr>
            <p:cNvPr id="8" name="Chart Note 8"/>
            <p:cNvSpPr txBox="1"/>
            <p:nvPr/>
          </p:nvSpPr>
          <p:spPr>
            <a:xfrm>
              <a:off x="4086225" y="2187892"/>
              <a:ext cx="3238500" cy="274320"/>
            </a:xfrm>
            <a:prstGeom prst="rect">
              <a:avLst/>
            </a:prstGeom>
            <a:noFill/>
            <a:ln>
              <a:noFill/>
            </a:ln>
          </p:spPr>
          <p:txBody>
            <a:bodyPr wrap="square" lIns="0" tIns="0" rIns="0" bIns="0" anchor="b" anchorCtr="0"/>
            <a:lstStyle/>
            <a:p>
              <a:pPr algn="l"/>
              <a:r>
                <a:rPr lang="en-US" sz="1350">
                  <a:solidFill>
                    <a:srgbClr val="003657"/>
                  </a:solidFill>
                  <a:latin typeface="Calibri"/>
                  <a:ea typeface="Microsoft YaHei"/>
                  <a:cs typeface="Calibri"/>
                </a:rPr>
                <a:t>Growth 20% → 19%, fee held at 1.50%</a:t>
              </a:r>
            </a:p>
          </p:txBody>
        </p:sp>
        <p:sp>
          <p:nvSpPr>
            <p:cNvPr id="9" name="Chart Note 9"/>
            <p:cNvSpPr txBox="1"/>
            <p:nvPr/>
          </p:nvSpPr>
          <p:spPr>
            <a:xfrm>
              <a:off x="5867400" y="2987992"/>
              <a:ext cx="3238500" cy="274320"/>
            </a:xfrm>
            <a:prstGeom prst="rect">
              <a:avLst/>
            </a:prstGeom>
            <a:noFill/>
            <a:ln>
              <a:noFill/>
            </a:ln>
          </p:spPr>
          <p:txBody>
            <a:bodyPr wrap="square" lIns="0" tIns="0" rIns="0" bIns="0" anchor="b" anchorCtr="0"/>
            <a:lstStyle/>
            <a:p>
              <a:pPr algn="r"/>
              <a:r>
                <a:rPr lang="en-US" sz="1350">
                  <a:solidFill>
                    <a:srgbClr val="003657"/>
                  </a:solidFill>
                  <a:latin typeface="Calibri"/>
                  <a:ea typeface="Microsoft YaHei"/>
                  <a:cs typeface="Calibri"/>
                </a:rPr>
                <a:t>Fee 1.50% → 1.35%, growth held at 20%</a:t>
              </a:r>
            </a:p>
          </p:txBody>
        </p:sp>
        <p:sp>
          <p:nvSpPr>
            <p:cNvPr id="10" name="Chart Note 10"/>
            <p:cNvSpPr txBox="1"/>
            <p:nvPr/>
          </p:nvSpPr>
          <p:spPr>
            <a:xfrm>
              <a:off x="3048000" y="2549842"/>
              <a:ext cx="952500" cy="274320"/>
            </a:xfrm>
            <a:prstGeom prst="rect">
              <a:avLst/>
            </a:prstGeom>
            <a:noFill/>
            <a:ln>
              <a:noFill/>
            </a:ln>
          </p:spPr>
          <p:txBody>
            <a:bodyPr wrap="square" lIns="0" tIns="0" rIns="0" bIns="0" anchor="b" anchorCtr="0"/>
            <a:lstStyle/>
            <a:p>
              <a:pPr algn="r"/>
              <a:r>
                <a:rPr lang="en-US" sz="1350" b="1">
                  <a:solidFill>
                    <a:srgbClr val="A33D3D"/>
                  </a:solidFill>
                  <a:latin typeface="Calibri"/>
                  <a:ea typeface="Microsoft YaHei"/>
                  <a:cs typeface="Calibri"/>
                </a:rPr>
                <a:t>−$28.09m</a:t>
              </a:r>
            </a:p>
          </p:txBody>
        </p:sp>
        <p:sp>
          <p:nvSpPr>
            <p:cNvPr id="11" name="Chart Note 11"/>
            <p:cNvSpPr txBox="1"/>
            <p:nvPr/>
          </p:nvSpPr>
          <p:spPr>
            <a:xfrm>
              <a:off x="10496550" y="3349942"/>
              <a:ext cx="952500" cy="274320"/>
            </a:xfrm>
            <a:prstGeom prst="rect">
              <a:avLst/>
            </a:prstGeom>
            <a:noFill/>
            <a:ln>
              <a:noFill/>
            </a:ln>
          </p:spPr>
          <p:txBody>
            <a:bodyPr wrap="square" lIns="0" tIns="0" rIns="0" bIns="0" anchor="b" anchorCtr="0"/>
            <a:lstStyle/>
            <a:p>
              <a:pPr algn="l"/>
              <a:r>
                <a:rPr lang="en-US" sz="1350" b="1">
                  <a:solidFill>
                    <a:srgbClr val="2E7D5B"/>
                  </a:solidFill>
                  <a:latin typeface="Calibri"/>
                  <a:ea typeface="Microsoft YaHei"/>
                  <a:cs typeface="Calibri"/>
                </a:rPr>
                <a:t>+$6.55m</a:t>
              </a:r>
            </a:p>
          </p:txBody>
        </p:sp>
        <p:sp>
          <p:nvSpPr>
            <p:cNvPr id="12" name="Chart Note 12"/>
            <p:cNvSpPr txBox="1"/>
            <p:nvPr/>
          </p:nvSpPr>
          <p:spPr>
            <a:xfrm>
              <a:off x="10287000" y="1875472"/>
              <a:ext cx="762000" cy="396240"/>
            </a:xfrm>
            <a:prstGeom prst="rect">
              <a:avLst/>
            </a:prstGeom>
            <a:noFill/>
            <a:ln>
              <a:noFill/>
            </a:ln>
          </p:spPr>
          <p:txBody>
            <a:bodyPr wrap="square" lIns="0" tIns="0" rIns="0" bIns="0" anchor="b" anchorCtr="0"/>
            <a:lstStyle/>
            <a:p>
              <a:pPr algn="r"/>
              <a:r>
                <a:rPr lang="en-US" sz="1950" b="1">
                  <a:solidFill>
                    <a:srgbClr val="003657"/>
                  </a:solidFill>
                  <a:latin typeface="Calibri"/>
                  <a:ea typeface="Microsoft YaHei"/>
                  <a:cs typeface="Calibri"/>
                </a:rPr>
                <a:t>4.3×</a:t>
              </a:r>
            </a:p>
          </p:txBody>
        </p:sp>
        <p:sp>
          <p:nvSpPr>
            <p:cNvPr id="13" name="Chart Note 13"/>
            <p:cNvSpPr txBox="1"/>
            <p:nvPr/>
          </p:nvSpPr>
          <p:spPr>
            <a:xfrm>
              <a:off x="7810500" y="2220278"/>
              <a:ext cx="3238500" cy="213360"/>
            </a:xfrm>
            <a:prstGeom prst="rect">
              <a:avLst/>
            </a:prstGeom>
            <a:noFill/>
            <a:ln>
              <a:noFill/>
            </a:ln>
          </p:spPr>
          <p:txBody>
            <a:bodyPr wrap="square" lIns="0" tIns="0" rIns="0" bIns="0" anchor="b" anchorCtr="0"/>
            <a:lstStyle/>
            <a:p>
              <a:pPr algn="r"/>
              <a:r>
                <a:rPr lang="en-US" sz="1050">
                  <a:solidFill>
                    <a:srgbClr val="5C6670"/>
                  </a:solidFill>
                  <a:latin typeface="Calibri"/>
                  <a:ea typeface="Microsoft YaHei"/>
                  <a:cs typeface="Calibri"/>
                </a:rPr>
                <a:t>Loss / fee benefit in these separate scenarios</a:t>
              </a:r>
            </a:p>
          </p:txBody>
        </p:sp>
      </p:grpSp>
      <p:grpSp>
        <p:nvGrpSpPr>
          <p:cNvPr id="18" name="comparison-notes"/>
          <p:cNvGrpSpPr/>
          <p:nvPr/>
        </p:nvGrpSpPr>
        <p:grpSpPr>
          <a:xfrm>
            <a:off x="601218" y="4819650"/>
            <a:ext cx="8141511" cy="822833"/>
            <a:chOff x="601218" y="4819650"/>
            <a:chExt cx="8141511" cy="822833"/>
          </a:xfrm>
        </p:grpSpPr>
        <p:sp>
          <p:nvSpPr>
            <p:cNvPr id="15" name="TextBox 15"/>
            <p:cNvSpPr txBox="1"/>
            <p:nvPr/>
          </p:nvSpPr>
          <p:spPr>
            <a:xfrm>
              <a:off x="601218" y="4819650"/>
              <a:ext cx="5233228"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The growth loss is 4.3× the fee benefit in this comparison.</a:t>
              </a:r>
            </a:p>
          </p:txBody>
        </p:sp>
        <p:sp>
          <p:nvSpPr>
            <p:cNvPr id="16" name="TextBox 16"/>
            <p:cNvSpPr txBox="1"/>
            <p:nvPr/>
          </p:nvSpPr>
          <p:spPr>
            <a:xfrm>
              <a:off x="602742" y="5130800"/>
              <a:ext cx="813998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Separate changes from 20% growth and 1.50% fee. OPERF inception-model NPV; 15% assumed discount rate.</a:t>
              </a:r>
            </a:p>
          </p:txBody>
        </p:sp>
        <p:sp>
          <p:nvSpPr>
            <p:cNvPr id="17" name="TextBox 17"/>
            <p:cNvSpPr txBox="1"/>
            <p:nvPr/>
          </p:nvSpPr>
          <p:spPr>
            <a:xfrm>
              <a:off x="602742" y="5378450"/>
              <a:ext cx="802400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"One point" means one percentage point; the two bars are not additive; 4.3× holds only for this comparison.</a:t>
              </a:r>
            </a:p>
          </p:txBody>
        </p:sp>
      </p:grpSp>
      <p:grpSp>
        <p:nvGrpSpPr>
          <p:cNvPr id="21" name="footer"/>
          <p:cNvGrpSpPr/>
          <p:nvPr/>
        </p:nvGrpSpPr>
        <p:grpSpPr>
          <a:xfrm>
            <a:off x="604266" y="6350000"/>
            <a:ext cx="10983468" cy="367284"/>
            <a:chOff x="604266" y="6350000"/>
            <a:chExt cx="10983468" cy="367284"/>
          </a:xfrm>
        </p:grpSpPr>
        <p:sp>
          <p:nvSpPr>
            <p:cNvPr id="19" name="TextBox 19"/>
            <p:cNvSpPr txBox="1"/>
            <p:nvPr/>
          </p:nvSpPr>
          <p:spPr>
            <a:xfrm>
              <a:off x="604266" y="6350000"/>
              <a:ext cx="8889271"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(Engine!L41 − Engine!L40) × Q3 Base case!C63 = −28.09; Q4 Analysis!C25 = +6.55; 28.09 ÷ 6.55 = 4.29. Sensitivity!B38:C38: break-even growth 19.23% at the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1.50% fee and 19.00% at 1.35% (interpolated; 19.00% is not exactly break-even). Case p. 5 on the exit environment; no delayed-exit loss is modelled.</a:t>
              </a:r>
            </a:p>
          </p:txBody>
        </p:sp>
        <p:sp>
          <p:nvSpPr>
            <p:cNvPr id="20" name="TextBox 2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988073" cy="1043940"/>
            <a:chOff x="594360" y="812800"/>
            <a:chExt cx="6988073" cy="1043940"/>
          </a:xfrm>
        </p:grpSpPr>
        <p:sp>
          <p:nvSpPr>
            <p:cNvPr id="5" name="TextBox 5"/>
            <p:cNvSpPr txBox="1"/>
            <p:nvPr/>
          </p:nvSpPr>
          <p:spPr>
            <a:xfrm>
              <a:off x="594360" y="812800"/>
              <a:ext cx="698807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fee cut adds value, with limited</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protection against weaker performance</a:t>
              </a:r>
            </a:p>
          </p:txBody>
        </p:sp>
      </p:grpSp>
      <p:grpSp>
        <p:nvGrpSpPr>
          <p:cNvPr id="13" name="results"/>
          <p:cNvGrpSpPr/>
          <p:nvPr/>
        </p:nvGrpSpPr>
        <p:grpSpPr>
          <a:xfrm>
            <a:off x="601218" y="2095500"/>
            <a:ext cx="5504307" cy="2857500"/>
            <a:chOff x="601218" y="2095500"/>
            <a:chExt cx="5504307" cy="2857500"/>
          </a:xfrm>
        </p:grpSpPr>
        <p:sp>
          <p:nvSpPr>
            <p:cNvPr id="7" name="TextBox 7"/>
            <p:cNvSpPr txBox="1"/>
            <p:nvPr/>
          </p:nvSpPr>
          <p:spPr>
            <a:xfrm>
              <a:off x="603504" y="2108200"/>
              <a:ext cx="749052"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RESULTS</a:t>
              </a:r>
            </a:p>
          </p:txBody>
        </p:sp>
        <p:sp>
          <p:nvSpPr>
            <p:cNvPr id="8" name="TextBox 8"/>
            <p:cNvSpPr txBox="1"/>
            <p:nvPr/>
          </p:nvSpPr>
          <p:spPr>
            <a:xfrm>
              <a:off x="601218" y="2495550"/>
              <a:ext cx="296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Q3</a:t>
              </a:r>
            </a:p>
          </p:txBody>
        </p:sp>
        <p:sp>
          <p:nvSpPr>
            <p:cNvPr id="9" name="TextBox 9"/>
            <p:cNvSpPr txBox="1"/>
            <p:nvPr/>
          </p:nvSpPr>
          <p:spPr>
            <a:xfrm>
              <a:off x="601218" y="2755900"/>
              <a:ext cx="3324385"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Positive modeled value, with a narrow</a:t>
              </a:r>
              <a:br>
                <a:rPr lang="en-US" sz="1650" dirty="0">
                  <a:solidFill>
                    <a:schemeClr val="dk1"/>
                  </a:solidFill>
                  <a:latin typeface="+mn-lt"/>
                  <a:ea typeface="+mn-ea"/>
                  <a:cs typeface="+mn-cs"/>
                </a:rPr>
              </a:br>
              <a:r>
                <a:rPr lang="en-US" sz="1650" dirty="0">
                  <a:solidFill>
                    <a:schemeClr val="dk1"/>
                  </a:solidFill>
                  <a:latin typeface="+mn-lt"/>
                  <a:ea typeface="+mn-ea"/>
                  <a:cs typeface="+mn-cs"/>
                </a:rPr>
                <a:t xml:space="preserve">return margin: </a:t>
              </a:r>
              <a:r>
                <a:rPr lang="en-US" sz="1650" b="1" dirty="0">
                  <a:solidFill>
                    <a:schemeClr val="accent1"/>
                  </a:solidFill>
                  <a:latin typeface="+mn-lt"/>
                  <a:ea typeface="+mn-ea"/>
                  <a:cs typeface="+mn-cs"/>
                </a:rPr>
                <a:t>15.72%</a:t>
              </a:r>
              <a:r>
                <a:rPr lang="en-US" sz="1650" dirty="0">
                  <a:solidFill>
                    <a:schemeClr val="dk1"/>
                  </a:solidFill>
                  <a:latin typeface="+mn-lt"/>
                  <a:ea typeface="+mn-ea"/>
                  <a:cs typeface="+mn-cs"/>
                </a:rPr>
                <a:t xml:space="preserve"> against 15.00%.</a:t>
              </a:r>
            </a:p>
          </p:txBody>
        </p:sp>
        <p:sp>
          <p:nvSpPr>
            <p:cNvPr id="10" name="TextBox 10"/>
            <p:cNvSpPr txBox="1"/>
            <p:nvPr/>
          </p:nvSpPr>
          <p:spPr>
            <a:xfrm>
              <a:off x="601218" y="3638550"/>
              <a:ext cx="296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Q4</a:t>
              </a:r>
            </a:p>
          </p:txBody>
        </p:sp>
        <p:sp>
          <p:nvSpPr>
            <p:cNvPr id="11" name="TextBox 11"/>
            <p:cNvSpPr txBox="1"/>
            <p:nvPr/>
          </p:nvSpPr>
          <p:spPr>
            <a:xfrm>
              <a:off x="601218" y="3924300"/>
              <a:ext cx="376886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+$6.55m</a:t>
              </a:r>
              <a:r>
                <a:rPr lang="en-US" sz="1650" dirty="0">
                  <a:solidFill>
                    <a:schemeClr val="dk1"/>
                  </a:solidFill>
                  <a:latin typeface="+mn-lt"/>
                  <a:ea typeface="+mn-ea"/>
                  <a:cs typeface="+mn-cs"/>
                </a:rPr>
                <a:t xml:space="preserve"> OPERF NPV; </a:t>
              </a:r>
              <a:r>
                <a:rPr lang="en-US" sz="1650" b="1" dirty="0">
                  <a:solidFill>
                    <a:schemeClr val="accent1"/>
                  </a:solidFill>
                  <a:latin typeface="+mn-lt"/>
                  <a:ea typeface="+mn-ea"/>
                  <a:cs typeface="+mn-cs"/>
                </a:rPr>
                <a:t>+21.36 bps</a:t>
              </a:r>
              <a:r>
                <a:rPr lang="en-US" sz="1650" dirty="0">
                  <a:solidFill>
                    <a:schemeClr val="dk1"/>
                  </a:solidFill>
                  <a:latin typeface="+mn-lt"/>
                  <a:ea typeface="+mn-ea"/>
                  <a:cs typeface="+mn-cs"/>
                </a:rPr>
                <a:t xml:space="preserve"> LP IRR.</a:t>
              </a:r>
            </a:p>
          </p:txBody>
        </p:sp>
        <p:sp>
          <p:nvSpPr>
            <p:cNvPr id="12" name="Line 12"/>
            <p:cNvSpPr/>
            <p:nvPr/>
          </p:nvSpPr>
          <p:spPr>
            <a:xfrm>
              <a:off x="6096000" y="2095500"/>
              <a:ext cx="9525" cy="2857500"/>
            </a:xfrm>
            <a:custGeom>
              <a:avLst/>
              <a:gdLst/>
              <a:ahLst/>
              <a:cxnLst/>
              <a:rect l="l" t="t" r="r" b="b"/>
              <a:pathLst>
                <a:path w="9525" h="2857500">
                  <a:moveTo>
                    <a:pt x="0" y="0"/>
                  </a:moveTo>
                  <a:lnTo>
                    <a:pt x="0" y="2857500"/>
                  </a:lnTo>
                </a:path>
              </a:pathLst>
            </a:custGeom>
            <a:noFill/>
            <a:ln w="19050">
              <a:solidFill>
                <a:schemeClr val="accent3"/>
              </a:solidFill>
            </a:ln>
          </p:spPr>
        </p:sp>
      </p:grpSp>
      <p:grpSp>
        <p:nvGrpSpPr>
          <p:cNvPr id="19" name="next"/>
          <p:cNvGrpSpPr/>
          <p:nvPr/>
        </p:nvGrpSpPr>
        <p:grpSpPr>
          <a:xfrm>
            <a:off x="6468618" y="2108200"/>
            <a:ext cx="3286166" cy="2138807"/>
            <a:chOff x="6468618" y="2108200"/>
            <a:chExt cx="3286166" cy="2138807"/>
          </a:xfrm>
        </p:grpSpPr>
        <p:sp>
          <p:nvSpPr>
            <p:cNvPr id="14" name="TextBox 14"/>
            <p:cNvSpPr txBox="1"/>
            <p:nvPr/>
          </p:nvSpPr>
          <p:spPr>
            <a:xfrm>
              <a:off x="6470904" y="2108200"/>
              <a:ext cx="450416"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NEXT</a:t>
              </a:r>
            </a:p>
          </p:txBody>
        </p:sp>
        <p:sp>
          <p:nvSpPr>
            <p:cNvPr id="15" name="TextBox 15"/>
            <p:cNvSpPr txBox="1"/>
            <p:nvPr/>
          </p:nvSpPr>
          <p:spPr>
            <a:xfrm>
              <a:off x="6468618" y="2495550"/>
              <a:ext cx="110053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Carry terms</a:t>
              </a:r>
            </a:p>
          </p:txBody>
        </p:sp>
        <p:sp>
          <p:nvSpPr>
            <p:cNvPr id="16" name="TextBox 16"/>
            <p:cNvSpPr txBox="1"/>
            <p:nvPr/>
          </p:nvSpPr>
          <p:spPr>
            <a:xfrm>
              <a:off x="6468618" y="2755900"/>
              <a:ext cx="300375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Do a hurdle or lower carry improve</a:t>
              </a:r>
              <a:br>
                <a:rPr lang="en-US" sz="1650" dirty="0">
                  <a:solidFill>
                    <a:schemeClr val="dk1"/>
                  </a:solidFill>
                  <a:latin typeface="+mn-lt"/>
                  <a:ea typeface="+mn-ea"/>
                  <a:cs typeface="+mn-cs"/>
                </a:rPr>
              </a:br>
              <a:r>
                <a:rPr lang="en-US" sz="1650" dirty="0">
                  <a:solidFill>
                    <a:schemeClr val="dk1"/>
                  </a:solidFill>
                  <a:latin typeface="+mn-lt"/>
                  <a:ea typeface="+mn-ea"/>
                  <a:cs typeface="+mn-cs"/>
                </a:rPr>
                <a:t>investor outcomes?</a:t>
              </a:r>
            </a:p>
          </p:txBody>
        </p:sp>
        <p:sp>
          <p:nvSpPr>
            <p:cNvPr id="17" name="TextBox 17"/>
            <p:cNvSpPr txBox="1"/>
            <p:nvPr/>
          </p:nvSpPr>
          <p:spPr>
            <a:xfrm>
              <a:off x="6468618" y="3638550"/>
              <a:ext cx="205230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Commitment decision</a:t>
              </a:r>
            </a:p>
          </p:txBody>
        </p:sp>
        <p:sp>
          <p:nvSpPr>
            <p:cNvPr id="18" name="TextBox 18"/>
            <p:cNvSpPr txBox="1"/>
            <p:nvPr/>
          </p:nvSpPr>
          <p:spPr>
            <a:xfrm>
              <a:off x="6468618" y="3924300"/>
              <a:ext cx="328616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Should OPERF keep the full $750m?</a:t>
              </a:r>
            </a:p>
          </p:txBody>
        </p:sp>
      </p:grpSp>
      <p:grpSp>
        <p:nvGrpSpPr>
          <p:cNvPr id="21" name="conclusion"/>
          <p:cNvGrpSpPr/>
          <p:nvPr/>
        </p:nvGrpSpPr>
        <p:grpSpPr>
          <a:xfrm>
            <a:off x="599694" y="5156200"/>
            <a:ext cx="5947612" cy="705231"/>
            <a:chOff x="599694" y="5156200"/>
            <a:chExt cx="5947612" cy="705231"/>
          </a:xfrm>
        </p:grpSpPr>
        <p:sp>
          <p:nvSpPr>
            <p:cNvPr id="20" name="TextBox 20"/>
            <p:cNvSpPr txBox="1"/>
            <p:nvPr/>
          </p:nvSpPr>
          <p:spPr>
            <a:xfrm>
              <a:off x="599694" y="5156200"/>
              <a:ext cx="5947612" cy="705231"/>
            </a:xfrm>
            <a:prstGeom prst="rect">
              <a:avLst/>
            </a:prstGeom>
            <a:noFill/>
            <a:ln>
              <a:noFill/>
            </a:ln>
          </p:spPr>
          <p:txBody>
            <a:bodyPr wrap="none" lIns="0" tIns="0" rIns="0" bIns="0" anchor="t" anchorCtr="0">
              <a:spAutoFit/>
            </a:bodyPr>
            <a:lstStyle/>
            <a:p>
              <a:pPr algn="l">
                <a:lnSpc>
                  <a:spcPts val="2550"/>
                </a:lnSpc>
              </a:pPr>
              <a:r>
                <a:rPr lang="en-US" sz="1950" dirty="0">
                  <a:solidFill>
                    <a:schemeClr val="accent1"/>
                  </a:solidFill>
                  <a:latin typeface="+mn-lt"/>
                  <a:ea typeface="+mn-ea"/>
                  <a:cs typeface="+mn-cs"/>
                </a:rPr>
                <a:t>The fee cut improves value under unchanged assumptions;</a:t>
              </a:r>
              <a:br>
                <a:rPr lang="en-US" sz="1950" dirty="0">
                  <a:solidFill>
                    <a:schemeClr val="accent1"/>
                  </a:solidFill>
                  <a:latin typeface="+mn-lt"/>
                  <a:ea typeface="+mn-ea"/>
                  <a:cs typeface="+mn-cs"/>
                </a:rPr>
              </a:br>
              <a:r>
                <a:rPr lang="en-US" sz="1950" dirty="0">
                  <a:solidFill>
                    <a:schemeClr val="accent1"/>
                  </a:solidFill>
                  <a:latin typeface="+mn-lt"/>
                  <a:ea typeface="+mn-ea"/>
                  <a:cs typeface="+mn-cs"/>
                </a:rPr>
                <a:t>it does not settle the remaining investment decision.</a:t>
              </a:r>
            </a:p>
          </p:txBody>
        </p:sp>
      </p:grpSp>
      <p:grpSp>
        <p:nvGrpSpPr>
          <p:cNvPr id="23" name="caption"/>
          <p:cNvGrpSpPr/>
          <p:nvPr/>
        </p:nvGrpSpPr>
        <p:grpSpPr>
          <a:xfrm>
            <a:off x="602742" y="5949950"/>
            <a:ext cx="3942502" cy="264033"/>
            <a:chOff x="602742" y="5949950"/>
            <a:chExt cx="3942502" cy="264033"/>
          </a:xfrm>
        </p:grpSpPr>
        <p:sp>
          <p:nvSpPr>
            <p:cNvPr id="22" name="TextBox 22"/>
            <p:cNvSpPr txBox="1"/>
            <p:nvPr/>
          </p:nvSpPr>
          <p:spPr>
            <a:xfrm>
              <a:off x="602742" y="5949950"/>
              <a:ext cx="39425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a:t>
              </a:r>
            </a:p>
          </p:txBody>
        </p:sp>
      </p:grpSp>
      <p:grpSp>
        <p:nvGrpSpPr>
          <p:cNvPr id="26" name="footer"/>
          <p:cNvGrpSpPr/>
          <p:nvPr/>
        </p:nvGrpSpPr>
        <p:grpSpPr>
          <a:xfrm>
            <a:off x="604266" y="6426200"/>
            <a:ext cx="10983468" cy="291084"/>
            <a:chOff x="604266" y="6426200"/>
            <a:chExt cx="10983468" cy="291084"/>
          </a:xfrm>
        </p:grpSpPr>
        <p:sp>
          <p:nvSpPr>
            <p:cNvPr id="24" name="TextBox 24"/>
            <p:cNvSpPr txBox="1"/>
            <p:nvPr/>
          </p:nvSpPr>
          <p:spPr>
            <a:xfrm>
              <a:off x="604266" y="6426200"/>
              <a:ext cx="102336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case!C50, C64; Q4 Analysis!C25, C28; slide 37; Case pp. 1, 6. The Q4 gain is a ten-year inception comparison and does not by itself justify keeping the full $750m.</a:t>
              </a:r>
            </a:p>
          </p:txBody>
        </p:sp>
        <p:sp>
          <p:nvSpPr>
            <p:cNvPr id="25" name="TextBox 2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617130" cy="234696"/>
            <a:chOff x="908304" y="1574800"/>
            <a:chExt cx="2617130" cy="234696"/>
          </a:xfrm>
        </p:grpSpPr>
        <p:sp>
          <p:nvSpPr>
            <p:cNvPr id="2" name="TextBox 2"/>
            <p:cNvSpPr txBox="1"/>
            <p:nvPr/>
          </p:nvSpPr>
          <p:spPr>
            <a:xfrm>
              <a:off x="908304" y="1574800"/>
              <a:ext cx="2617130"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NEGOTIATION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7389586"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What should OPERF negotiate —</a:t>
              </a:r>
              <a:br>
                <a:rPr lang="en-US" sz="3600" dirty="0">
                  <a:solidFill>
                    <a:srgbClr val="FBF8F2"/>
                  </a:solidFill>
                  <a:latin typeface="+mj-lt"/>
                  <a:ea typeface="+mj-ea"/>
                  <a:cs typeface="+mj-cs"/>
                </a:rPr>
              </a:br>
              <a:r>
                <a:rPr lang="en-US" sz="3600" dirty="0">
                  <a:solidFill>
                    <a:srgbClr val="FBF8F2"/>
                  </a:solidFill>
                  <a:latin typeface="+mj-lt"/>
                  <a:ea typeface="+mj-ea"/>
                  <a:cs typeface="+mj-cs"/>
                </a:rPr>
                <a:t>and should it reduce its commitment?</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subquestion"/>
          <p:cNvGrpSpPr/>
          <p:nvPr/>
        </p:nvGrpSpPr>
        <p:grpSpPr>
          <a:xfrm>
            <a:off x="903732" y="4032250"/>
            <a:ext cx="8160540" cy="753618"/>
            <a:chOff x="903732" y="4032250"/>
            <a:chExt cx="8160540" cy="753618"/>
          </a:xfrm>
        </p:grpSpPr>
        <p:sp>
          <p:nvSpPr>
            <p:cNvPr id="7" name="TextBox 7"/>
            <p:cNvSpPr txBox="1"/>
            <p:nvPr/>
          </p:nvSpPr>
          <p:spPr>
            <a:xfrm>
              <a:off x="903732" y="4032250"/>
              <a:ext cx="8160540" cy="753618"/>
            </a:xfrm>
            <a:prstGeom prst="rect">
              <a:avLst/>
            </a:prstGeom>
            <a:noFill/>
            <a:ln>
              <a:noFill/>
            </a:ln>
          </p:spPr>
          <p:txBody>
            <a:bodyPr wrap="none" lIns="0" tIns="0" rIns="0" bIns="0" anchor="t" anchorCtr="0">
              <a:spAutoFit/>
            </a:bodyPr>
            <a:lstStyle/>
            <a:p>
              <a:pPr algn="l">
                <a:lnSpc>
                  <a:spcPts val="2700"/>
                </a:lnSpc>
              </a:pPr>
              <a:r>
                <a:rPr lang="en-US" sz="2100" dirty="0">
                  <a:solidFill>
                    <a:schemeClr val="accent6"/>
                  </a:solidFill>
                  <a:latin typeface="+mn-lt"/>
                  <a:ea typeface="+mn-ea"/>
                  <a:cs typeface="+mn-cs"/>
                </a:rPr>
                <a:t>Q5 · Would it be reasonable for OPERF to request an 8% annual hurdle rate</a:t>
              </a:r>
              <a:br>
                <a:rPr lang="en-US" sz="2100" dirty="0">
                  <a:solidFill>
                    <a:schemeClr val="accent6"/>
                  </a:solidFill>
                  <a:latin typeface="+mn-lt"/>
                  <a:ea typeface="+mn-ea"/>
                  <a:cs typeface="+mn-cs"/>
                </a:rPr>
              </a:br>
              <a:r>
                <a:rPr lang="en-US" sz="2100" dirty="0">
                  <a:solidFill>
                    <a:schemeClr val="accent6"/>
                  </a:solidFill>
                  <a:latin typeface="+mn-lt"/>
                  <a:ea typeface="+mn-ea"/>
                  <a:cs typeface="+mn-cs"/>
                </a:rPr>
                <a:t>or reduce TPG's carry from 20% to 15%?</a:t>
              </a:r>
            </a:p>
          </p:txBody>
        </p:sp>
      </p:grpSp>
      <p:grpSp>
        <p:nvGrpSpPr>
          <p:cNvPr id="10" name="section-part"/>
          <p:cNvGrpSpPr/>
          <p:nvPr/>
        </p:nvGrpSpPr>
        <p:grpSpPr>
          <a:xfrm>
            <a:off x="907542" y="5930900"/>
            <a:ext cx="5025892" cy="264033"/>
            <a:chOff x="907542" y="5930900"/>
            <a:chExt cx="5025892" cy="264033"/>
          </a:xfrm>
        </p:grpSpPr>
        <p:sp>
          <p:nvSpPr>
            <p:cNvPr id="9" name="TextBox 9"/>
            <p:cNvSpPr txBox="1"/>
            <p:nvPr/>
          </p:nvSpPr>
          <p:spPr>
            <a:xfrm>
              <a:off x="907542" y="5930900"/>
              <a:ext cx="5025892"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5 · Recommendation and negotiation strategy · Q5–Q6 · Jimmy</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253525" cy="244475"/>
            <a:chOff x="603504" y="546100"/>
            <a:chExt cx="5253525" cy="244475"/>
          </a:xfrm>
        </p:grpSpPr>
        <p:sp>
          <p:nvSpPr>
            <p:cNvPr id="2" name="TextBox 2"/>
            <p:cNvSpPr txBox="1"/>
            <p:nvPr/>
          </p:nvSpPr>
          <p:spPr>
            <a:xfrm>
              <a:off x="603504" y="546100"/>
              <a:ext cx="525352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TERMS AND CONTEMPORARY EVIDENCE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70843" cy="586740"/>
            <a:chOff x="594360" y="812800"/>
            <a:chExt cx="6670843" cy="586740"/>
          </a:xfrm>
        </p:grpSpPr>
        <p:sp>
          <p:nvSpPr>
            <p:cNvPr id="5" name="TextBox 5"/>
            <p:cNvSpPr txBox="1"/>
            <p:nvPr/>
          </p:nvSpPr>
          <p:spPr>
            <a:xfrm>
              <a:off x="594360" y="812800"/>
              <a:ext cx="667084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What a hurdle and lower carry do</a:t>
              </a:r>
            </a:p>
          </p:txBody>
        </p:sp>
      </p:grpSp>
      <p:grpSp>
        <p:nvGrpSpPr>
          <p:cNvPr id="8" name="lead"/>
          <p:cNvGrpSpPr/>
          <p:nvPr/>
        </p:nvGrpSpPr>
        <p:grpSpPr>
          <a:xfrm>
            <a:off x="601218" y="1746250"/>
            <a:ext cx="4740796" cy="608457"/>
            <a:chOff x="601218" y="1746250"/>
            <a:chExt cx="4740796" cy="608457"/>
          </a:xfrm>
        </p:grpSpPr>
        <p:sp>
          <p:nvSpPr>
            <p:cNvPr id="7" name="TextBox 7"/>
            <p:cNvSpPr txBox="1"/>
            <p:nvPr/>
          </p:nvSpPr>
          <p:spPr>
            <a:xfrm>
              <a:off x="601218" y="1746250"/>
              <a:ext cx="474079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A hurdle gives investors payment priority.</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Lower carry gives them a larger share of eligible profits.</a:t>
              </a:r>
            </a:p>
          </p:txBody>
        </p:sp>
      </p:grpSp>
      <p:graphicFrame>
        <p:nvGraphicFramePr>
          <p:cNvPr id="9" name="hurdle-vs-carry-table"/>
          <p:cNvGraphicFramePr>
            <a:graphicFrameLocks noGrp="1"/>
          </p:cNvGraphicFramePr>
          <p:nvPr/>
        </p:nvGraphicFramePr>
        <p:xfrm>
          <a:off x="609600" y="2495550"/>
          <a:ext cx="10972800" cy="3143250"/>
        </p:xfrm>
        <a:graphic>
          <a:graphicData uri="http://schemas.openxmlformats.org/drawingml/2006/table">
            <a:tbl>
              <a:tblPr firstRow="1" bandRow="0">
                <a:tableStyleId>{5C22544A-7EE6-4342-B048-85BDC9FD1C3A}</a:tableStyleId>
              </a:tblPr>
              <a:tblGrid>
                <a:gridCol w="5486400"/>
                <a:gridCol w="5486400"/>
              </a:tblGrid>
              <a:tr h="419100">
                <a:tc>
                  <a:txBody>
                    <a:bodyPr/>
                    <a:lstStyle/>
                    <a:p>
                      <a:pPr/>
                      <a:r>
                        <a:rPr lang="en-US" sz="1500" b="1">
                          <a:solidFill>
                            <a:srgbClr val="FBF8F2"/>
                          </a:solidFill>
                          <a:latin typeface="Calibri"/>
                          <a:ea typeface="Microsoft YaHei"/>
                          <a:cs typeface="Calibri"/>
                        </a:rPr>
                        <a:t>Hurdle rate</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500" b="1">
                          <a:solidFill>
                            <a:srgbClr val="FBF8F2"/>
                          </a:solidFill>
                          <a:latin typeface="Calibri"/>
                          <a:ea typeface="Microsoft YaHei"/>
                          <a:cs typeface="Calibri"/>
                        </a:rPr>
                        <a:t>Reduction in carry</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accent1"/>
                    </a:solidFill>
                  </a:tcPr>
                </a:tc>
              </a:tr>
              <a:tr h="838200">
                <a:tc>
                  <a:txBody>
                    <a:bodyPr/>
                    <a:lstStyle/>
                    <a:p>
                      <a:pPr/>
                      <a:r>
                        <a:rPr lang="en-US" sz="1500" b="1">
                          <a:solidFill>
                            <a:schemeClr val="dk1"/>
                          </a:solidFill>
                          <a:latin typeface="Calibri"/>
                          <a:ea typeface="Microsoft YaHei"/>
                          <a:cs typeface="Calibri"/>
                        </a:rPr>
                        <a:t xml:space="preserve">What it does: </a:t>
                      </a:r>
                      <a:r>
                        <a:rPr lang="en-US" sz="1500" b="0">
                          <a:solidFill>
                            <a:schemeClr val="dk1"/>
                          </a:solidFill>
                          <a:latin typeface="Calibri"/>
                          <a:ea typeface="Microsoft YaHei"/>
                          <a:cs typeface="Calibri"/>
                        </a:rPr>
                        <a:t>investors receive the accrued preferred return before TPG earns carry. It does not guarantee that return.</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1">
                          <a:solidFill>
                            <a:schemeClr val="dk1"/>
                          </a:solidFill>
                          <a:latin typeface="Calibri"/>
                          <a:ea typeface="Microsoft YaHei"/>
                          <a:cs typeface="Calibri"/>
                        </a:rPr>
                        <a:t xml:space="preserve">What it does: </a:t>
                      </a:r>
                      <a:r>
                        <a:rPr lang="en-US" sz="1500" b="0">
                          <a:solidFill>
                            <a:schemeClr val="dk1"/>
                          </a:solidFill>
                          <a:latin typeface="Calibri"/>
                          <a:ea typeface="Microsoft YaHei"/>
                          <a:cs typeface="Calibri"/>
                        </a:rPr>
                        <a:t>TPG receives a smaller share of eligible profits, so investors retain more.</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r h="1047750">
                <a:tc>
                  <a:txBody>
                    <a:bodyPr/>
                    <a:lstStyle/>
                    <a:p>
                      <a:pPr/>
                      <a:r>
                        <a:rPr lang="en-US" sz="1500" b="1">
                          <a:solidFill>
                            <a:schemeClr val="dk1"/>
                          </a:solidFill>
                          <a:latin typeface="Calibri"/>
                          <a:ea typeface="Microsoft YaHei"/>
                          <a:cs typeface="Calibri"/>
                        </a:rPr>
                        <a:t xml:space="preserve">Why catch-up matters: </a:t>
                      </a:r>
                      <a:r>
                        <a:rPr lang="en-US" sz="1500" b="0">
                          <a:solidFill>
                            <a:schemeClr val="dk1"/>
                          </a:solidFill>
                          <a:latin typeface="Calibri"/>
                          <a:ea typeface="Microsoft YaHei"/>
                          <a:cs typeface="Calibri"/>
                        </a:rPr>
                        <a:t>with full catch-up, TPG can recover its agreed profit share after investors receive the preference. Without catch-up, investors keep more of that benefit.</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500" b="1">
                          <a:solidFill>
                            <a:schemeClr val="dk1"/>
                          </a:solidFill>
                          <a:latin typeface="Calibri"/>
                          <a:ea typeface="Microsoft YaHei"/>
                          <a:cs typeface="Calibri"/>
                        </a:rPr>
                        <a:t xml:space="preserve">What it does not do alone: </a:t>
                      </a:r>
                      <a:r>
                        <a:rPr lang="en-US" sz="1500" b="0">
                          <a:solidFill>
                            <a:schemeClr val="dk1"/>
                          </a:solidFill>
                          <a:latin typeface="Calibri"/>
                          <a:ea typeface="Microsoft YaHei"/>
                          <a:cs typeface="Calibri"/>
                        </a:rPr>
                        <a:t>it does not impose a minimum investor return before carry is paid.</a:t>
                      </a:r>
                    </a:p>
                  </a:txBody>
                  <a:tcPr anchor="ctr" marL="152400" marR="152400" marT="57150" marB="57150">
                    <a:lnL>
                      <a:noFill/>
                    </a:lnL>
                    <a:lnR>
                      <a:noFill/>
                    </a:lnR>
                    <a:lnT w="9525">
                      <a:solidFill>
                        <a:schemeClr val="accent6"/>
                      </a:solidFill>
                      <a:prstDash val="solid"/>
                    </a:lnT>
                    <a:lnB w="9525">
                      <a:solidFill>
                        <a:schemeClr val="accent6"/>
                      </a:solidFill>
                      <a:prstDash val="solid"/>
                    </a:lnB>
                    <a:solidFill>
                      <a:schemeClr val="lt2"/>
                    </a:solidFill>
                  </a:tcPr>
                </a:tc>
              </a:tr>
              <a:tr h="838200">
                <a:tc>
                  <a:txBody>
                    <a:bodyPr/>
                    <a:lstStyle/>
                    <a:p>
                      <a:pPr/>
                      <a:r>
                        <a:rPr lang="en-US" sz="1500" b="1">
                          <a:solidFill>
                            <a:schemeClr val="dk1"/>
                          </a:solidFill>
                          <a:latin typeface="Calibri"/>
                          <a:ea typeface="Microsoft YaHei"/>
                          <a:cs typeface="Calibri"/>
                        </a:rPr>
                        <a:t xml:space="preserve">Contemporary evidence: </a:t>
                      </a:r>
                      <a:r>
                        <a:rPr lang="en-US" sz="1500" b="0">
                          <a:solidFill>
                            <a:schemeClr val="dk1"/>
                          </a:solidFill>
                          <a:latin typeface="Calibri"/>
                          <a:ea typeface="Microsoft YaHei"/>
                          <a:cs typeface="Calibri"/>
                        </a:rPr>
                        <a:t>in the July 2007 sample, 93.1% of 144 buyout funds use hurdles and 8% is the most common rate.</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c>
                  <a:txBody>
                    <a:bodyPr/>
                    <a:lstStyle/>
                    <a:p>
                      <a:pPr/>
                      <a:r>
                        <a:rPr lang="en-US" sz="1500" b="1">
                          <a:solidFill>
                            <a:schemeClr val="dk1"/>
                          </a:solidFill>
                          <a:latin typeface="Calibri"/>
                          <a:ea typeface="Microsoft YaHei"/>
                          <a:cs typeface="Calibri"/>
                        </a:rPr>
                        <a:t xml:space="preserve">Contemporary evidence: </a:t>
                      </a:r>
                      <a:r>
                        <a:rPr lang="en-US" sz="1500" b="0">
                          <a:solidFill>
                            <a:schemeClr val="dk1"/>
                          </a:solidFill>
                          <a:latin typeface="Calibri"/>
                          <a:ea typeface="Microsoft YaHei"/>
                          <a:cs typeface="Calibri"/>
                        </a:rPr>
                        <a:t>the same sample's terms table records no buyout funds with carry below 20%.</a:t>
                      </a:r>
                    </a:p>
                  </a:txBody>
                  <a:tcPr anchor="ctr" marL="152400" marR="152400" marT="57150" marB="57150">
                    <a:lnL>
                      <a:noFill/>
                    </a:lnL>
                    <a:lnR>
                      <a:noFill/>
                    </a:lnR>
                    <a:lnT w="9525">
                      <a:solidFill>
                        <a:schemeClr val="accent6"/>
                      </a:solidFill>
                      <a:prstDash val="solid"/>
                    </a:lnT>
                    <a:lnB w="9525">
                      <a:solidFill>
                        <a:schemeClr val="accent6"/>
                      </a:solidFill>
                      <a:prstDash val="solid"/>
                    </a:lnB>
                    <a:noFill/>
                  </a:tcPr>
                </a:tc>
              </a:tr>
            </a:tbl>
          </a:graphicData>
        </a:graphic>
      </p:graphicFrame>
      <p:sp>
        <p:nvSpPr>
          <p:cNvPr id="10" name="TextBox 10"/>
          <p:cNvSpPr txBox="1"/>
          <p:nvPr/>
        </p:nvSpPr>
        <p:spPr>
          <a:xfrm>
            <a:off x="602742" y="5797550"/>
            <a:ext cx="772379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Historical sample, not the whole market. TPG VI's exact hurdle and catch-up terms remain unconfirmed.</a:t>
            </a:r>
          </a:p>
        </p:txBody>
      </p:sp>
      <p:grpSp>
        <p:nvGrpSpPr>
          <p:cNvPr id="13" name="footer"/>
          <p:cNvGrpSpPr/>
          <p:nvPr/>
        </p:nvGrpSpPr>
        <p:grpSpPr>
          <a:xfrm>
            <a:off x="604266" y="6350000"/>
            <a:ext cx="10983468" cy="367284"/>
            <a:chOff x="604266" y="6350000"/>
            <a:chExt cx="10983468" cy="367284"/>
          </a:xfrm>
        </p:grpSpPr>
        <p:sp>
          <p:nvSpPr>
            <p:cNvPr id="11" name="TextBox 11"/>
            <p:cNvSpPr txBox="1"/>
            <p:nvPr/>
          </p:nvSpPr>
          <p:spPr>
            <a:xfrm>
              <a:off x="604266" y="6350000"/>
              <a:ext cx="8016402"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Guide!B29:B33; Metrick &amp; Yasuda (2007), Table II; Apollo Global Management Form S-1, 8 Apr 2008 (an 8% preferred return with catch-up);</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Case p. 6 (TPG typically offered a preferred return; VI's exact rate and catch-up clause are not established).</a:t>
              </a:r>
            </a:p>
          </p:txBody>
        </p:sp>
        <p:sp>
          <p:nvSpPr>
            <p:cNvPr id="12" name="TextBox 12"/>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081292" cy="244475"/>
            <a:chOff x="603504" y="546100"/>
            <a:chExt cx="4081292" cy="244475"/>
          </a:xfrm>
        </p:grpSpPr>
        <p:sp>
          <p:nvSpPr>
            <p:cNvPr id="2" name="TextBox 2"/>
            <p:cNvSpPr txBox="1"/>
            <p:nvPr/>
          </p:nvSpPr>
          <p:spPr>
            <a:xfrm>
              <a:off x="603504" y="546100"/>
              <a:ext cx="4081292"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TEST 1: VARY THE HURDLE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536887" cy="586740"/>
            <a:chOff x="594360" y="812800"/>
            <a:chExt cx="4536887" cy="586740"/>
          </a:xfrm>
        </p:grpSpPr>
        <p:sp>
          <p:nvSpPr>
            <p:cNvPr id="5" name="TextBox 5"/>
            <p:cNvSpPr txBox="1"/>
            <p:nvPr/>
          </p:nvSpPr>
          <p:spPr>
            <a:xfrm>
              <a:off x="594360" y="812800"/>
              <a:ext cx="453688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Hurdle-rate sensitivity</a:t>
              </a:r>
            </a:p>
          </p:txBody>
        </p:sp>
      </p:grpSp>
      <p:grpSp>
        <p:nvGrpSpPr>
          <p:cNvPr id="8" name="lead"/>
          <p:cNvGrpSpPr/>
          <p:nvPr/>
        </p:nvGrpSpPr>
        <p:grpSpPr>
          <a:xfrm>
            <a:off x="601218" y="1746250"/>
            <a:ext cx="6306743" cy="608457"/>
            <a:chOff x="601218" y="1746250"/>
            <a:chExt cx="6306743" cy="608457"/>
          </a:xfrm>
        </p:grpSpPr>
        <p:sp>
          <p:nvSpPr>
            <p:cNvPr id="7" name="TextBox 7"/>
            <p:cNvSpPr txBox="1"/>
            <p:nvPr/>
          </p:nvSpPr>
          <p:spPr>
            <a:xfrm>
              <a:off x="601218" y="1746250"/>
              <a:ext cx="630674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Higher hurdles increase or preserve investor value.</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The catch-up clause determines how much of the benefit investors retain.</a:t>
              </a:r>
            </a:p>
          </p:txBody>
        </p:sp>
      </p:grpSp>
      <p:grpSp>
        <p:nvGrpSpPr>
          <p:cNvPr id="10" name="table-caption"/>
          <p:cNvGrpSpPr/>
          <p:nvPr/>
        </p:nvGrpSpPr>
        <p:grpSpPr>
          <a:xfrm>
            <a:off x="602742" y="2374900"/>
            <a:ext cx="5385313" cy="492633"/>
            <a:chOff x="602742" y="2374900"/>
            <a:chExt cx="5385313" cy="492633"/>
          </a:xfrm>
        </p:grpSpPr>
        <p:sp>
          <p:nvSpPr>
            <p:cNvPr id="9" name="TextBox 9"/>
            <p:cNvSpPr txBox="1"/>
            <p:nvPr/>
          </p:nvSpPr>
          <p:spPr>
            <a:xfrm>
              <a:off x="602742" y="2374900"/>
              <a:ext cx="5385313"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Additional LP NPV per $100 committed. Illustrative inputs: 20% asset growth,</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15% discount rate, 1.35% fee and workbook timing. Carry stays at 20%.</a:t>
              </a:r>
            </a:p>
          </p:txBody>
        </p:sp>
      </p:grpSp>
      <p:graphicFrame>
        <p:nvGraphicFramePr>
          <p:cNvPr id="11" name="hurdle-sensitivity-table"/>
          <p:cNvGraphicFramePr>
            <a:graphicFrameLocks noGrp="1"/>
          </p:cNvGraphicFramePr>
          <p:nvPr/>
        </p:nvGraphicFramePr>
        <p:xfrm>
          <a:off x="609600" y="2952750"/>
          <a:ext cx="7924800" cy="2819400"/>
        </p:xfrm>
        <a:graphic>
          <a:graphicData uri="http://schemas.openxmlformats.org/drawingml/2006/table">
            <a:tbl>
              <a:tblPr firstRow="1" bandRow="0">
                <a:tableStyleId>{5C22544A-7EE6-4342-B048-85BDC9FD1C3A}</a:tableStyleId>
              </a:tblPr>
              <a:tblGrid>
                <a:gridCol w="2647950"/>
                <a:gridCol w="2638425"/>
                <a:gridCol w="2638425"/>
              </a:tblGrid>
              <a:tr h="419100">
                <a:tc>
                  <a:txBody>
                    <a:bodyPr/>
                    <a:lstStyle/>
                    <a:p>
                      <a:pPr/>
                      <a:r>
                        <a:rPr lang="en-US" sz="1500" b="1">
                          <a:solidFill>
                            <a:srgbClr val="FBF8F2"/>
                          </a:solidFill>
                          <a:latin typeface="Calibri"/>
                          <a:ea typeface="Microsoft YaHei"/>
                          <a:cs typeface="Calibri"/>
                        </a:rPr>
                        <a:t>Annual hurdle rate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Full catch-up: NPV gain</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No catch-up: NPV gain</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400050">
                <a:tc>
                  <a:txBody>
                    <a:bodyPr/>
                    <a:lstStyle/>
                    <a:p>
                      <a:pPr/>
                      <a:r>
                        <a:rPr lang="en-US" sz="1500" b="0">
                          <a:solidFill>
                            <a:schemeClr val="dk1"/>
                          </a:solidFill>
                          <a:latin typeface="Calibri"/>
                          <a:ea typeface="Microsoft YaHei"/>
                          <a:cs typeface="Calibri"/>
                        </a:rPr>
                        <a:t>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$0.00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$0.00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r h="400050">
                <a:tc>
                  <a:txBody>
                    <a:bodyPr/>
                    <a:lstStyle/>
                    <a:p>
                      <a:pPr/>
                      <a:r>
                        <a:rPr lang="en-US" sz="1500" b="0">
                          <a:solidFill>
                            <a:schemeClr val="dk1"/>
                          </a:solidFill>
                          <a:latin typeface="Calibri"/>
                          <a:ea typeface="Microsoft YaHei"/>
                          <a:cs typeface="Calibri"/>
                        </a:rPr>
                        <a:t>4%</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$0.00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$1.23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$0.36</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$2.75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12%</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$0.58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$4.76</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16%</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$0.58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$7.58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20%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$9.42</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$9.42</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7" name="sidebar"/>
          <p:cNvGrpSpPr/>
          <p:nvPr/>
        </p:nvGrpSpPr>
        <p:grpSpPr>
          <a:xfrm>
            <a:off x="8763000" y="2400300"/>
            <a:ext cx="2212019" cy="3371850"/>
            <a:chOff x="8763000" y="2400300"/>
            <a:chExt cx="2212019" cy="3371850"/>
          </a:xfrm>
        </p:grpSpPr>
        <p:sp>
          <p:nvSpPr>
            <p:cNvPr id="12" name="Line 12"/>
            <p:cNvSpPr/>
            <p:nvPr/>
          </p:nvSpPr>
          <p:spPr>
            <a:xfrm>
              <a:off x="8763000" y="2400300"/>
              <a:ext cx="9525" cy="3371850"/>
            </a:xfrm>
            <a:custGeom>
              <a:avLst/>
              <a:gdLst/>
              <a:ahLst/>
              <a:cxnLst/>
              <a:rect l="l" t="t" r="r" b="b"/>
              <a:pathLst>
                <a:path w="9525" h="3371850">
                  <a:moveTo>
                    <a:pt x="0" y="0"/>
                  </a:moveTo>
                  <a:lnTo>
                    <a:pt x="0" y="3371850"/>
                  </a:lnTo>
                </a:path>
              </a:pathLst>
            </a:custGeom>
            <a:noFill/>
            <a:ln w="9525">
              <a:solidFill>
                <a:schemeClr val="accent6"/>
              </a:solidFill>
            </a:ln>
          </p:spPr>
        </p:sp>
        <p:sp>
          <p:nvSpPr>
            <p:cNvPr id="13" name="TextBox 13"/>
            <p:cNvSpPr txBox="1"/>
            <p:nvPr/>
          </p:nvSpPr>
          <p:spPr>
            <a:xfrm>
              <a:off x="8985504" y="2451100"/>
              <a:ext cx="1270879"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HOW TO READ</a:t>
              </a:r>
            </a:p>
          </p:txBody>
        </p:sp>
        <p:sp>
          <p:nvSpPr>
            <p:cNvPr id="14" name="TextBox 14"/>
            <p:cNvSpPr txBox="1"/>
            <p:nvPr/>
          </p:nvSpPr>
          <p:spPr>
            <a:xfrm>
              <a:off x="8984742" y="2717800"/>
              <a:ext cx="1990277"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Baseline: no hurdle and 20%</a:t>
              </a:r>
              <a:br>
                <a:rPr lang="en-US" sz="1350" dirty="0">
                  <a:solidFill>
                    <a:schemeClr val="dk1"/>
                  </a:solidFill>
                  <a:latin typeface="+mn-lt"/>
                  <a:ea typeface="+mn-ea"/>
                  <a:cs typeface="+mn-cs"/>
                </a:rPr>
              </a:br>
              <a:r>
                <a:rPr lang="en-US" sz="1350" dirty="0">
                  <a:solidFill>
                    <a:schemeClr val="dk1"/>
                  </a:solidFill>
                  <a:latin typeface="+mn-lt"/>
                  <a:ea typeface="+mn-ea"/>
                  <a:cs typeface="+mn-cs"/>
                </a:rPr>
                <a:t>carry, using the same</a:t>
              </a:r>
              <a:br>
                <a:rPr lang="en-US" sz="1350" dirty="0">
                  <a:solidFill>
                    <a:schemeClr val="dk1"/>
                  </a:solidFill>
                  <a:latin typeface="+mn-lt"/>
                  <a:ea typeface="+mn-ea"/>
                  <a:cs typeface="+mn-cs"/>
                </a:rPr>
              </a:br>
              <a:r>
                <a:rPr lang="en-US" sz="1350" dirty="0">
                  <a:solidFill>
                    <a:schemeClr val="dk1"/>
                  </a:solidFill>
                  <a:latin typeface="+mn-lt"/>
                  <a:ea typeface="+mn-ea"/>
                  <a:cs typeface="+mn-cs"/>
                </a:rPr>
                <a:t>investment inputs.</a:t>
              </a:r>
            </a:p>
          </p:txBody>
        </p:sp>
        <p:sp>
          <p:nvSpPr>
            <p:cNvPr id="15" name="TextBox 15"/>
            <p:cNvSpPr txBox="1"/>
            <p:nvPr/>
          </p:nvSpPr>
          <p:spPr>
            <a:xfrm>
              <a:off x="8984742" y="3632200"/>
              <a:ext cx="1909644"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Dollar values are NPV gains</a:t>
              </a:r>
              <a:br>
                <a:rPr lang="en-US" sz="1350" dirty="0">
                  <a:solidFill>
                    <a:schemeClr val="dk1"/>
                  </a:solidFill>
                  <a:latin typeface="+mn-lt"/>
                  <a:ea typeface="+mn-ea"/>
                  <a:cs typeface="+mn-cs"/>
                </a:rPr>
              </a:br>
              <a:r>
                <a:rPr lang="en-US" sz="1350" dirty="0">
                  <a:solidFill>
                    <a:schemeClr val="dk1"/>
                  </a:solidFill>
                  <a:latin typeface="+mn-lt"/>
                  <a:ea typeface="+mn-ea"/>
                  <a:cs typeface="+mn-cs"/>
                </a:rPr>
                <a:t>at inception, not returns or</a:t>
              </a:r>
              <a:br>
                <a:rPr lang="en-US" sz="1350" dirty="0">
                  <a:solidFill>
                    <a:schemeClr val="dk1"/>
                  </a:solidFill>
                  <a:latin typeface="+mn-lt"/>
                  <a:ea typeface="+mn-ea"/>
                  <a:cs typeface="+mn-cs"/>
                </a:rPr>
              </a:br>
              <a:r>
                <a:rPr lang="en-US" sz="1350" dirty="0">
                  <a:solidFill>
                    <a:schemeClr val="dk1"/>
                  </a:solidFill>
                  <a:latin typeface="+mn-lt"/>
                  <a:ea typeface="+mn-ea"/>
                  <a:cs typeface="+mn-cs"/>
                </a:rPr>
                <a:t>total NPVs.</a:t>
              </a:r>
            </a:p>
          </p:txBody>
        </p:sp>
        <p:sp>
          <p:nvSpPr>
            <p:cNvPr id="16" name="TextBox 16"/>
            <p:cNvSpPr txBox="1"/>
            <p:nvPr/>
          </p:nvSpPr>
          <p:spPr>
            <a:xfrm>
              <a:off x="8984742" y="4546600"/>
              <a:ext cx="1666305"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shaded row is the</a:t>
              </a:r>
              <a:br>
                <a:rPr lang="en-US" sz="1350" dirty="0">
                  <a:solidFill>
                    <a:schemeClr val="dk1"/>
                  </a:solidFill>
                  <a:latin typeface="+mn-lt"/>
                  <a:ea typeface="+mn-ea"/>
                  <a:cs typeface="+mn-cs"/>
                </a:rPr>
              </a:br>
              <a:r>
                <a:rPr lang="en-US" sz="1350" dirty="0">
                  <a:solidFill>
                    <a:schemeClr val="dk1"/>
                  </a:solidFill>
                  <a:latin typeface="+mn-lt"/>
                  <a:ea typeface="+mn-ea"/>
                  <a:cs typeface="+mn-cs"/>
                </a:rPr>
                <a:t>baseline; the 8% row is</a:t>
              </a:r>
              <a:br>
                <a:rPr lang="en-US" sz="1350" dirty="0">
                  <a:solidFill>
                    <a:schemeClr val="dk1"/>
                  </a:solidFill>
                  <a:latin typeface="+mn-lt"/>
                  <a:ea typeface="+mn-ea"/>
                  <a:cs typeface="+mn-cs"/>
                </a:rPr>
              </a:br>
              <a:r>
                <a:rPr lang="en-US" sz="1350" dirty="0">
                  <a:solidFill>
                    <a:schemeClr val="dk1"/>
                  </a:solidFill>
                  <a:latin typeface="+mn-lt"/>
                  <a:ea typeface="+mn-ea"/>
                  <a:cs typeface="+mn-cs"/>
                </a:rPr>
                <a:t>Q5's test point, used on</a:t>
              </a:r>
              <a:br>
                <a:rPr lang="en-US" sz="1350" dirty="0">
                  <a:solidFill>
                    <a:schemeClr val="dk1"/>
                  </a:solidFill>
                  <a:latin typeface="+mn-lt"/>
                  <a:ea typeface="+mn-ea"/>
                  <a:cs typeface="+mn-cs"/>
                </a:rPr>
              </a:br>
              <a:r>
                <a:rPr lang="en-US" sz="1350" dirty="0">
                  <a:solidFill>
                    <a:schemeClr val="dk1"/>
                  </a:solidFill>
                  <a:latin typeface="+mn-lt"/>
                  <a:ea typeface="+mn-ea"/>
                  <a:cs typeface="+mn-cs"/>
                </a:rPr>
                <a:t>slide 43.</a:t>
              </a:r>
            </a:p>
          </p:txBody>
        </p:sp>
      </p:grpSp>
      <p:grpSp>
        <p:nvGrpSpPr>
          <p:cNvPr id="19" name="takeaway"/>
          <p:cNvGrpSpPr/>
          <p:nvPr/>
        </p:nvGrpSpPr>
        <p:grpSpPr>
          <a:xfrm>
            <a:off x="602742" y="5930900"/>
            <a:ext cx="8548346" cy="264033"/>
            <a:chOff x="602742" y="5930900"/>
            <a:chExt cx="8548346" cy="264033"/>
          </a:xfrm>
        </p:grpSpPr>
        <p:sp>
          <p:nvSpPr>
            <p:cNvPr id="18" name="TextBox 18"/>
            <p:cNvSpPr txBox="1"/>
            <p:nvPr/>
          </p:nvSpPr>
          <p:spPr>
            <a:xfrm>
              <a:off x="602742" y="5930900"/>
              <a:ext cx="8548346"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Higher hurdles can reach a plateau once carry becomes zero. The model does not identify 8% as a unique optimum.</a:t>
              </a:r>
            </a:p>
          </p:txBody>
        </p:sp>
      </p:grpSp>
      <p:grpSp>
        <p:nvGrpSpPr>
          <p:cNvPr id="22" name="footer"/>
          <p:cNvGrpSpPr/>
          <p:nvPr/>
        </p:nvGrpSpPr>
        <p:grpSpPr>
          <a:xfrm>
            <a:off x="604266" y="6350000"/>
            <a:ext cx="10983468" cy="367284"/>
            <a:chOff x="604266" y="6350000"/>
            <a:chExt cx="10983468" cy="367284"/>
          </a:xfrm>
        </p:grpSpPr>
        <p:sp>
          <p:nvSpPr>
            <p:cNvPr id="20" name="TextBox 20"/>
            <p:cNvSpPr txBox="1"/>
            <p:nvPr/>
          </p:nvSpPr>
          <p:spPr>
            <a:xfrm>
              <a:off x="604266" y="6350000"/>
              <a:ext cx="939012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Inputs!C13:L14, C19:C23; the team's Q5 sensitivity analysis (reproduced full-catch-up and no-catch-up waterfalls; 0.25-point rate steps).</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Cross-checks: 8% no catch-up $2.75 × 7.5 ≈ $20.65m (Q5 Analysis!C10); 8% full catch-up $0.36 × 7.5 ≈ $2.73m (Q5 Analysis!D10). Carry disappears at about an 18.03% hurdle.</a:t>
              </a:r>
            </a:p>
          </p:txBody>
        </p:sp>
        <p:sp>
          <p:nvSpPr>
            <p:cNvPr id="21" name="TextBox 2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054913" cy="244475"/>
            <a:chOff x="603504" y="546100"/>
            <a:chExt cx="5054913" cy="244475"/>
          </a:xfrm>
        </p:grpSpPr>
        <p:sp>
          <p:nvSpPr>
            <p:cNvPr id="2" name="TextBox 2"/>
            <p:cNvSpPr txBox="1"/>
            <p:nvPr/>
          </p:nvSpPr>
          <p:spPr>
            <a:xfrm>
              <a:off x="603504" y="546100"/>
              <a:ext cx="5054913"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TEST 2: VARY THE CARRY REDUCTION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373575" cy="586740"/>
            <a:chOff x="594360" y="812800"/>
            <a:chExt cx="5373575" cy="586740"/>
          </a:xfrm>
        </p:grpSpPr>
        <p:sp>
          <p:nvSpPr>
            <p:cNvPr id="5" name="TextBox 5"/>
            <p:cNvSpPr txBox="1"/>
            <p:nvPr/>
          </p:nvSpPr>
          <p:spPr>
            <a:xfrm>
              <a:off x="594360" y="812800"/>
              <a:ext cx="537357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Carry-reduction sensitivity</a:t>
              </a:r>
            </a:p>
          </p:txBody>
        </p:sp>
      </p:grpSp>
      <p:grpSp>
        <p:nvGrpSpPr>
          <p:cNvPr id="8" name="lead"/>
          <p:cNvGrpSpPr/>
          <p:nvPr/>
        </p:nvGrpSpPr>
        <p:grpSpPr>
          <a:xfrm>
            <a:off x="601218" y="1771650"/>
            <a:ext cx="7382653" cy="322707"/>
            <a:chOff x="601218" y="1771650"/>
            <a:chExt cx="7382653" cy="322707"/>
          </a:xfrm>
        </p:grpSpPr>
        <p:sp>
          <p:nvSpPr>
            <p:cNvPr id="7" name="TextBox 7"/>
            <p:cNvSpPr txBox="1"/>
            <p:nvPr/>
          </p:nvSpPr>
          <p:spPr>
            <a:xfrm>
              <a:off x="601218" y="1771650"/>
              <a:ext cx="738265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Lower carry increases or preserves LP value under fixed investment performance.</a:t>
              </a:r>
            </a:p>
          </p:txBody>
        </p:sp>
      </p:grpSp>
      <p:grpSp>
        <p:nvGrpSpPr>
          <p:cNvPr id="10" name="table-caption"/>
          <p:cNvGrpSpPr/>
          <p:nvPr/>
        </p:nvGrpSpPr>
        <p:grpSpPr>
          <a:xfrm>
            <a:off x="602742" y="2222500"/>
            <a:ext cx="6115090" cy="492633"/>
            <a:chOff x="602742" y="2222500"/>
            <a:chExt cx="6115090" cy="492633"/>
          </a:xfrm>
        </p:grpSpPr>
        <p:sp>
          <p:nvSpPr>
            <p:cNvPr id="9" name="TextBox 9"/>
            <p:cNvSpPr txBox="1"/>
            <p:nvPr/>
          </p:nvSpPr>
          <p:spPr>
            <a:xfrm>
              <a:off x="602742" y="2222500"/>
              <a:ext cx="6115090"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Additional LP NPV per $100 committed. Illustrative inputs: 20% asset growth,</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15% discount rate, 1.35% fee and workbook timing. No hurdle assumed to isolate carry.</a:t>
              </a:r>
            </a:p>
          </p:txBody>
        </p:sp>
      </p:grpSp>
      <p:graphicFrame>
        <p:nvGraphicFramePr>
          <p:cNvPr id="11" name="carry-sensitivity-table"/>
          <p:cNvGraphicFramePr>
            <a:graphicFrameLocks noGrp="1"/>
          </p:cNvGraphicFramePr>
          <p:nvPr/>
        </p:nvGraphicFramePr>
        <p:xfrm>
          <a:off x="609600" y="2819400"/>
          <a:ext cx="7924800" cy="2971800"/>
        </p:xfrm>
        <a:graphic>
          <a:graphicData uri="http://schemas.openxmlformats.org/drawingml/2006/table">
            <a:tbl>
              <a:tblPr firstRow="1" bandRow="0">
                <a:tableStyleId>{5C22544A-7EE6-4342-B048-85BDC9FD1C3A}</a:tableStyleId>
              </a:tblPr>
              <a:tblGrid>
                <a:gridCol w="2647950"/>
                <a:gridCol w="2638425"/>
                <a:gridCol w="2638425"/>
              </a:tblGrid>
              <a:tr h="571500">
                <a:tc>
                  <a:txBody>
                    <a:bodyPr/>
                    <a:lstStyle/>
                    <a:p>
                      <a:pPr/>
                      <a:r>
                        <a:rPr lang="en-US" sz="1500" b="1">
                          <a:solidFill>
                            <a:srgbClr val="FBF8F2"/>
                          </a:solidFill>
                          <a:latin typeface="Calibri"/>
                          <a:ea typeface="Microsoft YaHei"/>
                          <a:cs typeface="Calibri"/>
                        </a:rPr>
                        <a:t>Carry rate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Reduction from 20% (percentage points)</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NPV gain</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400050">
                <a:tc>
                  <a:txBody>
                    <a:bodyPr/>
                    <a:lstStyle/>
                    <a:p>
                      <a:pPr/>
                      <a:r>
                        <a:rPr lang="en-US" sz="1500" b="0">
                          <a:solidFill>
                            <a:schemeClr val="dk1"/>
                          </a:solidFill>
                          <a:latin typeface="Calibri"/>
                          <a:ea typeface="Microsoft YaHei"/>
                          <a:cs typeface="Calibri"/>
                        </a:rPr>
                        <a:t>20%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$0.00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r h="400050">
                <a:tc>
                  <a:txBody>
                    <a:bodyPr/>
                    <a:lstStyle/>
                    <a:p>
                      <a:pPr/>
                      <a:r>
                        <a:rPr lang="en-US" sz="1500" b="0">
                          <a:solidFill>
                            <a:schemeClr val="dk1"/>
                          </a:solidFill>
                          <a:latin typeface="Calibri"/>
                          <a:ea typeface="Microsoft YaHei"/>
                          <a:cs typeface="Calibri"/>
                        </a:rPr>
                        <a:t>17.5%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$1.18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15%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$2.36</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10%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$4.71</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$7.07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00050">
                <a:tc>
                  <a:txBody>
                    <a:bodyPr/>
                    <a:lstStyle/>
                    <a:p>
                      <a:pPr/>
                      <a:r>
                        <a:rPr lang="en-US" sz="1500" b="0">
                          <a:solidFill>
                            <a:schemeClr val="dk1"/>
                          </a:solidFill>
                          <a:latin typeface="Calibri"/>
                          <a:ea typeface="Microsoft YaHei"/>
                          <a:cs typeface="Calibri"/>
                        </a:rPr>
                        <a:t>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$9.42</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7" name="sidebar"/>
          <p:cNvGrpSpPr/>
          <p:nvPr/>
        </p:nvGrpSpPr>
        <p:grpSpPr>
          <a:xfrm>
            <a:off x="8763000" y="2247900"/>
            <a:ext cx="2396757" cy="3543300"/>
            <a:chOff x="8763000" y="2247900"/>
            <a:chExt cx="2396757" cy="3543300"/>
          </a:xfrm>
        </p:grpSpPr>
        <p:sp>
          <p:nvSpPr>
            <p:cNvPr id="12" name="Line 12"/>
            <p:cNvSpPr/>
            <p:nvPr/>
          </p:nvSpPr>
          <p:spPr>
            <a:xfrm>
              <a:off x="8763000" y="2247900"/>
              <a:ext cx="9525" cy="3543300"/>
            </a:xfrm>
            <a:custGeom>
              <a:avLst/>
              <a:gdLst/>
              <a:ahLst/>
              <a:cxnLst/>
              <a:rect l="l" t="t" r="r" b="b"/>
              <a:pathLst>
                <a:path w="9525" h="3543300">
                  <a:moveTo>
                    <a:pt x="0" y="0"/>
                  </a:moveTo>
                  <a:lnTo>
                    <a:pt x="0" y="3543300"/>
                  </a:lnTo>
                </a:path>
              </a:pathLst>
            </a:custGeom>
            <a:noFill/>
            <a:ln w="9525">
              <a:solidFill>
                <a:schemeClr val="accent6"/>
              </a:solidFill>
            </a:ln>
          </p:spPr>
        </p:sp>
        <p:sp>
          <p:nvSpPr>
            <p:cNvPr id="13" name="TextBox 13"/>
            <p:cNvSpPr txBox="1"/>
            <p:nvPr/>
          </p:nvSpPr>
          <p:spPr>
            <a:xfrm>
              <a:off x="8985504" y="2298700"/>
              <a:ext cx="1270879"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HOW TO READ</a:t>
              </a:r>
            </a:p>
          </p:txBody>
        </p:sp>
        <p:sp>
          <p:nvSpPr>
            <p:cNvPr id="14" name="TextBox 14"/>
            <p:cNvSpPr txBox="1"/>
            <p:nvPr/>
          </p:nvSpPr>
          <p:spPr>
            <a:xfrm>
              <a:off x="8984742" y="2565400"/>
              <a:ext cx="1956159"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Baseline: 20% carry and no</a:t>
              </a:r>
              <a:br>
                <a:rPr lang="en-US" sz="1350" dirty="0">
                  <a:solidFill>
                    <a:schemeClr val="dk1"/>
                  </a:solidFill>
                  <a:latin typeface="+mn-lt"/>
                  <a:ea typeface="+mn-ea"/>
                  <a:cs typeface="+mn-cs"/>
                </a:rPr>
              </a:br>
              <a:r>
                <a:rPr lang="en-US" sz="1350" dirty="0">
                  <a:solidFill>
                    <a:schemeClr val="dk1"/>
                  </a:solidFill>
                  <a:latin typeface="+mn-lt"/>
                  <a:ea typeface="+mn-ea"/>
                  <a:cs typeface="+mn-cs"/>
                </a:rPr>
                <a:t>hurdle, with the investment</a:t>
              </a:r>
              <a:br>
                <a:rPr lang="en-US" sz="1350" dirty="0">
                  <a:solidFill>
                    <a:schemeClr val="dk1"/>
                  </a:solidFill>
                  <a:latin typeface="+mn-lt"/>
                  <a:ea typeface="+mn-ea"/>
                  <a:cs typeface="+mn-cs"/>
                </a:rPr>
              </a:br>
              <a:r>
                <a:rPr lang="en-US" sz="1350" dirty="0">
                  <a:solidFill>
                    <a:schemeClr val="dk1"/>
                  </a:solidFill>
                  <a:latin typeface="+mn-lt"/>
                  <a:ea typeface="+mn-ea"/>
                  <a:cs typeface="+mn-cs"/>
                </a:rPr>
                <a:t>inputs held fixed.</a:t>
              </a:r>
            </a:p>
          </p:txBody>
        </p:sp>
        <p:sp>
          <p:nvSpPr>
            <p:cNvPr id="15" name="TextBox 15"/>
            <p:cNvSpPr txBox="1"/>
            <p:nvPr/>
          </p:nvSpPr>
          <p:spPr>
            <a:xfrm>
              <a:off x="8984742" y="3479800"/>
              <a:ext cx="2043273"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zero-hurdle assumption</a:t>
              </a:r>
              <a:br>
                <a:rPr lang="en-US" sz="1350" dirty="0">
                  <a:solidFill>
                    <a:schemeClr val="dk1"/>
                  </a:solidFill>
                  <a:latin typeface="+mn-lt"/>
                  <a:ea typeface="+mn-ea"/>
                  <a:cs typeface="+mn-cs"/>
                </a:rPr>
              </a:br>
              <a:r>
                <a:rPr lang="en-US" sz="1350" dirty="0">
                  <a:solidFill>
                    <a:schemeClr val="dk1"/>
                  </a:solidFill>
                  <a:latin typeface="+mn-lt"/>
                  <a:ea typeface="+mn-ea"/>
                  <a:cs typeface="+mn-cs"/>
                </a:rPr>
                <a:t>is an analytical control, not</a:t>
              </a:r>
              <a:br>
                <a:rPr lang="en-US" sz="1350" dirty="0">
                  <a:solidFill>
                    <a:schemeClr val="dk1"/>
                  </a:solidFill>
                  <a:latin typeface="+mn-lt"/>
                  <a:ea typeface="+mn-ea"/>
                  <a:cs typeface="+mn-cs"/>
                </a:rPr>
              </a:br>
              <a:r>
                <a:rPr lang="en-US" sz="1350" dirty="0">
                  <a:solidFill>
                    <a:schemeClr val="dk1"/>
                  </a:solidFill>
                  <a:latin typeface="+mn-lt"/>
                  <a:ea typeface="+mn-ea"/>
                  <a:cs typeface="+mn-cs"/>
                </a:rPr>
                <a:t>a proposal to give up existing</a:t>
              </a:r>
              <a:br>
                <a:rPr lang="en-US" sz="1350" dirty="0">
                  <a:solidFill>
                    <a:schemeClr val="dk1"/>
                  </a:solidFill>
                  <a:latin typeface="+mn-lt"/>
                  <a:ea typeface="+mn-ea"/>
                  <a:cs typeface="+mn-cs"/>
                </a:rPr>
              </a:br>
              <a:r>
                <a:rPr lang="en-US" sz="1350" dirty="0">
                  <a:solidFill>
                    <a:schemeClr val="dk1"/>
                  </a:solidFill>
                  <a:latin typeface="+mn-lt"/>
                  <a:ea typeface="+mn-ea"/>
                  <a:cs typeface="+mn-cs"/>
                </a:rPr>
                <a:t>protection.</a:t>
              </a:r>
            </a:p>
          </p:txBody>
        </p:sp>
        <p:sp>
          <p:nvSpPr>
            <p:cNvPr id="16" name="TextBox 16"/>
            <p:cNvSpPr txBox="1"/>
            <p:nvPr/>
          </p:nvSpPr>
          <p:spPr>
            <a:xfrm>
              <a:off x="8984742" y="4622800"/>
              <a:ext cx="2175015"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Five points means 20% → 15%,</a:t>
              </a:r>
              <a:br>
                <a:rPr lang="en-US" sz="1350" dirty="0">
                  <a:solidFill>
                    <a:schemeClr val="dk1"/>
                  </a:solidFill>
                  <a:latin typeface="+mn-lt"/>
                  <a:ea typeface="+mn-ea"/>
                  <a:cs typeface="+mn-cs"/>
                </a:rPr>
              </a:br>
              <a:r>
                <a:rPr lang="en-US" sz="1350" dirty="0">
                  <a:solidFill>
                    <a:schemeClr val="dk1"/>
                  </a:solidFill>
                  <a:latin typeface="+mn-lt"/>
                  <a:ea typeface="+mn-ea"/>
                  <a:cs typeface="+mn-cs"/>
                </a:rPr>
                <a:t>not a 5% relative cut; the</a:t>
              </a:r>
              <a:br>
                <a:rPr lang="en-US" sz="1350" dirty="0">
                  <a:solidFill>
                    <a:schemeClr val="dk1"/>
                  </a:solidFill>
                  <a:latin typeface="+mn-lt"/>
                  <a:ea typeface="+mn-ea"/>
                  <a:cs typeface="+mn-cs"/>
                </a:rPr>
              </a:br>
              <a:r>
                <a:rPr lang="en-US" sz="1350" dirty="0">
                  <a:solidFill>
                    <a:schemeClr val="dk1"/>
                  </a:solidFill>
                  <a:latin typeface="+mn-lt"/>
                  <a:ea typeface="+mn-ea"/>
                  <a:cs typeface="+mn-cs"/>
                </a:rPr>
                <a:t>15% row is Q5's test point.</a:t>
              </a:r>
            </a:p>
          </p:txBody>
        </p:sp>
      </p:grpSp>
      <p:grpSp>
        <p:nvGrpSpPr>
          <p:cNvPr id="19" name="takeaway"/>
          <p:cNvGrpSpPr/>
          <p:nvPr/>
        </p:nvGrpSpPr>
        <p:grpSpPr>
          <a:xfrm>
            <a:off x="602742" y="5949950"/>
            <a:ext cx="8012115" cy="264033"/>
            <a:chOff x="602742" y="5949950"/>
            <a:chExt cx="8012115" cy="264033"/>
          </a:xfrm>
        </p:grpSpPr>
        <p:sp>
          <p:nvSpPr>
            <p:cNvPr id="18" name="TextBox 18"/>
            <p:cNvSpPr txBox="1"/>
            <p:nvPr/>
          </p:nvSpPr>
          <p:spPr>
            <a:xfrm>
              <a:off x="602742" y="5949950"/>
              <a:ext cx="8012115"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Zero carry gives the model's greatest LP value. The model does not establish a feasible negotiated optimum.</a:t>
              </a:r>
            </a:p>
          </p:txBody>
        </p:sp>
      </p:grpSp>
      <p:grpSp>
        <p:nvGrpSpPr>
          <p:cNvPr id="22" name="footer"/>
          <p:cNvGrpSpPr/>
          <p:nvPr/>
        </p:nvGrpSpPr>
        <p:grpSpPr>
          <a:xfrm>
            <a:off x="604266" y="6350000"/>
            <a:ext cx="10983468" cy="367284"/>
            <a:chOff x="604266" y="6350000"/>
            <a:chExt cx="10983468" cy="367284"/>
          </a:xfrm>
        </p:grpSpPr>
        <p:sp>
          <p:nvSpPr>
            <p:cNvPr id="20" name="TextBox 20"/>
            <p:cNvSpPr txBox="1"/>
            <p:nvPr/>
          </p:nvSpPr>
          <p:spPr>
            <a:xfrm>
              <a:off x="604266" y="6350000"/>
              <a:ext cx="8834998"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Inputs!C13:L14, C19:C23; the team's Q5 sensitivity analysis (reproduced lower-carry waterfall). Under the no-hurdle control, eligible profits and timing stay</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fixed, so gains are proportional to the carry reduction. Cross-check: 15% carry $2.36 × 7.5 ≈ $17.67m (Q5 Analysis!E10). Unrounded outputs are scaled on slide 43.</a:t>
              </a:r>
            </a:p>
          </p:txBody>
        </p:sp>
        <p:sp>
          <p:nvSpPr>
            <p:cNvPr id="21" name="TextBox 2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143107" cy="244475"/>
            <a:chOff x="603504" y="546100"/>
            <a:chExt cx="5143107" cy="244475"/>
          </a:xfrm>
        </p:grpSpPr>
        <p:sp>
          <p:nvSpPr>
            <p:cNvPr id="2" name="TextBox 2"/>
            <p:cNvSpPr txBox="1"/>
            <p:nvPr/>
          </p:nvSpPr>
          <p:spPr>
            <a:xfrm>
              <a:off x="603504" y="546100"/>
              <a:ext cx="514310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LOCATE THE QUESTION'S TEST POINTS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9825842" cy="586740"/>
            <a:chOff x="594360" y="812800"/>
            <a:chExt cx="9825842" cy="586740"/>
          </a:xfrm>
        </p:grpSpPr>
        <p:sp>
          <p:nvSpPr>
            <p:cNvPr id="5" name="TextBox 5"/>
            <p:cNvSpPr txBox="1"/>
            <p:nvPr/>
          </p:nvSpPr>
          <p:spPr>
            <a:xfrm>
              <a:off x="594360" y="812800"/>
              <a:ext cx="982584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Model optima and Q5's 8% hurdle and 15% carry</a:t>
              </a:r>
            </a:p>
          </p:txBody>
        </p:sp>
      </p:grpSp>
      <p:grpSp>
        <p:nvGrpSpPr>
          <p:cNvPr id="9" name="lead"/>
          <p:cNvGrpSpPr/>
          <p:nvPr/>
        </p:nvGrpSpPr>
        <p:grpSpPr>
          <a:xfrm>
            <a:off x="601218" y="1746250"/>
            <a:ext cx="8440611" cy="1140333"/>
            <a:chOff x="601218" y="1746250"/>
            <a:chExt cx="8440611" cy="1140333"/>
          </a:xfrm>
        </p:grpSpPr>
        <p:sp>
          <p:nvSpPr>
            <p:cNvPr id="7" name="TextBox 7"/>
            <p:cNvSpPr txBox="1"/>
            <p:nvPr/>
          </p:nvSpPr>
          <p:spPr>
            <a:xfrm>
              <a:off x="601218" y="1746250"/>
              <a:ext cx="844061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The model favors higher hurdles and lower carry. Q5's 8% and 15% are specified terms to evaluate,</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not unique optima discovered by the model.</a:t>
              </a:r>
            </a:p>
          </p:txBody>
        </p:sp>
        <p:sp>
          <p:nvSpPr>
            <p:cNvPr id="8" name="TextBox 8"/>
            <p:cNvSpPr txBox="1"/>
            <p:nvPr/>
          </p:nvSpPr>
          <p:spPr>
            <a:xfrm>
              <a:off x="602742" y="2393950"/>
              <a:ext cx="651957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An LP-value optimum within a chosen range is not the same as a reasonable negotiated term,</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which also needs market and contract evidence.</a:t>
              </a:r>
            </a:p>
          </p:txBody>
        </p:sp>
      </p:grpSp>
      <p:graphicFrame>
        <p:nvGraphicFramePr>
          <p:cNvPr id="10" name="q5-test-points-table"/>
          <p:cNvGraphicFramePr>
            <a:graphicFrameLocks noGrp="1"/>
          </p:cNvGraphicFramePr>
          <p:nvPr/>
        </p:nvGraphicFramePr>
        <p:xfrm>
          <a:off x="609600" y="2952750"/>
          <a:ext cx="10972800" cy="1905000"/>
        </p:xfrm>
        <a:graphic>
          <a:graphicData uri="http://schemas.openxmlformats.org/drawingml/2006/table">
            <a:tbl>
              <a:tblPr firstRow="1" bandRow="0">
                <a:tableStyleId>{5C22544A-7EE6-4342-B048-85BDC9FD1C3A}</a:tableStyleId>
              </a:tblPr>
              <a:tblGrid>
                <a:gridCol w="7010400"/>
                <a:gridCol w="3962400"/>
              </a:tblGrid>
              <a:tr h="419100">
                <a:tc>
                  <a:txBody>
                    <a:bodyPr/>
                    <a:lstStyle/>
                    <a:p>
                      <a:pPr/>
                      <a:r>
                        <a:rPr lang="en-US" sz="1500" b="1">
                          <a:solidFill>
                            <a:srgbClr val="FBF8F2"/>
                          </a:solidFill>
                          <a:latin typeface="Calibri"/>
                          <a:ea typeface="Microsoft YaHei"/>
                          <a:cs typeface="Calibri"/>
                        </a:rPr>
                        <a:t>Q5 test point</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Additional OPERF inception NPV</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495300">
                <a:tc>
                  <a:txBody>
                    <a:bodyPr/>
                    <a:lstStyle/>
                    <a:p>
                      <a:pPr/>
                      <a:r>
                        <a:rPr lang="en-US" sz="1500" b="0">
                          <a:solidFill>
                            <a:schemeClr val="dk1"/>
                          </a:solidFill>
                          <a:latin typeface="Calibri"/>
                          <a:ea typeface="Microsoft YaHei"/>
                          <a:cs typeface="Calibri"/>
                        </a:rPr>
                        <a:t>8% hurdle with full catch-up, 20% carry</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+$2.73m</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495300">
                <a:tc>
                  <a:txBody>
                    <a:bodyPr/>
                    <a:lstStyle/>
                    <a:p>
                      <a:pPr/>
                      <a:r>
                        <a:rPr lang="en-US" sz="1500" b="1">
                          <a:solidFill>
                            <a:schemeClr val="accent1"/>
                          </a:solidFill>
                          <a:latin typeface="Calibri"/>
                          <a:ea typeface="Microsoft YaHei"/>
                          <a:cs typeface="Calibri"/>
                        </a:rPr>
                        <a:t>8% hurdle without catch-up, 20% carry</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accent1"/>
                          </a:solidFill>
                          <a:latin typeface="Calibri"/>
                          <a:ea typeface="Microsoft YaHei"/>
                          <a:cs typeface="Calibri"/>
                        </a:rPr>
                        <a:t>+$20.65m</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r h="495300">
                <a:tc>
                  <a:txBody>
                    <a:bodyPr/>
                    <a:lstStyle/>
                    <a:p>
                      <a:pPr/>
                      <a:r>
                        <a:rPr lang="en-US" sz="1500" b="0">
                          <a:solidFill>
                            <a:schemeClr val="dk1"/>
                          </a:solidFill>
                          <a:latin typeface="Calibri"/>
                          <a:ea typeface="Microsoft YaHei"/>
                          <a:cs typeface="Calibri"/>
                        </a:rPr>
                        <a:t>Carry cut from 20% to 15%, no hurdle assumed</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+$17.67m</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2" name="interpretation"/>
          <p:cNvGrpSpPr/>
          <p:nvPr/>
        </p:nvGrpSpPr>
        <p:grpSpPr>
          <a:xfrm>
            <a:off x="602742" y="5010150"/>
            <a:ext cx="8110254" cy="511683"/>
            <a:chOff x="602742" y="5010150"/>
            <a:chExt cx="8110254" cy="511683"/>
          </a:xfrm>
        </p:grpSpPr>
        <p:sp>
          <p:nvSpPr>
            <p:cNvPr id="11" name="TextBox 11"/>
            <p:cNvSpPr txBox="1"/>
            <p:nvPr/>
          </p:nvSpPr>
          <p:spPr>
            <a:xfrm>
              <a:off x="602742" y="5010150"/>
              <a:ext cx="811025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1"/>
                  </a:solidFill>
                  <a:latin typeface="+mn-lt"/>
                  <a:ea typeface="+mn-ea"/>
                  <a:cs typeface="+mn-cs"/>
                </a:rPr>
                <a:t>At these inputs, the 8% hurdle without catch-up gives the largest gain of the three. With full catch-up, the 8% hurdle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gives a smaller gain than the isolated carry cut — so the catch-up clause is essential to the evaluation.</a:t>
              </a:r>
            </a:p>
          </p:txBody>
        </p:sp>
      </p:grpSp>
      <p:sp>
        <p:nvSpPr>
          <p:cNvPr id="13" name="TextBox 13"/>
          <p:cNvSpPr txBox="1"/>
          <p:nvPr/>
        </p:nvSpPr>
        <p:spPr>
          <a:xfrm>
            <a:off x="604266" y="5645150"/>
            <a:ext cx="7709924" cy="367284"/>
          </a:xfrm>
          <a:prstGeom prst="rect">
            <a:avLst/>
          </a:prstGeom>
          <a:noFill/>
          <a:ln>
            <a:noFill/>
          </a:ln>
        </p:spPr>
        <p:txBody>
          <a:bodyPr wrap="none" lIns="0" tIns="0" rIns="0" bIns="0" anchor="t" anchorCtr="0">
            <a:spAutoFit/>
          </a:bodyPr>
          <a:lstStyle/>
          <a:p>
            <a:pPr algn="l">
              <a:lnSpc>
                <a:spcPts val="1275"/>
              </a:lnSpc>
            </a:pPr>
            <a:r>
              <a:rPr lang="en-US" sz="1050" i="1" dirty="0">
                <a:solidFill>
                  <a:schemeClr val="accent5"/>
                </a:solidFill>
                <a:latin typeface="+mn-lt"/>
                <a:ea typeface="+mn-ea"/>
                <a:cs typeface="+mn-cs"/>
              </a:rPr>
              <a:t>Inception values. Common model baseline: 1.35% fee, 20% carry, no hurdle. Q5 terms are separate from the growth and discount assumptions.</a:t>
            </a:r>
            <a:br>
              <a:rPr lang="en-US" sz="1050" i="1" dirty="0">
                <a:solidFill>
                  <a:schemeClr val="accent5"/>
                </a:solidFill>
                <a:latin typeface="+mn-lt"/>
                <a:ea typeface="+mn-ea"/>
                <a:cs typeface="+mn-cs"/>
              </a:rPr>
            </a:br>
            <a:r>
              <a:rPr lang="en-US" sz="1050" i="1" dirty="0">
                <a:solidFill>
                  <a:schemeClr val="accent5"/>
                </a:solidFill>
                <a:latin typeface="+mn-lt"/>
                <a:ea typeface="+mn-ea"/>
                <a:cs typeface="+mn-cs"/>
              </a:rPr>
              <a:t>Scaled to a $750m modeled commitment from unrounded outputs.</a:t>
            </a:r>
          </a:p>
        </p:txBody>
      </p:sp>
      <p:grpSp>
        <p:nvGrpSpPr>
          <p:cNvPr id="16" name="footer"/>
          <p:cNvGrpSpPr/>
          <p:nvPr/>
        </p:nvGrpSpPr>
        <p:grpSpPr>
          <a:xfrm>
            <a:off x="604266" y="6350000"/>
            <a:ext cx="10983468" cy="367284"/>
            <a:chOff x="604266" y="6350000"/>
            <a:chExt cx="10983468" cy="367284"/>
          </a:xfrm>
        </p:grpSpPr>
        <p:sp>
          <p:nvSpPr>
            <p:cNvPr id="14" name="TextBox 14"/>
            <p:cNvSpPr txBox="1"/>
            <p:nvPr/>
          </p:nvSpPr>
          <p:spPr>
            <a:xfrm>
              <a:off x="604266" y="6350000"/>
              <a:ext cx="845679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Q5 Analysis!C10:E10; Summary!C29:F29. Baseline OPERF NPV is $28.24m; the three alternatives give $30.96m, $48.88m and $45.90m — alternative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scenarios, not additive steps. The maximum LP-only gain in the tested ranges is +$70.67m (zero carry, or a hurdle high enough to eliminate carry).</a:t>
              </a:r>
            </a:p>
          </p:txBody>
        </p:sp>
        <p:sp>
          <p:nvSpPr>
            <p:cNvPr id="15" name="TextBox 1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842399" cy="244475"/>
            <a:chOff x="603504" y="546100"/>
            <a:chExt cx="5842399" cy="244475"/>
          </a:xfrm>
        </p:grpSpPr>
        <p:sp>
          <p:nvSpPr>
            <p:cNvPr id="2" name="TextBox 2"/>
            <p:cNvSpPr txBox="1"/>
            <p:nvPr/>
          </p:nvSpPr>
          <p:spPr>
            <a:xfrm>
              <a:off x="603504" y="546100"/>
              <a:ext cx="5842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NEGOTIATION LEVERS · PROPOSALS AFTER 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524451" cy="1043940"/>
            <a:chOff x="594360" y="812800"/>
            <a:chExt cx="4524451" cy="1043940"/>
          </a:xfrm>
        </p:grpSpPr>
        <p:sp>
          <p:nvSpPr>
            <p:cNvPr id="5" name="TextBox 5"/>
            <p:cNvSpPr txBox="1"/>
            <p:nvPr/>
          </p:nvSpPr>
          <p:spPr>
            <a:xfrm>
              <a:off x="594360" y="812800"/>
              <a:ext cx="452445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Two proposal packages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supported by the analysis</a:t>
              </a:r>
            </a:p>
          </p:txBody>
        </p:sp>
      </p:grpSp>
      <p:grpSp>
        <p:nvGrpSpPr>
          <p:cNvPr id="9" name="lead"/>
          <p:cNvGrpSpPr/>
          <p:nvPr/>
        </p:nvGrpSpPr>
        <p:grpSpPr>
          <a:xfrm>
            <a:off x="601218" y="1746250"/>
            <a:ext cx="9663314" cy="1140333"/>
            <a:chOff x="601218" y="1746250"/>
            <a:chExt cx="9663314" cy="1140333"/>
          </a:xfrm>
        </p:grpSpPr>
        <p:sp>
          <p:nvSpPr>
            <p:cNvPr id="7" name="TextBox 7"/>
            <p:cNvSpPr txBox="1"/>
            <p:nvPr/>
          </p:nvSpPr>
          <p:spPr>
            <a:xfrm>
              <a:off x="601218" y="1746250"/>
              <a:ext cx="880478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Both proposals preserve an 8% preferred return. Package A removes catch-up while keeping 20% carry.</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Package B retains catch-up and reduces carry to 15%.</a:t>
              </a:r>
            </a:p>
          </p:txBody>
        </p:sp>
        <p:sp>
          <p:nvSpPr>
            <p:cNvPr id="8" name="TextBox 8"/>
            <p:cNvSpPr txBox="1"/>
            <p:nvPr/>
          </p:nvSpPr>
          <p:spPr>
            <a:xfrm>
              <a:off x="602742" y="2393950"/>
              <a:ext cx="9661790"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Common terms: the offered 1.35% fee; return of LP contributed capital (including contributions used for fees) before carry;</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an 8% annual preferred return compounded on unreturned capital and unpaid preferred return. Preserve any stronger existing protection.</a:t>
              </a:r>
            </a:p>
          </p:txBody>
        </p:sp>
      </p:grpSp>
      <p:grpSp>
        <p:nvGrpSpPr>
          <p:cNvPr id="16" name="package-value-bars"/>
          <p:cNvGrpSpPr/>
          <p:nvPr/>
        </p:nvGrpSpPr>
        <p:grpSpPr>
          <a:xfrm>
            <a:off x="609600" y="3143250"/>
            <a:ext cx="7296150" cy="2495550"/>
            <a:chOff x="609600" y="3143250"/>
            <a:chExt cx="7296150" cy="2495550"/>
          </a:xfrm>
        </p:grpSpPr>
        <p:graphicFrame>
          <p:nvGraphicFramePr>
            <p:cNvPr id="10" name="package-value-bars"/>
            <p:cNvGraphicFramePr>
              <a:graphicFrameLocks noGrp="1"/>
            </p:cNvGraphicFramePr>
            <p:nvPr/>
          </p:nvGraphicFramePr>
          <p:xfrm>
            <a:off x="609600" y="3143250"/>
            <a:ext cx="7239000" cy="2495550"/>
          </p:xfrm>
          <a:graphic>
            <a:graphicData uri="http://schemas.openxmlformats.org/drawingml/2006/chart">
              <c:chart xmlns:c="http://schemas.openxmlformats.org/drawingml/2006/chart" r:id="rId2"/>
            </a:graphicData>
          </a:graphic>
        </p:graphicFrame>
        <p:sp>
          <p:nvSpPr>
            <p:cNvPr id="11" name="Chart Note 11"/>
            <p:cNvSpPr txBox="1"/>
            <p:nvPr/>
          </p:nvSpPr>
          <p:spPr>
            <a:xfrm>
              <a:off x="4371975" y="3559492"/>
              <a:ext cx="7620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$2.73m</a:t>
              </a:r>
            </a:p>
          </p:txBody>
        </p:sp>
        <p:sp>
          <p:nvSpPr>
            <p:cNvPr id="12" name="Chart Note 12"/>
            <p:cNvSpPr txBox="1"/>
            <p:nvPr/>
          </p:nvSpPr>
          <p:spPr>
            <a:xfrm>
              <a:off x="7048500" y="4130992"/>
              <a:ext cx="85725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$20.65m</a:t>
              </a:r>
            </a:p>
          </p:txBody>
        </p:sp>
        <p:sp>
          <p:nvSpPr>
            <p:cNvPr id="13" name="Chart Note 13"/>
            <p:cNvSpPr txBox="1"/>
            <p:nvPr/>
          </p:nvSpPr>
          <p:spPr>
            <a:xfrm>
              <a:off x="6848475" y="4702492"/>
              <a:ext cx="85725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$19.31m</a:t>
              </a:r>
            </a:p>
          </p:txBody>
        </p:sp>
        <p:sp>
          <p:nvSpPr>
            <p:cNvPr id="14" name="Chart Note 14"/>
            <p:cNvSpPr txBox="1"/>
            <p:nvPr/>
          </p:nvSpPr>
          <p:spPr>
            <a:xfrm>
              <a:off x="5153025" y="4156710"/>
              <a:ext cx="952500" cy="243840"/>
            </a:xfrm>
            <a:prstGeom prst="rect">
              <a:avLst/>
            </a:prstGeom>
            <a:noFill/>
            <a:ln>
              <a:noFill/>
            </a:ln>
          </p:spPr>
          <p:txBody>
            <a:bodyPr wrap="square" lIns="0" tIns="0" rIns="0" bIns="0" anchor="b" anchorCtr="0"/>
            <a:lstStyle/>
            <a:p>
              <a:pPr algn="ctr"/>
              <a:r>
                <a:rPr lang="en-US" sz="1200" b="1">
                  <a:solidFill>
                    <a:srgbClr val="FBF8F2"/>
                  </a:solidFill>
                  <a:latin typeface="Calibri"/>
                  <a:ea typeface="Microsoft YaHei"/>
                  <a:cs typeface="Calibri"/>
                </a:rPr>
                <a:t>+$17.92m</a:t>
              </a:r>
            </a:p>
          </p:txBody>
        </p:sp>
        <p:sp>
          <p:nvSpPr>
            <p:cNvPr id="15" name="Chart Note 15"/>
            <p:cNvSpPr txBox="1"/>
            <p:nvPr/>
          </p:nvSpPr>
          <p:spPr>
            <a:xfrm>
              <a:off x="5057775" y="4728210"/>
              <a:ext cx="952500" cy="243840"/>
            </a:xfrm>
            <a:prstGeom prst="rect">
              <a:avLst/>
            </a:prstGeom>
            <a:noFill/>
            <a:ln>
              <a:noFill/>
            </a:ln>
          </p:spPr>
          <p:txBody>
            <a:bodyPr wrap="square" lIns="0" tIns="0" rIns="0" bIns="0" anchor="b" anchorCtr="0"/>
            <a:lstStyle/>
            <a:p>
              <a:pPr algn="ctr"/>
              <a:r>
                <a:rPr lang="en-US" sz="1200" b="1">
                  <a:solidFill>
                    <a:srgbClr val="FBF8F2"/>
                  </a:solidFill>
                  <a:latin typeface="Calibri"/>
                  <a:ea typeface="Microsoft YaHei"/>
                  <a:cs typeface="Calibri"/>
                </a:rPr>
                <a:t>+$16.59m</a:t>
              </a:r>
            </a:p>
          </p:txBody>
        </p:sp>
      </p:grpSp>
      <p:grpSp>
        <p:nvGrpSpPr>
          <p:cNvPr id="21" name="callout"/>
          <p:cNvGrpSpPr/>
          <p:nvPr/>
        </p:nvGrpSpPr>
        <p:grpSpPr>
          <a:xfrm>
            <a:off x="8001000" y="3200400"/>
            <a:ext cx="3581400" cy="2133600"/>
            <a:chOff x="8001000" y="3200400"/>
            <a:chExt cx="3581400" cy="2133600"/>
          </a:xfrm>
        </p:grpSpPr>
        <p:sp>
          <p:nvSpPr>
            <p:cNvPr id="17" name="Rectangle 17"/>
            <p:cNvSpPr/>
            <p:nvPr/>
          </p:nvSpPr>
          <p:spPr>
            <a:xfrm>
              <a:off x="8001000" y="3200400"/>
              <a:ext cx="3581400" cy="2133600"/>
            </a:xfrm>
            <a:prstGeom prst="rect">
              <a:avLst/>
            </a:prstGeom>
            <a:solidFill>
              <a:schemeClr val="lt2"/>
            </a:solidFill>
            <a:ln>
              <a:noFill/>
            </a:ln>
          </p:spPr>
        </p:sp>
        <p:sp>
          <p:nvSpPr>
            <p:cNvPr id="18" name="TextBox 18"/>
            <p:cNvSpPr txBox="1"/>
            <p:nvPr/>
          </p:nvSpPr>
          <p:spPr>
            <a:xfrm>
              <a:off x="8222742" y="3346450"/>
              <a:ext cx="1833418"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1"/>
                  </a:solidFill>
                  <a:latin typeface="+mn-lt"/>
                  <a:ea typeface="+mn-ea"/>
                  <a:cs typeface="+mn-cs"/>
                </a:rPr>
                <a:t>If TPG VI already has the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reference hurdle, only the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colored gains are new:</a:t>
              </a:r>
            </a:p>
          </p:txBody>
        </p:sp>
        <p:sp>
          <p:nvSpPr>
            <p:cNvPr id="19" name="TextBox 19"/>
            <p:cNvSpPr txBox="1"/>
            <p:nvPr/>
          </p:nvSpPr>
          <p:spPr>
            <a:xfrm>
              <a:off x="8221218" y="4152900"/>
              <a:ext cx="24296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 xml:space="preserve">A +$17.92m </a:t>
              </a:r>
              <a:r>
                <a:rPr lang="en-US" sz="1650" b="1" dirty="0">
                  <a:solidFill>
                    <a:schemeClr val="accent2"/>
                  </a:solidFill>
                  <a:latin typeface="+mn-lt"/>
                  <a:ea typeface="+mn-ea"/>
                  <a:cs typeface="+mn-cs"/>
                </a:rPr>
                <a:t>· B +$16.59m</a:t>
              </a:r>
            </a:p>
          </p:txBody>
        </p:sp>
        <p:sp>
          <p:nvSpPr>
            <p:cNvPr id="20" name="TextBox 20"/>
            <p:cNvSpPr txBox="1"/>
            <p:nvPr/>
          </p:nvSpPr>
          <p:spPr>
            <a:xfrm>
              <a:off x="8224266" y="4584700"/>
              <a:ext cx="1850991" cy="376809"/>
            </a:xfrm>
            <a:prstGeom prst="rect">
              <a:avLst/>
            </a:prstGeom>
            <a:noFill/>
            <a:ln>
              <a:noFill/>
            </a:ln>
          </p:spPr>
          <p:txBody>
            <a:bodyPr wrap="none" lIns="0" tIns="0" rIns="0" bIns="0" anchor="t" anchorCtr="0">
              <a:spAutoFit/>
            </a:bodyPr>
            <a:lstStyle/>
            <a:p>
              <a:pPr algn="l">
                <a:lnSpc>
                  <a:spcPts val="1350"/>
                </a:lnSpc>
              </a:pPr>
              <a:r>
                <a:rPr lang="en-US" sz="1050" i="1" dirty="0">
                  <a:solidFill>
                    <a:schemeClr val="accent5"/>
                  </a:solidFill>
                  <a:latin typeface="+mn-lt"/>
                  <a:ea typeface="+mn-ea"/>
                  <a:cs typeface="+mn-cs"/>
                </a:rPr>
                <a:t>Conditional illustration; the actual</a:t>
              </a:r>
              <a:br>
                <a:rPr lang="en-US" sz="1050" i="1" dirty="0">
                  <a:solidFill>
                    <a:schemeClr val="accent5"/>
                  </a:solidFill>
                  <a:latin typeface="+mn-lt"/>
                  <a:ea typeface="+mn-ea"/>
                  <a:cs typeface="+mn-cs"/>
                </a:rPr>
              </a:br>
              <a:r>
                <a:rPr lang="en-US" sz="1050" i="1" dirty="0">
                  <a:solidFill>
                    <a:schemeClr val="accent5"/>
                  </a:solidFill>
                  <a:latin typeface="+mn-lt"/>
                  <a:ea typeface="+mn-ea"/>
                  <a:cs typeface="+mn-cs"/>
                </a:rPr>
                <a:t>LPA is unverified.</a:t>
              </a:r>
            </a:p>
          </p:txBody>
        </p:sp>
      </p:grpSp>
      <p:grpSp>
        <p:nvGrpSpPr>
          <p:cNvPr id="23" name="gap-line"/>
          <p:cNvGrpSpPr/>
          <p:nvPr/>
        </p:nvGrpSpPr>
        <p:grpSpPr>
          <a:xfrm>
            <a:off x="602742" y="5683250"/>
            <a:ext cx="8932907" cy="264033"/>
            <a:chOff x="602742" y="5683250"/>
            <a:chExt cx="8932907" cy="264033"/>
          </a:xfrm>
        </p:grpSpPr>
        <p:sp>
          <p:nvSpPr>
            <p:cNvPr id="22" name="TextBox 22"/>
            <p:cNvSpPr txBox="1"/>
            <p:nvPr/>
          </p:nvSpPr>
          <p:spPr>
            <a:xfrm>
              <a:off x="602742" y="5683250"/>
              <a:ext cx="8932907"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A adds $20.65m and B $19.31m over the common baseline — a difference of $1.33m. The negotiating order comes next.</a:t>
              </a:r>
            </a:p>
          </p:txBody>
        </p:sp>
      </p:grpSp>
      <p:sp>
        <p:nvSpPr>
          <p:cNvPr id="24" name="TextBox 24"/>
          <p:cNvSpPr txBox="1"/>
          <p:nvPr/>
        </p:nvSpPr>
        <p:spPr>
          <a:xfrm>
            <a:off x="604266" y="5988050"/>
            <a:ext cx="7521540" cy="367284"/>
          </a:xfrm>
          <a:prstGeom prst="rect">
            <a:avLst/>
          </a:prstGeom>
          <a:noFill/>
          <a:ln>
            <a:noFill/>
          </a:ln>
        </p:spPr>
        <p:txBody>
          <a:bodyPr wrap="none" lIns="0" tIns="0" rIns="0" bIns="0" anchor="t" anchorCtr="0">
            <a:spAutoFit/>
          </a:bodyPr>
          <a:lstStyle/>
          <a:p>
            <a:pPr algn="l">
              <a:lnSpc>
                <a:spcPts val="1275"/>
              </a:lnSpc>
            </a:pPr>
            <a:r>
              <a:rPr lang="en-US" sz="1050" i="1" dirty="0">
                <a:solidFill>
                  <a:schemeClr val="accent5"/>
                </a:solidFill>
                <a:latin typeface="+mn-lt"/>
                <a:ea typeface="+mn-ea"/>
                <a:cs typeface="+mn-cs"/>
              </a:rPr>
              <a:t>OPERF inception NPV; 20% asset growth; 15% discount rate. Baseline: 1.35% fee, 20% carry, no hurdle.</a:t>
            </a:r>
            <a:br>
              <a:rPr lang="en-US" sz="1050" i="1" dirty="0">
                <a:solidFill>
                  <a:schemeClr val="accent5"/>
                </a:solidFill>
                <a:latin typeface="+mn-lt"/>
                <a:ea typeface="+mn-ea"/>
                <a:cs typeface="+mn-cs"/>
              </a:rPr>
            </a:br>
            <a:r>
              <a:rPr lang="en-US" sz="1050" i="1" dirty="0">
                <a:solidFill>
                  <a:schemeClr val="accent5"/>
                </a:solidFill>
                <a:latin typeface="+mn-lt"/>
                <a:ea typeface="+mn-ea"/>
                <a:cs typeface="+mn-cs"/>
              </a:rPr>
              <a:t>Package values depend on the scenario; actual amendments require forward valuation. The bars are alternatives, not cumulative demands.</a:t>
            </a:r>
          </a:p>
        </p:txBody>
      </p:sp>
      <p:grpSp>
        <p:nvGrpSpPr>
          <p:cNvPr id="27" name="footer"/>
          <p:cNvGrpSpPr/>
          <p:nvPr/>
        </p:nvGrpSpPr>
        <p:grpSpPr>
          <a:xfrm>
            <a:off x="604266" y="6350000"/>
            <a:ext cx="10983468" cy="367284"/>
            <a:chOff x="604266" y="6350000"/>
            <a:chExt cx="10983468" cy="367284"/>
          </a:xfrm>
        </p:grpSpPr>
        <p:sp>
          <p:nvSpPr>
            <p:cNvPr id="25" name="TextBox 25"/>
            <p:cNvSpPr txBox="1"/>
            <p:nvPr/>
          </p:nvSpPr>
          <p:spPr>
            <a:xfrm>
              <a:off x="604266" y="6350000"/>
              <a:ext cx="8556256"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Q5 Analysis!D10 (reference), C10 (A), G10 (B); increments C10 − D10 = 17.920340 and G10 − D10 = 16.587284. Package B keeps the hurdle, so its total</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($19.31m) exceeds the isolated 15%-carry scenario ($17.67m). Metrick &amp; Yasuda (2007) and the Apollo S-1 (2008) supply the contemporary context.</a:t>
              </a:r>
            </a:p>
          </p:txBody>
        </p:sp>
        <p:sp>
          <p:nvSpPr>
            <p:cNvPr id="26" name="TextBox 2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839044" cy="244475"/>
            <a:chOff x="603504" y="546100"/>
            <a:chExt cx="4839044" cy="244475"/>
          </a:xfrm>
        </p:grpSpPr>
        <p:sp>
          <p:nvSpPr>
            <p:cNvPr id="2" name="TextBox 2"/>
            <p:cNvSpPr txBox="1"/>
            <p:nvPr/>
          </p:nvSpPr>
          <p:spPr>
            <a:xfrm>
              <a:off x="603504" y="546100"/>
              <a:ext cx="4839044"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NEGOTIATION LEVERS · FINAL NEGOTIATING PRIORITY</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874595" cy="586740"/>
            <a:chOff x="594360" y="812800"/>
            <a:chExt cx="6874595" cy="586740"/>
          </a:xfrm>
        </p:grpSpPr>
        <p:sp>
          <p:nvSpPr>
            <p:cNvPr id="5" name="TextBox 5"/>
            <p:cNvSpPr txBox="1"/>
            <p:nvPr/>
          </p:nvSpPr>
          <p:spPr>
            <a:xfrm>
              <a:off x="594360" y="812800"/>
              <a:ext cx="6874595" cy="586740"/>
            </a:xfrm>
            <a:prstGeom prst="rect">
              <a:avLst/>
            </a:prstGeom>
            <a:noFill/>
            <a:ln>
              <a:noFill/>
            </a:ln>
          </p:spPr>
          <p:txBody>
            <a:bodyPr wrap="none" lIns="0" tIns="0" rIns="0" bIns="0" anchor="t" anchorCtr="0">
              <a:spAutoFit/>
            </a:bodyPr>
            <a:lstStyle/>
            <a:p>
              <a:pPr algn="l"/>
              <a:r>
                <a:rPr lang="en-US" sz="3000" b="1" dirty="0">
                  <a:solidFill>
                    <a:srgbClr val="FBF8F2"/>
                  </a:solidFill>
                  <a:latin typeface="+mj-lt"/>
                  <a:ea typeface="+mj-ea"/>
                  <a:cs typeface="+mj-cs"/>
                </a:rPr>
                <a:t>Protect 8% first; request A, then B</a:t>
              </a:r>
            </a:p>
          </p:txBody>
        </p:sp>
      </p:grpSp>
      <p:grpSp>
        <p:nvGrpSpPr>
          <p:cNvPr id="8" name="lead"/>
          <p:cNvGrpSpPr/>
          <p:nvPr/>
        </p:nvGrpSpPr>
        <p:grpSpPr>
          <a:xfrm>
            <a:off x="601218" y="1403350"/>
            <a:ext cx="6768968" cy="608457"/>
            <a:chOff x="601218" y="1403350"/>
            <a:chExt cx="6768968" cy="608457"/>
          </a:xfrm>
        </p:grpSpPr>
        <p:sp>
          <p:nvSpPr>
            <p:cNvPr id="7" name="TextBox 7"/>
            <p:cNvSpPr txBox="1"/>
            <p:nvPr/>
          </p:nvSpPr>
          <p:spPr>
            <a:xfrm>
              <a:off x="601218" y="1403350"/>
              <a:ext cx="6768968" cy="608457"/>
            </a:xfrm>
            <a:prstGeom prst="rect">
              <a:avLst/>
            </a:prstGeom>
            <a:noFill/>
            <a:ln>
              <a:noFill/>
            </a:ln>
          </p:spPr>
          <p:txBody>
            <a:bodyPr wrap="none" lIns="0" tIns="0" rIns="0" bIns="0" anchor="t" anchorCtr="0">
              <a:spAutoFit/>
            </a:bodyPr>
            <a:lstStyle/>
            <a:p>
              <a:pPr algn="l">
                <a:lnSpc>
                  <a:spcPts val="2250"/>
                </a:lnSpc>
              </a:pPr>
              <a:r>
                <a:rPr lang="en-US" sz="1650" dirty="0">
                  <a:solidFill>
                    <a:srgbClr val="FBF8F2"/>
                  </a:solidFill>
                  <a:latin typeface="+mn-lt"/>
                  <a:ea typeface="+mn-ea"/>
                  <a:cs typeface="+mn-cs"/>
                </a:rPr>
                <a:t>Preserve or seek the 8% preferred return. Lead with A; if A is refused, pursue B.</a:t>
              </a:r>
              <a:br>
                <a:rPr lang="en-US" sz="1650" dirty="0">
                  <a:solidFill>
                    <a:srgbClr val="FBF8F2"/>
                  </a:solidFill>
                  <a:latin typeface="+mn-lt"/>
                  <a:ea typeface="+mn-ea"/>
                  <a:cs typeface="+mn-cs"/>
                </a:rPr>
              </a:br>
              <a:r>
                <a:rPr lang="en-US" sz="1650" dirty="0">
                  <a:solidFill>
                    <a:srgbClr val="FBF8F2"/>
                  </a:solidFill>
                  <a:latin typeface="+mn-lt"/>
                  <a:ea typeface="+mn-ea"/>
                  <a:cs typeface="+mn-cs"/>
                </a:rPr>
                <a:t>Use the standard hurdle as a fallback request only where it is absent.</a:t>
              </a:r>
            </a:p>
          </p:txBody>
        </p:sp>
      </p:grpSp>
      <p:graphicFrame>
        <p:nvGraphicFramePr>
          <p:cNvPr id="9" name="negotiation-ladder"/>
          <p:cNvGraphicFramePr>
            <a:graphicFrameLocks noGrp="1"/>
          </p:cNvGraphicFramePr>
          <p:nvPr/>
        </p:nvGraphicFramePr>
        <p:xfrm>
          <a:off x="609600" y="2152650"/>
          <a:ext cx="10972800" cy="2971800"/>
        </p:xfrm>
        <a:graphic>
          <a:graphicData uri="http://schemas.openxmlformats.org/drawingml/2006/table">
            <a:tbl>
              <a:tblPr firstRow="1" bandRow="0">
                <a:tableStyleId>{5C22544A-7EE6-4342-B048-85BDC9FD1C3A}</a:tableStyleId>
              </a:tblPr>
              <a:tblGrid>
                <a:gridCol w="2857500"/>
                <a:gridCol w="4572000"/>
                <a:gridCol w="3543300"/>
              </a:tblGrid>
              <a:tr h="381000">
                <a:tc>
                  <a:txBody>
                    <a:bodyPr/>
                    <a:lstStyle/>
                    <a:p>
                      <a:pPr/>
                      <a:r>
                        <a:rPr lang="en-US" sz="1350" b="1">
                          <a:solidFill>
                            <a:schemeClr val="accent3"/>
                          </a:solidFill>
                          <a:latin typeface="Calibri"/>
                          <a:ea typeface="Microsoft YaHei"/>
                          <a:cs typeface="Calibri"/>
                        </a:rPr>
                        <a:t>Priority</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1">
                          <a:solidFill>
                            <a:schemeClr val="accent3"/>
                          </a:solidFill>
                          <a:latin typeface="Calibri"/>
                          <a:ea typeface="Microsoft YaHei"/>
                          <a:cs typeface="Calibri"/>
                        </a:rPr>
                        <a:t>Specific request</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1">
                          <a:solidFill>
                            <a:schemeClr val="accent3"/>
                          </a:solidFill>
                          <a:latin typeface="Calibri"/>
                          <a:ea typeface="Microsoft YaHei"/>
                          <a:cs typeface="Calibri"/>
                        </a:rPr>
                        <a:t>What makes it a concession?</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r>
              <a:tr h="647700">
                <a:tc>
                  <a:txBody>
                    <a:bodyPr/>
                    <a:lstStyle/>
                    <a:p>
                      <a:pPr/>
                      <a:r>
                        <a:rPr lang="en-US" sz="1350" b="1">
                          <a:solidFill>
                            <a:srgbClr val="FBF8F2"/>
                          </a:solidFill>
                          <a:latin typeface="Calibri"/>
                          <a:ea typeface="Microsoft YaHei"/>
                          <a:cs typeface="Calibri"/>
                        </a:rPr>
                        <a:t>Foundation: 8% protection</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Confirm annual compounding, return of contributed capital including fees, and the existing catch-up clause. Preserve stronger existing protection.</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An existing hurdle is not a new concession.</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r>
              <a:tr h="647700">
                <a:tc>
                  <a:txBody>
                    <a:bodyPr/>
                    <a:lstStyle/>
                    <a:p>
                      <a:pPr/>
                      <a:r>
                        <a:rPr lang="en-US" sz="1350" b="1">
                          <a:solidFill>
                            <a:srgbClr val="FBF8F2"/>
                          </a:solidFill>
                          <a:latin typeface="Calibri"/>
                          <a:ea typeface="Microsoft YaHei"/>
                          <a:cs typeface="Calibri"/>
                        </a:rPr>
                        <a:t>1 — Lead with A</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8% preferred return, no GP catch-up, 20% carry.</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First economic choice at the assigned 20% growth; +$17.92m if the reference hurdle already exists.</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r>
              <a:tr h="647700">
                <a:tc>
                  <a:txBody>
                    <a:bodyPr/>
                    <a:lstStyle/>
                    <a:p>
                      <a:pPr/>
                      <a:r>
                        <a:rPr lang="en-US" sz="1350" b="1">
                          <a:solidFill>
                            <a:srgbClr val="FBF8F2"/>
                          </a:solidFill>
                          <a:latin typeface="Calibri"/>
                          <a:ea typeface="Microsoft YaHei"/>
                          <a:cs typeface="Calibri"/>
                        </a:rPr>
                        <a:t>2 — If A is refused, pursue B</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Retain the 8% preferred return; full catch-up targeting 15%; 15% carry.</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Acceptable alternative; +$16.59m on the same conditional comparison.</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r>
              <a:tr h="647700">
                <a:tc>
                  <a:txBody>
                    <a:bodyPr/>
                    <a:lstStyle/>
                    <a:p>
                      <a:pPr/>
                      <a:r>
                        <a:rPr lang="en-US" sz="1350" b="1">
                          <a:solidFill>
                            <a:srgbClr val="FBF8F2"/>
                          </a:solidFill>
                          <a:latin typeface="Calibri"/>
                          <a:ea typeface="Microsoft YaHei"/>
                          <a:cs typeface="Calibri"/>
                        </a:rPr>
                        <a:t>Fallback request where absent</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8% preferred return, full catch-up, 20% carry.</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c>
                  <a:txBody>
                    <a:bodyPr/>
                    <a:lstStyle/>
                    <a:p>
                      <a:pPr/>
                      <a:r>
                        <a:rPr lang="en-US" sz="1350" b="0">
                          <a:solidFill>
                            <a:srgbClr val="FBF8F2"/>
                          </a:solidFill>
                          <a:latin typeface="Calibri"/>
                          <a:ea typeface="Microsoft YaHei"/>
                          <a:cs typeface="Calibri"/>
                        </a:rPr>
                        <a:t>Adds protection only if not already provided; otherwise the status quo.</a:t>
                      </a:r>
                    </a:p>
                  </a:txBody>
                  <a:tcPr anchor="ctr" marL="114300" marR="114300" marT="38100" marB="38100">
                    <a:lnL>
                      <a:noFill/>
                    </a:lnL>
                    <a:lnR>
                      <a:noFill/>
                    </a:lnR>
                    <a:lnT w="9525">
                      <a:solidFill>
                        <a:schemeClr val="accent3"/>
                      </a:solidFill>
                      <a:prstDash val="solid"/>
                    </a:lnT>
                    <a:lnB w="9525">
                      <a:solidFill>
                        <a:schemeClr val="accent3"/>
                      </a:solidFill>
                      <a:prstDash val="solid"/>
                    </a:lnB>
                    <a:noFill/>
                  </a:tcPr>
                </a:tc>
              </a:tr>
            </a:tbl>
          </a:graphicData>
        </a:graphic>
      </p:graphicFrame>
      <p:grpSp>
        <p:nvGrpSpPr>
          <p:cNvPr id="13" name="boundary"/>
          <p:cNvGrpSpPr/>
          <p:nvPr/>
        </p:nvGrpSpPr>
        <p:grpSpPr>
          <a:xfrm>
            <a:off x="602742" y="5264150"/>
            <a:ext cx="10302241" cy="1079246"/>
            <a:chOff x="602742" y="5264150"/>
            <a:chExt cx="10302241" cy="1079246"/>
          </a:xfrm>
        </p:grpSpPr>
        <p:sp>
          <p:nvSpPr>
            <p:cNvPr id="10" name="TextBox 10"/>
            <p:cNvSpPr txBox="1"/>
            <p:nvPr/>
          </p:nvSpPr>
          <p:spPr>
            <a:xfrm>
              <a:off x="602742" y="5264150"/>
              <a:ext cx="10302241"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Do not surrender an existing preferred return to obtain 15% carry. Do not count the already-offered 1.35% fee as a new negotiating win.</a:t>
              </a:r>
            </a:p>
          </p:txBody>
        </p:sp>
        <p:sp>
          <p:nvSpPr>
            <p:cNvPr id="11" name="TextBox 11"/>
            <p:cNvSpPr txBox="1"/>
            <p:nvPr/>
          </p:nvSpPr>
          <p:spPr>
            <a:xfrm>
              <a:off x="603504" y="5537200"/>
              <a:ext cx="8945987" cy="425196"/>
            </a:xfrm>
            <a:prstGeom prst="rect">
              <a:avLst/>
            </a:prstGeom>
            <a:noFill/>
            <a:ln>
              <a:noFill/>
            </a:ln>
          </p:spPr>
          <p:txBody>
            <a:bodyPr wrap="none" lIns="0" tIns="0" rIns="0" bIns="0" anchor="t" anchorCtr="0">
              <a:spAutoFit/>
            </a:bodyPr>
            <a:lstStyle/>
            <a:p>
              <a:pPr algn="l">
                <a:lnSpc>
                  <a:spcPts val="1500"/>
                </a:lnSpc>
              </a:pPr>
              <a:r>
                <a:rPr lang="en-US" sz="1200" b="1" dirty="0">
                  <a:solidFill>
                    <a:schemeClr val="accent6"/>
                  </a:solidFill>
                  <a:latin typeface="+mn-lt"/>
                  <a:ea typeface="+mn-ea"/>
                  <a:cs typeface="+mn-cs"/>
                </a:rPr>
                <a:t xml:space="preserve">Why this order: </a:t>
              </a:r>
              <a:r>
                <a:rPr lang="en-US" sz="1200" dirty="0">
                  <a:solidFill>
                    <a:schemeClr val="accent6"/>
                  </a:solidFill>
                  <a:latin typeface="+mn-lt"/>
                  <a:ea typeface="+mn-ea"/>
                  <a:cs typeface="+mn-cs"/>
                </a:rPr>
                <a:t>an effective preferred return has stronger contemporary market support; A creates $1.33m more inception NPV at 20% growth;</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the small gap makes an achievable B valuable.</a:t>
              </a:r>
            </a:p>
          </p:txBody>
        </p:sp>
        <p:sp>
          <p:nvSpPr>
            <p:cNvPr id="12" name="TextBox 12"/>
            <p:cNvSpPr txBox="1"/>
            <p:nvPr/>
          </p:nvSpPr>
          <p:spPr>
            <a:xfrm>
              <a:off x="603504" y="5918200"/>
              <a:ext cx="8546638" cy="425196"/>
            </a:xfrm>
            <a:prstGeom prst="rect">
              <a:avLst/>
            </a:prstGeom>
            <a:noFill/>
            <a:ln>
              <a:noFill/>
            </a:ln>
          </p:spPr>
          <p:txBody>
            <a:bodyPr wrap="none" lIns="0" tIns="0" rIns="0" bIns="0" anchor="t" anchorCtr="0">
              <a:spAutoFit/>
            </a:bodyPr>
            <a:lstStyle/>
            <a:p>
              <a:pPr algn="l">
                <a:lnSpc>
                  <a:spcPts val="1500"/>
                </a:lnSpc>
              </a:pPr>
              <a:r>
                <a:rPr lang="en-US" sz="1200" b="1" dirty="0">
                  <a:solidFill>
                    <a:schemeClr val="accent6"/>
                  </a:solidFill>
                  <a:latin typeface="+mn-lt"/>
                  <a:ea typeface="+mn-ea"/>
                  <a:cs typeface="+mn-cs"/>
                </a:rPr>
                <a:t xml:space="preserve">If TPG refuses amendments: </a:t>
              </a:r>
              <a:r>
                <a:rPr lang="en-US" sz="1200" dirty="0">
                  <a:solidFill>
                    <a:schemeClr val="accent6"/>
                  </a:solidFill>
                  <a:latin typeface="+mn-lt"/>
                  <a:ea typeface="+mn-ea"/>
                  <a:cs typeface="+mn-cs"/>
                </a:rPr>
                <a:t>keep existing protection, accept the fee cut available to all LPs, seek better terms in future funds, and decide</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the $75m question separately on the available terms.</a:t>
              </a:r>
            </a:p>
          </p:txBody>
        </p:sp>
      </p:grpSp>
      <p:grpSp>
        <p:nvGrpSpPr>
          <p:cNvPr id="16" name="footer"/>
          <p:cNvGrpSpPr/>
          <p:nvPr/>
        </p:nvGrpSpPr>
        <p:grpSpPr>
          <a:xfrm>
            <a:off x="604266" y="6426200"/>
            <a:ext cx="10983468" cy="291084"/>
            <a:chOff x="604266" y="6426200"/>
            <a:chExt cx="10983468" cy="291084"/>
          </a:xfrm>
        </p:grpSpPr>
        <p:sp>
          <p:nvSpPr>
            <p:cNvPr id="14" name="TextBox 14"/>
            <p:cNvSpPr txBox="1"/>
            <p:nvPr/>
          </p:nvSpPr>
          <p:spPr>
            <a:xfrm>
              <a:off x="604266" y="6426200"/>
              <a:ext cx="10224820"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Source: Case pp. 1, 4–6; Q5 Analysis!C10, D10, G10; Metrick &amp; Yasuda (2007); Apollo S-1 (2008). No acceptance probabilities are modelled; above about 20.9% growth B leads A.</a:t>
              </a:r>
            </a:p>
          </p:txBody>
        </p:sp>
        <p:sp>
          <p:nvSpPr>
            <p:cNvPr id="15" name="TextBox 1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124356" cy="244475"/>
            <a:chOff x="603504" y="546100"/>
            <a:chExt cx="4124356" cy="244475"/>
          </a:xfrm>
        </p:grpSpPr>
        <p:sp>
          <p:nvSpPr>
            <p:cNvPr id="2" name="TextBox 2"/>
            <p:cNvSpPr txBox="1"/>
            <p:nvPr/>
          </p:nvSpPr>
          <p:spPr>
            <a:xfrm>
              <a:off x="603504" y="546100"/>
              <a:ext cx="412435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DEFINE THE CHOICE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009274" cy="1043940"/>
            <a:chOff x="594360" y="812800"/>
            <a:chExt cx="5009274" cy="1043940"/>
          </a:xfrm>
        </p:grpSpPr>
        <p:sp>
          <p:nvSpPr>
            <p:cNvPr id="5" name="TextBox 5"/>
            <p:cNvSpPr txBox="1"/>
            <p:nvPr/>
          </p:nvSpPr>
          <p:spPr>
            <a:xfrm>
              <a:off x="594360" y="812800"/>
              <a:ext cx="500927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decision concerns $75m</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of future obligations</a:t>
              </a:r>
            </a:p>
          </p:txBody>
        </p:sp>
      </p:grpSp>
      <p:grpSp>
        <p:nvGrpSpPr>
          <p:cNvPr id="8" name="lead"/>
          <p:cNvGrpSpPr/>
          <p:nvPr/>
        </p:nvGrpSpPr>
        <p:grpSpPr>
          <a:xfrm>
            <a:off x="601218" y="1746250"/>
            <a:ext cx="8000619" cy="608457"/>
            <a:chOff x="601218" y="1746250"/>
            <a:chExt cx="8000619" cy="608457"/>
          </a:xfrm>
        </p:grpSpPr>
        <p:sp>
          <p:nvSpPr>
            <p:cNvPr id="7" name="TextBox 7"/>
            <p:cNvSpPr txBox="1"/>
            <p:nvPr/>
          </p:nvSpPr>
          <p:spPr>
            <a:xfrm>
              <a:off x="601218" y="1746250"/>
              <a:ext cx="8000619"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The offer releases $75m of future obligations. The $79.9m already contributed stays invested,</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reducing still leaves a $675m total commitment.</a:t>
              </a:r>
            </a:p>
          </p:txBody>
        </p:sp>
      </p:grpSp>
      <p:grpSp>
        <p:nvGrpSpPr>
          <p:cNvPr id="17" name="commitment-bars"/>
          <p:cNvGrpSpPr/>
          <p:nvPr/>
        </p:nvGrpSpPr>
        <p:grpSpPr>
          <a:xfrm>
            <a:off x="609600" y="2495550"/>
            <a:ext cx="10972800" cy="2381250"/>
            <a:chOff x="609600" y="2495550"/>
            <a:chExt cx="10972800" cy="2381250"/>
          </a:xfrm>
        </p:grpSpPr>
        <p:graphicFrame>
          <p:nvGraphicFramePr>
            <p:cNvPr id="9" name="commitment-bars"/>
            <p:cNvGraphicFramePr>
              <a:graphicFrameLocks noGrp="1"/>
            </p:cNvGraphicFramePr>
            <p:nvPr/>
          </p:nvGraphicFramePr>
          <p:xfrm>
            <a:off x="609600" y="2495550"/>
            <a:ext cx="10972800" cy="2381250"/>
          </p:xfrm>
          <a:graphic>
            <a:graphicData uri="http://schemas.openxmlformats.org/drawingml/2006/chart">
              <c:chart xmlns:c="http://schemas.openxmlformats.org/drawingml/2006/chart" r:id="rId2"/>
            </a:graphicData>
          </a:graphic>
        </p:graphicFrame>
        <p:sp>
          <p:nvSpPr>
            <p:cNvPr id="10" name="Chart Note 10"/>
            <p:cNvSpPr txBox="1"/>
            <p:nvPr/>
          </p:nvSpPr>
          <p:spPr>
            <a:xfrm>
              <a:off x="9534525" y="2734628"/>
              <a:ext cx="1143000" cy="213360"/>
            </a:xfrm>
            <a:prstGeom prst="rect">
              <a:avLst/>
            </a:prstGeom>
            <a:noFill/>
            <a:ln>
              <a:noFill/>
            </a:ln>
          </p:spPr>
          <p:txBody>
            <a:bodyPr wrap="square" lIns="0" tIns="0" rIns="0" bIns="0" anchor="b" anchorCtr="0"/>
            <a:lstStyle/>
            <a:p>
              <a:pPr algn="r"/>
              <a:r>
                <a:rPr lang="en-US" sz="1050">
                  <a:solidFill>
                    <a:srgbClr val="5C6670"/>
                  </a:solidFill>
                  <a:latin typeface="Calibri"/>
                  <a:ea typeface="Microsoft YaHei"/>
                  <a:cs typeface="Calibri"/>
                </a:rPr>
                <a:t>Total $750m</a:t>
              </a:r>
            </a:p>
          </p:txBody>
        </p:sp>
        <p:sp>
          <p:nvSpPr>
            <p:cNvPr id="11" name="Chart Note 11"/>
            <p:cNvSpPr txBox="1"/>
            <p:nvPr/>
          </p:nvSpPr>
          <p:spPr>
            <a:xfrm>
              <a:off x="8201025" y="3534728"/>
              <a:ext cx="2476500" cy="213360"/>
            </a:xfrm>
            <a:prstGeom prst="rect">
              <a:avLst/>
            </a:prstGeom>
            <a:noFill/>
            <a:ln>
              <a:noFill/>
            </a:ln>
          </p:spPr>
          <p:txBody>
            <a:bodyPr wrap="square" lIns="0" tIns="0" rIns="0" bIns="0" anchor="b" anchorCtr="0"/>
            <a:lstStyle/>
            <a:p>
              <a:pPr algn="r"/>
              <a:r>
                <a:rPr lang="en-US" sz="1050">
                  <a:solidFill>
                    <a:srgbClr val="5C6670"/>
                  </a:solidFill>
                  <a:latin typeface="Calibri"/>
                  <a:ea typeface="Microsoft YaHei"/>
                  <a:cs typeface="Calibri"/>
                </a:rPr>
                <a:t>Total $675m + $75m released</a:t>
              </a:r>
            </a:p>
          </p:txBody>
        </p:sp>
        <p:sp>
          <p:nvSpPr>
            <p:cNvPr id="12" name="Chart Note 12"/>
            <p:cNvSpPr txBox="1"/>
            <p:nvPr/>
          </p:nvSpPr>
          <p:spPr>
            <a:xfrm>
              <a:off x="6753225" y="3016568"/>
              <a:ext cx="85725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$670.1m</a:t>
              </a:r>
            </a:p>
          </p:txBody>
        </p:sp>
        <p:sp>
          <p:nvSpPr>
            <p:cNvPr id="13" name="Chart Note 13"/>
            <p:cNvSpPr txBox="1"/>
            <p:nvPr/>
          </p:nvSpPr>
          <p:spPr>
            <a:xfrm>
              <a:off x="6362700" y="3816668"/>
              <a:ext cx="857250" cy="274320"/>
            </a:xfrm>
            <a:prstGeom prst="rect">
              <a:avLst/>
            </a:prstGeom>
            <a:noFill/>
            <a:ln>
              <a:noFill/>
            </a:ln>
          </p:spPr>
          <p:txBody>
            <a:bodyPr wrap="square" lIns="0" tIns="0" rIns="0" bIns="0" anchor="b" anchorCtr="0"/>
            <a:lstStyle/>
            <a:p>
              <a:pPr algn="ctr"/>
              <a:r>
                <a:rPr lang="en-US" sz="1350" b="1">
                  <a:solidFill>
                    <a:srgbClr val="FBF8F2"/>
                  </a:solidFill>
                  <a:latin typeface="Calibri"/>
                  <a:ea typeface="Microsoft YaHei"/>
                  <a:cs typeface="Calibri"/>
                </a:rPr>
                <a:t>$595.1m</a:t>
              </a:r>
            </a:p>
          </p:txBody>
        </p:sp>
        <p:sp>
          <p:nvSpPr>
            <p:cNvPr id="14" name="Chart Note 14"/>
            <p:cNvSpPr txBox="1"/>
            <p:nvPr/>
          </p:nvSpPr>
          <p:spPr>
            <a:xfrm>
              <a:off x="10001250" y="3868102"/>
              <a:ext cx="571500" cy="213360"/>
            </a:xfrm>
            <a:prstGeom prst="rect">
              <a:avLst/>
            </a:prstGeom>
            <a:noFill/>
            <a:ln>
              <a:noFill/>
            </a:ln>
          </p:spPr>
          <p:txBody>
            <a:bodyPr wrap="square" lIns="0" tIns="0" rIns="0" bIns="0" anchor="b" anchorCtr="0"/>
            <a:lstStyle/>
            <a:p>
              <a:pPr algn="ctr"/>
              <a:r>
                <a:rPr lang="en-US" sz="1050">
                  <a:solidFill>
                    <a:srgbClr val="003657"/>
                  </a:solidFill>
                  <a:latin typeface="Calibri"/>
                  <a:ea typeface="Microsoft YaHei"/>
                  <a:cs typeface="Calibri"/>
                </a:rPr>
                <a:t>$75m</a:t>
              </a:r>
            </a:p>
          </p:txBody>
        </p:sp>
        <p:sp>
          <p:nvSpPr>
            <p:cNvPr id="15" name="Chart Note 15"/>
            <p:cNvSpPr txBox="1"/>
            <p:nvPr/>
          </p:nvSpPr>
          <p:spPr>
            <a:xfrm>
              <a:off x="2857500" y="3028950"/>
              <a:ext cx="828675" cy="304800"/>
            </a:xfrm>
            <a:prstGeom prst="rect">
              <a:avLst/>
            </a:prstGeom>
            <a:noFill/>
            <a:ln>
              <a:noFill/>
            </a:ln>
          </p:spPr>
          <p:txBody>
            <a:bodyPr wrap="square" lIns="0" tIns="0" rIns="0" bIns="0" anchor="t" anchorCtr="0"/>
            <a:lstStyle/>
            <a:p>
              <a:pPr algn="ctr"/>
              <a:r>
                <a:rPr lang="en-US" sz="1050" b="1">
                  <a:solidFill>
                    <a:srgbClr val="FBF8F2"/>
                  </a:solidFill>
                  <a:latin typeface="Calibri"/>
                  <a:ea typeface="Microsoft YaHei"/>
                  <a:cs typeface="Calibri"/>
                </a:rPr>
                <a:t>$79.9m</a:t>
              </a:r>
            </a:p>
          </p:txBody>
        </p:sp>
        <p:sp>
          <p:nvSpPr>
            <p:cNvPr id="16" name="Chart Note 16"/>
            <p:cNvSpPr txBox="1"/>
            <p:nvPr/>
          </p:nvSpPr>
          <p:spPr>
            <a:xfrm>
              <a:off x="2857500" y="3829050"/>
              <a:ext cx="828675" cy="304800"/>
            </a:xfrm>
            <a:prstGeom prst="rect">
              <a:avLst/>
            </a:prstGeom>
            <a:noFill/>
            <a:ln>
              <a:noFill/>
            </a:ln>
          </p:spPr>
          <p:txBody>
            <a:bodyPr wrap="square" lIns="0" tIns="0" rIns="0" bIns="0" anchor="t" anchorCtr="0"/>
            <a:lstStyle/>
            <a:p>
              <a:pPr algn="ctr"/>
              <a:r>
                <a:rPr lang="en-US" sz="1050" b="1">
                  <a:solidFill>
                    <a:srgbClr val="FBF8F2"/>
                  </a:solidFill>
                  <a:latin typeface="Calibri"/>
                  <a:ea typeface="Microsoft YaHei"/>
                  <a:cs typeface="Calibri"/>
                </a:rPr>
                <a:t>$79.9m</a:t>
              </a:r>
            </a:p>
          </p:txBody>
        </p:sp>
      </p:grpSp>
      <p:grpSp>
        <p:nvGrpSpPr>
          <p:cNvPr id="19" name="callout"/>
          <p:cNvGrpSpPr/>
          <p:nvPr/>
        </p:nvGrpSpPr>
        <p:grpSpPr>
          <a:xfrm>
            <a:off x="601218" y="4984750"/>
            <a:ext cx="5483672" cy="608457"/>
            <a:chOff x="601218" y="4984750"/>
            <a:chExt cx="5483672" cy="608457"/>
          </a:xfrm>
        </p:grpSpPr>
        <p:sp>
          <p:nvSpPr>
            <p:cNvPr id="18" name="TextBox 18"/>
            <p:cNvSpPr txBox="1"/>
            <p:nvPr/>
          </p:nvSpPr>
          <p:spPr>
            <a:xfrm>
              <a:off x="601218" y="4984750"/>
              <a:ext cx="5483672"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A commitment reduction is not an immediate $75m cash refund</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or an immediate $75m reduction in PE NAV.</a:t>
              </a:r>
            </a:p>
          </p:txBody>
        </p:sp>
      </p:grpSp>
      <p:grpSp>
        <p:nvGrpSpPr>
          <p:cNvPr id="21" name="threshold-note"/>
          <p:cNvGrpSpPr/>
          <p:nvPr/>
        </p:nvGrpSpPr>
        <p:grpSpPr>
          <a:xfrm>
            <a:off x="602742" y="5721350"/>
            <a:ext cx="9049877" cy="264033"/>
            <a:chOff x="602742" y="5721350"/>
            <a:chExt cx="9049877" cy="264033"/>
          </a:xfrm>
        </p:grpSpPr>
        <p:sp>
          <p:nvSpPr>
            <p:cNvPr id="20" name="TextBox 20"/>
            <p:cNvSpPr txBox="1"/>
            <p:nvPr/>
          </p:nvSpPr>
          <p:spPr>
            <a:xfrm>
              <a:off x="602742" y="5721350"/>
              <a:ext cx="90498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Ordinary 2009 call threshold: $225m if retaining, $202.5m if reducing; calls above 30% need advisory-committee approval.</a:t>
              </a:r>
            </a:p>
          </p:txBody>
        </p:sp>
      </p:grpSp>
      <p:grpSp>
        <p:nvGrpSpPr>
          <p:cNvPr id="24" name="footer"/>
          <p:cNvGrpSpPr/>
          <p:nvPr/>
        </p:nvGrpSpPr>
        <p:grpSpPr>
          <a:xfrm>
            <a:off x="604266" y="6426200"/>
            <a:ext cx="10983468" cy="291084"/>
            <a:chOff x="604266" y="6426200"/>
            <a:chExt cx="10983468" cy="291084"/>
          </a:xfrm>
        </p:grpSpPr>
        <p:sp>
          <p:nvSpPr>
            <p:cNvPr id="22" name="TextBox 22"/>
            <p:cNvSpPr txBox="1"/>
            <p:nvPr/>
          </p:nvSpPr>
          <p:spPr>
            <a:xfrm>
              <a:off x="604266" y="6426200"/>
              <a:ext cx="830366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Q6 OPERF decision!B6:C9; Inputs!C26:C31; Case pp. 1, 6. $m; capacity to meet calls does not establish that the extra $75m is attractive.</a:t>
              </a:r>
            </a:p>
          </p:txBody>
        </p:sp>
        <p:sp>
          <p:nvSpPr>
            <p:cNvPr id="23" name="TextBox 2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258970" cy="244475"/>
            <a:chOff x="603504" y="546100"/>
            <a:chExt cx="5258970" cy="244475"/>
          </a:xfrm>
        </p:grpSpPr>
        <p:sp>
          <p:nvSpPr>
            <p:cNvPr id="2" name="TextBox 2"/>
            <p:cNvSpPr txBox="1"/>
            <p:nvPr/>
          </p:nvSpPr>
          <p:spPr>
            <a:xfrm>
              <a:off x="603504" y="546100"/>
              <a:ext cx="525897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EVIDENCE FROM Q3, Q4 AND Q5</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13246" cy="1043940"/>
            <a:chOff x="594360" y="812800"/>
            <a:chExt cx="6613246" cy="1043940"/>
          </a:xfrm>
        </p:grpSpPr>
        <p:sp>
          <p:nvSpPr>
            <p:cNvPr id="5" name="TextBox 5"/>
            <p:cNvSpPr txBox="1"/>
            <p:nvPr/>
          </p:nvSpPr>
          <p:spPr>
            <a:xfrm>
              <a:off x="594360" y="812800"/>
              <a:ext cx="661324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Earlier calculations support retaining</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in the base case</a:t>
              </a:r>
            </a:p>
          </p:txBody>
        </p:sp>
      </p:grpSp>
      <p:grpSp>
        <p:nvGrpSpPr>
          <p:cNvPr id="8" name="lead"/>
          <p:cNvGrpSpPr/>
          <p:nvPr/>
        </p:nvGrpSpPr>
        <p:grpSpPr>
          <a:xfrm>
            <a:off x="601218" y="1746250"/>
            <a:ext cx="8534490" cy="608457"/>
            <a:chOff x="601218" y="1746250"/>
            <a:chExt cx="8534490" cy="608457"/>
          </a:xfrm>
        </p:grpSpPr>
        <p:sp>
          <p:nvSpPr>
            <p:cNvPr id="7" name="TextBox 7"/>
            <p:cNvSpPr txBox="1"/>
            <p:nvPr/>
          </p:nvSpPr>
          <p:spPr>
            <a:xfrm>
              <a:off x="601218" y="1746250"/>
              <a:ext cx="853449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 xml:space="preserve">After the offered fee cut, the hypothetical marginal $75m inception commitment has </a:t>
              </a:r>
              <a:r>
                <a:rPr lang="en-US" sz="1650" b="1" dirty="0">
                  <a:solidFill>
                    <a:schemeClr val="accent1"/>
                  </a:solidFill>
                  <a:latin typeface="+mn-lt"/>
                  <a:ea typeface="+mn-ea"/>
                  <a:cs typeface="+mn-cs"/>
                </a:rPr>
                <a:t>+$2.82m NPV</a:t>
              </a:r>
              <a:r>
                <a:rPr lang="en-US" sz="1650" dirty="0">
                  <a:solidFill>
                    <a:schemeClr val="accent1"/>
                  </a:solidFill>
                  <a:latin typeface="+mn-lt"/>
                  <a:ea typeface="+mn-ea"/>
                  <a:cs typeface="+mn-cs"/>
                </a:rPr>
                <a: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Negotiated improvements could increase this value, but they are not yet secured.</a:t>
              </a:r>
            </a:p>
          </p:txBody>
        </p:sp>
      </p:grpSp>
      <p:grpSp>
        <p:nvGrpSpPr>
          <p:cNvPr id="16" name="marginal-npv-bars"/>
          <p:cNvGrpSpPr/>
          <p:nvPr/>
        </p:nvGrpSpPr>
        <p:grpSpPr>
          <a:xfrm>
            <a:off x="609600" y="2495550"/>
            <a:ext cx="7239000" cy="3028950"/>
            <a:chOff x="609600" y="2495550"/>
            <a:chExt cx="7239000" cy="3028950"/>
          </a:xfrm>
        </p:grpSpPr>
        <p:graphicFrame>
          <p:nvGraphicFramePr>
            <p:cNvPr id="9" name="marginal-npv-bars"/>
            <p:cNvGraphicFramePr>
              <a:graphicFrameLocks noGrp="1"/>
            </p:cNvGraphicFramePr>
            <p:nvPr/>
          </p:nvGraphicFramePr>
          <p:xfrm>
            <a:off x="609600" y="2495550"/>
            <a:ext cx="7239000" cy="3028950"/>
          </p:xfrm>
          <a:graphic>
            <a:graphicData uri="http://schemas.openxmlformats.org/drawingml/2006/chart">
              <c:chart xmlns:c="http://schemas.openxmlformats.org/drawingml/2006/chart" r:id="rId2"/>
            </a:graphicData>
          </a:graphic>
        </p:graphicFrame>
        <p:sp>
          <p:nvSpPr>
            <p:cNvPr id="10" name="Chart Note 10"/>
            <p:cNvSpPr txBox="1"/>
            <p:nvPr/>
          </p:nvSpPr>
          <p:spPr>
            <a:xfrm>
              <a:off x="5381625" y="2911792"/>
              <a:ext cx="5715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+2.17</a:t>
              </a:r>
            </a:p>
          </p:txBody>
        </p:sp>
        <p:sp>
          <p:nvSpPr>
            <p:cNvPr id="11" name="Chart Note 11"/>
            <p:cNvSpPr txBox="1"/>
            <p:nvPr/>
          </p:nvSpPr>
          <p:spPr>
            <a:xfrm>
              <a:off x="5781675" y="3445192"/>
              <a:ext cx="5715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+2.82</a:t>
              </a:r>
            </a:p>
          </p:txBody>
        </p:sp>
        <p:sp>
          <p:nvSpPr>
            <p:cNvPr id="12" name="Chart Note 12"/>
            <p:cNvSpPr txBox="1"/>
            <p:nvPr/>
          </p:nvSpPr>
          <p:spPr>
            <a:xfrm>
              <a:off x="7029450" y="3978592"/>
              <a:ext cx="5715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+4.89</a:t>
              </a:r>
            </a:p>
          </p:txBody>
        </p:sp>
        <p:sp>
          <p:nvSpPr>
            <p:cNvPr id="13" name="Chart Note 13"/>
            <p:cNvSpPr txBox="1"/>
            <p:nvPr/>
          </p:nvSpPr>
          <p:spPr>
            <a:xfrm>
              <a:off x="6943725" y="4511992"/>
              <a:ext cx="57150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+4.75</a:t>
              </a:r>
            </a:p>
          </p:txBody>
        </p:sp>
        <p:sp>
          <p:nvSpPr>
            <p:cNvPr id="14" name="Chart Note 14"/>
            <p:cNvSpPr txBox="1"/>
            <p:nvPr/>
          </p:nvSpPr>
          <p:spPr>
            <a:xfrm>
              <a:off x="6362700" y="3496628"/>
              <a:ext cx="762000" cy="213360"/>
            </a:xfrm>
            <a:prstGeom prst="rect">
              <a:avLst/>
            </a:prstGeom>
            <a:noFill/>
            <a:ln>
              <a:noFill/>
            </a:ln>
          </p:spPr>
          <p:txBody>
            <a:bodyPr wrap="square" lIns="0" tIns="0" rIns="0" bIns="0" anchor="b" anchorCtr="0"/>
            <a:lstStyle/>
            <a:p>
              <a:pPr algn="l"/>
              <a:r>
                <a:rPr lang="en-US" sz="1050">
                  <a:solidFill>
                    <a:srgbClr val="5C6670"/>
                  </a:solidFill>
                  <a:latin typeface="Calibri"/>
                  <a:ea typeface="Microsoft YaHei"/>
                  <a:cs typeface="Calibri"/>
                </a:rPr>
                <a:t>base case</a:t>
              </a:r>
            </a:p>
          </p:txBody>
        </p:sp>
        <p:sp>
          <p:nvSpPr>
            <p:cNvPr id="15" name="Chart Note 15"/>
            <p:cNvSpPr txBox="1"/>
            <p:nvPr/>
          </p:nvSpPr>
          <p:spPr>
            <a:xfrm>
              <a:off x="4000500" y="5077778"/>
              <a:ext cx="2476500" cy="213360"/>
            </a:xfrm>
            <a:prstGeom prst="rect">
              <a:avLst/>
            </a:prstGeom>
            <a:noFill/>
            <a:ln>
              <a:noFill/>
            </a:ln>
          </p:spPr>
          <p:txBody>
            <a:bodyPr wrap="square" lIns="0" tIns="0" rIns="0" bIns="0" anchor="b" anchorCtr="0"/>
            <a:lstStyle/>
            <a:p>
              <a:pPr algn="l"/>
              <a:r>
                <a:rPr lang="en-US" sz="1050">
                  <a:solidFill>
                    <a:srgbClr val="5C6670"/>
                  </a:solidFill>
                  <a:latin typeface="Calibri"/>
                  <a:ea typeface="Microsoft YaHei"/>
                  <a:cs typeface="Calibri"/>
                </a:rPr>
                <a:t>conditional on obtaining the package</a:t>
              </a:r>
            </a:p>
          </p:txBody>
        </p:sp>
      </p:grpSp>
      <p:grpSp>
        <p:nvGrpSpPr>
          <p:cNvPr id="23" name="sign-callout"/>
          <p:cNvGrpSpPr/>
          <p:nvPr/>
        </p:nvGrpSpPr>
        <p:grpSpPr>
          <a:xfrm>
            <a:off x="8001000" y="2552700"/>
            <a:ext cx="3581400" cy="2857500"/>
            <a:chOff x="8001000" y="2552700"/>
            <a:chExt cx="3581400" cy="2857500"/>
          </a:xfrm>
        </p:grpSpPr>
        <p:sp>
          <p:nvSpPr>
            <p:cNvPr id="17" name="Rectangle 17"/>
            <p:cNvSpPr/>
            <p:nvPr/>
          </p:nvSpPr>
          <p:spPr>
            <a:xfrm>
              <a:off x="8001000" y="2552700"/>
              <a:ext cx="3581400" cy="2857500"/>
            </a:xfrm>
            <a:prstGeom prst="rect">
              <a:avLst/>
            </a:prstGeom>
            <a:solidFill>
              <a:schemeClr val="lt2"/>
            </a:solidFill>
            <a:ln>
              <a:noFill/>
            </a:ln>
          </p:spPr>
        </p:sp>
        <p:sp>
          <p:nvSpPr>
            <p:cNvPr id="18" name="TextBox 18"/>
            <p:cNvSpPr txBox="1"/>
            <p:nvPr/>
          </p:nvSpPr>
          <p:spPr>
            <a:xfrm>
              <a:off x="8222742" y="2673350"/>
              <a:ext cx="122303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Sign convention</a:t>
              </a:r>
            </a:p>
          </p:txBody>
        </p:sp>
        <p:sp>
          <p:nvSpPr>
            <p:cNvPr id="19" name="TextBox 19"/>
            <p:cNvSpPr txBox="1"/>
            <p:nvPr/>
          </p:nvSpPr>
          <p:spPr>
            <a:xfrm>
              <a:off x="8222742" y="2965450"/>
              <a:ext cx="2519801"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workbook's −$2.82m is the NPV</a:t>
              </a:r>
              <a:br>
                <a:rPr lang="en-US" sz="1350" dirty="0">
                  <a:solidFill>
                    <a:schemeClr val="dk1"/>
                  </a:solidFill>
                  <a:latin typeface="+mn-lt"/>
                  <a:ea typeface="+mn-ea"/>
                  <a:cs typeface="+mn-cs"/>
                </a:rPr>
              </a:br>
              <a:r>
                <a:rPr lang="en-US" sz="1350" dirty="0">
                  <a:solidFill>
                    <a:schemeClr val="dk1"/>
                  </a:solidFill>
                  <a:latin typeface="+mn-lt"/>
                  <a:ea typeface="+mn-ea"/>
                  <a:cs typeface="+mn-cs"/>
                </a:rPr>
                <a:t>change from reducing. The value of</a:t>
              </a:r>
              <a:br>
                <a:rPr lang="en-US" sz="1350" dirty="0">
                  <a:solidFill>
                    <a:schemeClr val="dk1"/>
                  </a:solidFill>
                  <a:latin typeface="+mn-lt"/>
                  <a:ea typeface="+mn-ea"/>
                  <a:cs typeface="+mn-cs"/>
                </a:rPr>
              </a:br>
              <a:r>
                <a:rPr lang="en-US" sz="1350" dirty="0">
                  <a:solidFill>
                    <a:schemeClr val="dk1"/>
                  </a:solidFill>
                  <a:latin typeface="+mn-lt"/>
                  <a:ea typeface="+mn-ea"/>
                  <a:cs typeface="+mn-cs"/>
                </a:rPr>
                <a:t>retaining the extra commitment</a:t>
              </a:r>
              <a:br>
                <a:rPr lang="en-US" sz="1350" dirty="0">
                  <a:solidFill>
                    <a:schemeClr val="dk1"/>
                  </a:solidFill>
                  <a:latin typeface="+mn-lt"/>
                  <a:ea typeface="+mn-ea"/>
                  <a:cs typeface="+mn-cs"/>
                </a:rPr>
              </a:br>
              <a:r>
                <a:rPr lang="en-US" sz="1350" dirty="0">
                  <a:solidFill>
                    <a:schemeClr val="dk1"/>
                  </a:solidFill>
                  <a:latin typeface="+mn-lt"/>
                  <a:ea typeface="+mn-ea"/>
                  <a:cs typeface="+mn-cs"/>
                </a:rPr>
                <a:t>is +$2.82m.</a:t>
              </a:r>
            </a:p>
          </p:txBody>
        </p:sp>
        <p:sp>
          <p:nvSpPr>
            <p:cNvPr id="20" name="TextBox 20"/>
            <p:cNvSpPr txBox="1"/>
            <p:nvPr/>
          </p:nvSpPr>
          <p:spPr>
            <a:xfrm>
              <a:off x="8223504" y="4089400"/>
              <a:ext cx="230088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$25.413m − $28.237m = −$2.824m</a:t>
              </a:r>
            </a:p>
          </p:txBody>
        </p:sp>
        <p:sp>
          <p:nvSpPr>
            <p:cNvPr id="21" name="TextBox 21"/>
            <p:cNvSpPr txBox="1"/>
            <p:nvPr/>
          </p:nvSpPr>
          <p:spPr>
            <a:xfrm>
              <a:off x="8222742" y="4445000"/>
              <a:ext cx="171269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Supporting calculation</a:t>
              </a:r>
            </a:p>
          </p:txBody>
        </p:sp>
        <p:sp>
          <p:nvSpPr>
            <p:cNvPr id="22" name="TextBox 22"/>
            <p:cNvSpPr txBox="1"/>
            <p:nvPr/>
          </p:nvSpPr>
          <p:spPr>
            <a:xfrm>
              <a:off x="8223504" y="4711700"/>
              <a:ext cx="2606467"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2.168314 + 0.655358 = 2.823672</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(the $6.55m fee-cut gain × 10% ≈ $0.66m)</a:t>
              </a:r>
            </a:p>
          </p:txBody>
        </p:sp>
      </p:grpSp>
      <p:sp>
        <p:nvSpPr>
          <p:cNvPr id="24" name="TextBox 24"/>
          <p:cNvSpPr txBox="1"/>
          <p:nvPr/>
        </p:nvSpPr>
        <p:spPr>
          <a:xfrm>
            <a:off x="604266" y="5588000"/>
            <a:ext cx="8297704"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20% annual asset growth; 15% discount rate; hypothetical inception model. This is not a December valuation of cancelling remaining obligations.</a:t>
            </a:r>
          </a:p>
        </p:txBody>
      </p:sp>
      <p:grpSp>
        <p:nvGrpSpPr>
          <p:cNvPr id="26" name="scaling-note"/>
          <p:cNvGrpSpPr/>
          <p:nvPr/>
        </p:nvGrpSpPr>
        <p:grpSpPr>
          <a:xfrm>
            <a:off x="602742" y="5892800"/>
            <a:ext cx="8769947" cy="264033"/>
            <a:chOff x="602742" y="5892800"/>
            <a:chExt cx="8769947" cy="264033"/>
          </a:xfrm>
        </p:grpSpPr>
        <p:sp>
          <p:nvSpPr>
            <p:cNvPr id="25" name="TextBox 25"/>
            <p:cNvSpPr txBox="1"/>
            <p:nvPr/>
          </p:nvSpPr>
          <p:spPr>
            <a:xfrm>
              <a:off x="602742" y="5892800"/>
              <a:ext cx="876994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All values scale the $750m model by 10%, holding fund size, investment timing and proportional cash-flow rights fixed.</a:t>
              </a:r>
            </a:p>
          </p:txBody>
        </p:sp>
      </p:grpSp>
      <p:grpSp>
        <p:nvGrpSpPr>
          <p:cNvPr id="29" name="footer"/>
          <p:cNvGrpSpPr/>
          <p:nvPr/>
        </p:nvGrpSpPr>
        <p:grpSpPr>
          <a:xfrm>
            <a:off x="604266" y="6350000"/>
            <a:ext cx="10983468" cy="367284"/>
            <a:chOff x="604266" y="6350000"/>
            <a:chExt cx="10983468" cy="367284"/>
          </a:xfrm>
        </p:grpSpPr>
        <p:sp>
          <p:nvSpPr>
            <p:cNvPr id="27" name="TextBox 27"/>
            <p:cNvSpPr txBox="1"/>
            <p:nvPr/>
          </p:nvSpPr>
          <p:spPr>
            <a:xfrm>
              <a:off x="604266" y="6350000"/>
              <a:ext cx="9571596"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Summary!B29, C29, D29 × Inputs!C27; Package B = (Summary!C29 + Q5 Analysis!G10) × Inputs!C27; fee gain Q4 Analysis!C25 × Inputs!C27; sign check</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Q6 OPERF decision!B20:D20. The workbook's first OPERF contribution is $150m, while the case reports $79.9m to date; a December valuation must preserve sunk contributions.</a:t>
              </a:r>
            </a:p>
          </p:txBody>
        </p:sp>
        <p:sp>
          <p:nvSpPr>
            <p:cNvPr id="28" name="TextBox 2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752003" cy="244475"/>
            <a:chOff x="603504" y="546100"/>
            <a:chExt cx="5752003" cy="244475"/>
          </a:xfrm>
        </p:grpSpPr>
        <p:sp>
          <p:nvSpPr>
            <p:cNvPr id="2" name="TextBox 2"/>
            <p:cNvSpPr txBox="1"/>
            <p:nvPr/>
          </p:nvSpPr>
          <p:spPr>
            <a:xfrm>
              <a:off x="603504" y="546100"/>
              <a:ext cx="5752003"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WHEN THE MODEL FAVORS REDUCING</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911721" cy="1043940"/>
            <a:chOff x="594360" y="812800"/>
            <a:chExt cx="6911721" cy="1043940"/>
          </a:xfrm>
        </p:grpSpPr>
        <p:sp>
          <p:nvSpPr>
            <p:cNvPr id="5" name="TextBox 5"/>
            <p:cNvSpPr txBox="1"/>
            <p:nvPr/>
          </p:nvSpPr>
          <p:spPr>
            <a:xfrm>
              <a:off x="594360" y="812800"/>
              <a:ext cx="691172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Alex's 19% threshold leaves little value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cushion on the extra $75m</a:t>
              </a:r>
            </a:p>
          </p:txBody>
        </p:sp>
      </p:grpSp>
      <p:grpSp>
        <p:nvGrpSpPr>
          <p:cNvPr id="8" name="lead"/>
          <p:cNvGrpSpPr/>
          <p:nvPr/>
        </p:nvGrpSpPr>
        <p:grpSpPr>
          <a:xfrm>
            <a:off x="601218" y="1746250"/>
            <a:ext cx="7664606" cy="608457"/>
            <a:chOff x="601218" y="1746250"/>
            <a:chExt cx="7664606" cy="608457"/>
          </a:xfrm>
        </p:grpSpPr>
        <p:sp>
          <p:nvSpPr>
            <p:cNvPr id="7" name="TextBox 7"/>
            <p:cNvSpPr txBox="1"/>
            <p:nvPr/>
          </p:nvSpPr>
          <p:spPr>
            <a:xfrm>
              <a:off x="601218" y="1746250"/>
              <a:ext cx="766460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Reducing annual growth from 20% to 19% removes $2.84m of value from the extra $75m,</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essentially eliminating its +$2.82m base-case value.</a:t>
              </a:r>
            </a:p>
          </p:txBody>
        </p:sp>
      </p:grpSp>
      <p:grpSp>
        <p:nvGrpSpPr>
          <p:cNvPr id="14" name="marginal-npv-by-growth"/>
          <p:cNvGrpSpPr/>
          <p:nvPr/>
        </p:nvGrpSpPr>
        <p:grpSpPr>
          <a:xfrm>
            <a:off x="609600" y="2495550"/>
            <a:ext cx="7239000" cy="2952750"/>
            <a:chOff x="609600" y="2495550"/>
            <a:chExt cx="7239000" cy="2952750"/>
          </a:xfrm>
        </p:grpSpPr>
        <p:graphicFrame>
          <p:nvGraphicFramePr>
            <p:cNvPr id="9" name="marginal-npv-by-growth"/>
            <p:cNvGraphicFramePr>
              <a:graphicFrameLocks noGrp="1"/>
            </p:cNvGraphicFramePr>
            <p:nvPr/>
          </p:nvGraphicFramePr>
          <p:xfrm>
            <a:off x="609600" y="2495550"/>
            <a:ext cx="7239000" cy="2952750"/>
          </p:xfrm>
          <a:graphic>
            <a:graphicData uri="http://schemas.openxmlformats.org/drawingml/2006/chart">
              <c:chart xmlns:c="http://schemas.openxmlformats.org/drawingml/2006/chart" r:id="rId2"/>
            </a:graphicData>
          </a:graphic>
        </p:graphicFrame>
        <p:sp>
          <p:nvSpPr>
            <p:cNvPr id="10" name="Chart Note 10"/>
            <p:cNvSpPr txBox="1"/>
            <p:nvPr/>
          </p:nvSpPr>
          <p:spPr>
            <a:xfrm>
              <a:off x="2905125" y="2911792"/>
              <a:ext cx="666750" cy="274320"/>
            </a:xfrm>
            <a:prstGeom prst="rect">
              <a:avLst/>
            </a:prstGeom>
            <a:noFill/>
            <a:ln>
              <a:noFill/>
            </a:ln>
          </p:spPr>
          <p:txBody>
            <a:bodyPr wrap="square" lIns="0" tIns="0" rIns="0" bIns="0" anchor="b" anchorCtr="0"/>
            <a:lstStyle/>
            <a:p>
              <a:pPr algn="r"/>
              <a:r>
                <a:rPr lang="en-US" sz="1350" b="1">
                  <a:solidFill>
                    <a:srgbClr val="A33D3D"/>
                  </a:solidFill>
                  <a:latin typeface="Calibri"/>
                  <a:ea typeface="Microsoft YaHei"/>
                  <a:cs typeface="Calibri"/>
                </a:rPr>
                <a:t>−20.05</a:t>
              </a:r>
            </a:p>
          </p:txBody>
        </p:sp>
        <p:sp>
          <p:nvSpPr>
            <p:cNvPr id="11" name="Chart Note 11"/>
            <p:cNvSpPr txBox="1"/>
            <p:nvPr/>
          </p:nvSpPr>
          <p:spPr>
            <a:xfrm>
              <a:off x="4276725" y="3445192"/>
              <a:ext cx="666750" cy="274320"/>
            </a:xfrm>
            <a:prstGeom prst="rect">
              <a:avLst/>
            </a:prstGeom>
            <a:noFill/>
            <a:ln>
              <a:noFill/>
            </a:ln>
          </p:spPr>
          <p:txBody>
            <a:bodyPr wrap="square" lIns="0" tIns="0" rIns="0" bIns="0" anchor="b" anchorCtr="0"/>
            <a:lstStyle/>
            <a:p>
              <a:pPr algn="r"/>
              <a:r>
                <a:rPr lang="en-US" sz="1350" b="1">
                  <a:solidFill>
                    <a:srgbClr val="A33D3D"/>
                  </a:solidFill>
                  <a:latin typeface="Calibri"/>
                  <a:ea typeface="Microsoft YaHei"/>
                  <a:cs typeface="Calibri"/>
                </a:rPr>
                <a:t>−2.71</a:t>
              </a:r>
            </a:p>
          </p:txBody>
        </p:sp>
        <p:sp>
          <p:nvSpPr>
            <p:cNvPr id="12" name="Chart Note 12"/>
            <p:cNvSpPr txBox="1"/>
            <p:nvPr/>
          </p:nvSpPr>
          <p:spPr>
            <a:xfrm>
              <a:off x="5534025" y="3978592"/>
              <a:ext cx="666750" cy="274320"/>
            </a:xfrm>
            <a:prstGeom prst="rect">
              <a:avLst/>
            </a:prstGeom>
            <a:noFill/>
            <a:ln>
              <a:noFill/>
            </a:ln>
          </p:spPr>
          <p:txBody>
            <a:bodyPr wrap="square" lIns="0" tIns="0" rIns="0" bIns="0" anchor="b" anchorCtr="0"/>
            <a:lstStyle/>
            <a:p>
              <a:pPr algn="l"/>
              <a:r>
                <a:rPr lang="en-US" sz="1350" b="1">
                  <a:solidFill>
                    <a:srgbClr val="003657"/>
                  </a:solidFill>
                  <a:latin typeface="Calibri"/>
                  <a:ea typeface="Microsoft YaHei"/>
                  <a:cs typeface="Calibri"/>
                </a:rPr>
                <a:t>+2.82</a:t>
              </a:r>
            </a:p>
          </p:txBody>
        </p:sp>
        <p:sp>
          <p:nvSpPr>
            <p:cNvPr id="13" name="Chart Note 13"/>
            <p:cNvSpPr txBox="1"/>
            <p:nvPr/>
          </p:nvSpPr>
          <p:spPr>
            <a:xfrm>
              <a:off x="6848475" y="4511992"/>
              <a:ext cx="666750" cy="274320"/>
            </a:xfrm>
            <a:prstGeom prst="rect">
              <a:avLst/>
            </a:prstGeom>
            <a:noFill/>
            <a:ln>
              <a:noFill/>
            </a:ln>
          </p:spPr>
          <p:txBody>
            <a:bodyPr wrap="square" lIns="0" tIns="0" rIns="0" bIns="0" anchor="b" anchorCtr="0"/>
            <a:lstStyle/>
            <a:p>
              <a:pPr algn="l"/>
              <a:r>
                <a:rPr lang="en-US" sz="1350" b="1">
                  <a:solidFill>
                    <a:srgbClr val="2E7D5B"/>
                  </a:solidFill>
                  <a:latin typeface="Calibri"/>
                  <a:ea typeface="Microsoft YaHei"/>
                  <a:cs typeface="Calibri"/>
                </a:rPr>
                <a:t>+19.29</a:t>
              </a:r>
            </a:p>
          </p:txBody>
        </p:sp>
      </p:grpSp>
      <p:grpSp>
        <p:nvGrpSpPr>
          <p:cNvPr id="19" name="callouts"/>
          <p:cNvGrpSpPr/>
          <p:nvPr/>
        </p:nvGrpSpPr>
        <p:grpSpPr>
          <a:xfrm>
            <a:off x="7994142" y="2597150"/>
            <a:ext cx="3078485" cy="2327783"/>
            <a:chOff x="7994142" y="2597150"/>
            <a:chExt cx="3078485" cy="2327783"/>
          </a:xfrm>
        </p:grpSpPr>
        <p:sp>
          <p:nvSpPr>
            <p:cNvPr id="15" name="TextBox 15"/>
            <p:cNvSpPr txBox="1"/>
            <p:nvPr/>
          </p:nvSpPr>
          <p:spPr>
            <a:xfrm>
              <a:off x="7994142" y="2597150"/>
              <a:ext cx="212336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New use of Alex's threshold</a:t>
              </a:r>
            </a:p>
          </p:txBody>
        </p:sp>
        <p:sp>
          <p:nvSpPr>
            <p:cNvPr id="16" name="TextBox 16"/>
            <p:cNvSpPr txBox="1"/>
            <p:nvPr/>
          </p:nvSpPr>
          <p:spPr>
            <a:xfrm>
              <a:off x="7994142" y="2832100"/>
              <a:ext cx="2754979" cy="11784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At 20% growth the extra $75m is worth</a:t>
              </a:r>
              <a:br>
                <a:rPr lang="en-US" sz="1350" dirty="0">
                  <a:solidFill>
                    <a:schemeClr val="dk1"/>
                  </a:solidFill>
                  <a:latin typeface="+mn-lt"/>
                  <a:ea typeface="+mn-ea"/>
                  <a:cs typeface="+mn-cs"/>
                </a:rPr>
              </a:br>
              <a:r>
                <a:rPr lang="en-US" sz="1350" dirty="0">
                  <a:solidFill>
                    <a:schemeClr val="dk1"/>
                  </a:solidFill>
                  <a:latin typeface="+mn-lt"/>
                  <a:ea typeface="+mn-ea"/>
                  <a:cs typeface="+mn-cs"/>
                </a:rPr>
                <a:t>+$2.82m; at 19% it is about zero</a:t>
              </a:r>
              <a:br>
                <a:rPr lang="en-US" sz="1350" dirty="0">
                  <a:solidFill>
                    <a:schemeClr val="dk1"/>
                  </a:solidFill>
                  <a:latin typeface="+mn-lt"/>
                  <a:ea typeface="+mn-ea"/>
                  <a:cs typeface="+mn-cs"/>
                </a:rPr>
              </a:br>
              <a:r>
                <a:rPr lang="en-US" sz="1350" dirty="0">
                  <a:solidFill>
                    <a:schemeClr val="dk1"/>
                  </a:solidFill>
                  <a:latin typeface="+mn-lt"/>
                  <a:ea typeface="+mn-ea"/>
                  <a:cs typeface="+mn-cs"/>
                </a:rPr>
                <a:t>(−$0.013m unrounded). The $2.84m</a:t>
              </a:r>
              <a:br>
                <a:rPr lang="en-US" sz="1350" dirty="0">
                  <a:solidFill>
                    <a:schemeClr val="dk1"/>
                  </a:solidFill>
                  <a:latin typeface="+mn-lt"/>
                  <a:ea typeface="+mn-ea"/>
                  <a:cs typeface="+mn-cs"/>
                </a:rPr>
              </a:br>
              <a:r>
                <a:rPr lang="en-US" sz="1350" dirty="0">
                  <a:solidFill>
                    <a:schemeClr val="dk1"/>
                  </a:solidFill>
                  <a:latin typeface="+mn-lt"/>
                  <a:ea typeface="+mn-ea"/>
                  <a:cs typeface="+mn-cs"/>
                </a:rPr>
                <a:t>decline is far larger than the ~$0.66m</a:t>
              </a:r>
              <a:br>
                <a:rPr lang="en-US" sz="1350" dirty="0">
                  <a:solidFill>
                    <a:schemeClr val="dk1"/>
                  </a:solidFill>
                  <a:latin typeface="+mn-lt"/>
                  <a:ea typeface="+mn-ea"/>
                  <a:cs typeface="+mn-cs"/>
                </a:rPr>
              </a:br>
              <a:r>
                <a:rPr lang="en-US" sz="1350" dirty="0">
                  <a:solidFill>
                    <a:schemeClr val="dk1"/>
                  </a:solidFill>
                  <a:latin typeface="+mn-lt"/>
                  <a:ea typeface="+mn-ea"/>
                  <a:cs typeface="+mn-cs"/>
                </a:rPr>
                <a:t>marginal benefit of the fee cut.</a:t>
              </a:r>
            </a:p>
          </p:txBody>
        </p:sp>
        <p:sp>
          <p:nvSpPr>
            <p:cNvPr id="17" name="TextBox 17"/>
            <p:cNvSpPr txBox="1"/>
            <p:nvPr/>
          </p:nvSpPr>
          <p:spPr>
            <a:xfrm>
              <a:off x="7994142" y="4197350"/>
              <a:ext cx="307848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Positive IRR can still mean negative NPV</a:t>
              </a:r>
            </a:p>
          </p:txBody>
        </p:sp>
        <p:sp>
          <p:nvSpPr>
            <p:cNvPr id="18" name="TextBox 18"/>
            <p:cNvSpPr txBox="1"/>
            <p:nvPr/>
          </p:nvSpPr>
          <p:spPr>
            <a:xfrm>
              <a:off x="7994142" y="4432300"/>
              <a:ext cx="270796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At 18% asset growth, LP IRR is 14.06%,</a:t>
              </a:r>
              <a:br>
                <a:rPr lang="en-US" sz="1350" dirty="0">
                  <a:solidFill>
                    <a:schemeClr val="dk1"/>
                  </a:solidFill>
                  <a:latin typeface="+mn-lt"/>
                  <a:ea typeface="+mn-ea"/>
                  <a:cs typeface="+mn-cs"/>
                </a:rPr>
              </a:br>
              <a:r>
                <a:rPr lang="en-US" sz="1350" dirty="0">
                  <a:solidFill>
                    <a:schemeClr val="dk1"/>
                  </a:solidFill>
                  <a:latin typeface="+mn-lt"/>
                  <a:ea typeface="+mn-ea"/>
                  <a:cs typeface="+mn-cs"/>
                </a:rPr>
                <a:t>below the assumed 15% discount rate.</a:t>
              </a:r>
            </a:p>
          </p:txBody>
        </p:sp>
      </p:grpSp>
      <p:sp>
        <p:nvSpPr>
          <p:cNvPr id="20" name="TextBox 20"/>
          <p:cNvSpPr txBox="1"/>
          <p:nvPr/>
        </p:nvSpPr>
        <p:spPr>
          <a:xfrm>
            <a:off x="604266" y="5588000"/>
            <a:ext cx="6688884"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All NPVs at model inception, discounted at 15%; scenarios are not forecasts or probability-weighted expected values.</a:t>
            </a:r>
          </a:p>
        </p:txBody>
      </p:sp>
      <p:grpSp>
        <p:nvGrpSpPr>
          <p:cNvPr id="22" name="hurdle-note"/>
          <p:cNvGrpSpPr/>
          <p:nvPr/>
        </p:nvGrpSpPr>
        <p:grpSpPr>
          <a:xfrm>
            <a:off x="602742" y="5892800"/>
            <a:ext cx="9693454" cy="264033"/>
            <a:chOff x="602742" y="5892800"/>
            <a:chExt cx="9693454" cy="264033"/>
          </a:xfrm>
        </p:grpSpPr>
        <p:sp>
          <p:nvSpPr>
            <p:cNvPr id="21" name="TextBox 21"/>
            <p:cNvSpPr txBox="1"/>
            <p:nvPr/>
          </p:nvSpPr>
          <p:spPr>
            <a:xfrm>
              <a:off x="602742" y="5892800"/>
              <a:ext cx="969345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At 10% growth either hurdle lifts the marginal NPV only to −$17.97m — still negative; better terms cannot rescue every weak case.</a:t>
              </a:r>
            </a:p>
          </p:txBody>
        </p:sp>
      </p:grpSp>
      <p:grpSp>
        <p:nvGrpSpPr>
          <p:cNvPr id="25" name="footer"/>
          <p:cNvGrpSpPr/>
          <p:nvPr/>
        </p:nvGrpSpPr>
        <p:grpSpPr>
          <a:xfrm>
            <a:off x="604266" y="6350000"/>
            <a:ext cx="10983468" cy="367284"/>
            <a:chOff x="604266" y="6350000"/>
            <a:chExt cx="10983468" cy="367284"/>
          </a:xfrm>
        </p:grpSpPr>
        <p:sp>
          <p:nvSpPr>
            <p:cNvPr id="23" name="TextBox 23"/>
            <p:cNvSpPr txBox="1"/>
            <p:nvPr/>
          </p:nvSpPr>
          <p:spPr>
            <a:xfrm>
              <a:off x="604266" y="6350000"/>
              <a:ext cx="8597008"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Q6 OPERF decision!D42, D44, D45, D47 (equivalently Engine!L62, L70, L72, L77 × 75 ÷ 20,000); Engine!K70 for the 18% IRR; Engine!L71:L72 for the 19%</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point (interpolated break-even about 19.0045%); Sensitivity!C38. A negative downside scenario alone does not establish a negative expected NPV.</a:t>
              </a:r>
            </a:p>
          </p:txBody>
        </p:sp>
        <p:sp>
          <p:nvSpPr>
            <p:cNvPr id="24" name="TextBox 2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6279019" cy="244475"/>
            <a:chOff x="603504" y="546100"/>
            <a:chExt cx="6279019" cy="244475"/>
          </a:xfrm>
        </p:grpSpPr>
        <p:sp>
          <p:nvSpPr>
            <p:cNvPr id="2" name="TextBox 2"/>
            <p:cNvSpPr txBox="1"/>
            <p:nvPr/>
          </p:nvSpPr>
          <p:spPr>
            <a:xfrm>
              <a:off x="603504" y="546100"/>
              <a:ext cx="627901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FROM EARLIER FINDINGS TO THIS DECISION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369948" cy="586740"/>
            <a:chOff x="594360" y="812800"/>
            <a:chExt cx="8369948" cy="586740"/>
          </a:xfrm>
        </p:grpSpPr>
        <p:sp>
          <p:nvSpPr>
            <p:cNvPr id="5" name="TextBox 5"/>
            <p:cNvSpPr txBox="1"/>
            <p:nvPr/>
          </p:nvSpPr>
          <p:spPr>
            <a:xfrm>
              <a:off x="594360" y="812800"/>
              <a:ext cx="836994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Apply the portfolio facts to the extra $75m</a:t>
              </a:r>
            </a:p>
          </p:txBody>
        </p:sp>
      </p:grpSp>
      <p:grpSp>
        <p:nvGrpSpPr>
          <p:cNvPr id="8" name="lead"/>
          <p:cNvGrpSpPr/>
          <p:nvPr/>
        </p:nvGrpSpPr>
        <p:grpSpPr>
          <a:xfrm>
            <a:off x="601218" y="1746250"/>
            <a:ext cx="7360716" cy="608457"/>
            <a:chOff x="601218" y="1746250"/>
            <a:chExt cx="7360716" cy="608457"/>
          </a:xfrm>
        </p:grpSpPr>
        <p:sp>
          <p:nvSpPr>
            <p:cNvPr id="7" name="TextBox 7"/>
            <p:cNvSpPr txBox="1"/>
            <p:nvPr/>
          </p:nvSpPr>
          <p:spPr>
            <a:xfrm>
              <a:off x="601218" y="1746250"/>
              <a:ext cx="736071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Positive modeled value is the economic case. Cash availability is a feasibility condition;</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allocation pressure requires a comparison with other uses of capacity.</a:t>
              </a:r>
            </a:p>
          </p:txBody>
        </p:sp>
      </p:grpSp>
      <p:graphicFrame>
        <p:nvGraphicFramePr>
          <p:cNvPr id="9" name="portfolio-checks-table"/>
          <p:cNvGraphicFramePr>
            <a:graphicFrameLocks noGrp="1"/>
          </p:cNvGraphicFramePr>
          <p:nvPr/>
        </p:nvGraphicFramePr>
        <p:xfrm>
          <a:off x="609600" y="2495550"/>
          <a:ext cx="10972800" cy="2857500"/>
        </p:xfrm>
        <a:graphic>
          <a:graphicData uri="http://schemas.openxmlformats.org/drawingml/2006/table">
            <a:tbl>
              <a:tblPr firstRow="1" bandRow="0">
                <a:tableStyleId>{5C22544A-7EE6-4342-B048-85BDC9FD1C3A}</a:tableStyleId>
              </a:tblPr>
              <a:tblGrid>
                <a:gridCol w="3200400"/>
                <a:gridCol w="7772400"/>
              </a:tblGrid>
              <a:tr h="381000">
                <a:tc>
                  <a:txBody>
                    <a:bodyPr/>
                    <a:lstStyle/>
                    <a:p>
                      <a:pPr/>
                      <a:r>
                        <a:rPr lang="en-US" sz="1350" b="1">
                          <a:solidFill>
                            <a:srgbClr val="FBF8F2"/>
                          </a:solidFill>
                          <a:latin typeface="Calibri"/>
                          <a:ea typeface="Microsoft YaHei"/>
                          <a:cs typeface="Calibri"/>
                        </a:rPr>
                        <a:t>Earlier finding</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350" b="1">
                          <a:solidFill>
                            <a:srgbClr val="FBF8F2"/>
                          </a:solidFill>
                          <a:latin typeface="Calibri"/>
                          <a:ea typeface="Microsoft YaHei"/>
                          <a:cs typeface="Calibri"/>
                        </a:rPr>
                        <a:t>What it means for retaining the extra $75m</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857250">
                <a:tc>
                  <a:txBody>
                    <a:bodyPr/>
                    <a:lstStyle/>
                    <a:p>
                      <a:pPr/>
                      <a:r>
                        <a:rPr lang="en-US" sz="1350" b="1">
                          <a:solidFill>
                            <a:schemeClr val="accent1"/>
                          </a:solidFill>
                          <a:latin typeface="Calibri"/>
                          <a:ea typeface="Microsoft YaHei"/>
                          <a:cs typeface="Calibri"/>
                        </a:rPr>
                        <a:t>PE is 21.9%, above the 16% target</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350" b="0">
                          <a:solidFill>
                            <a:schemeClr val="dk1"/>
                          </a:solidFill>
                          <a:latin typeface="Calibri"/>
                          <a:ea typeface="Microsoft YaHei"/>
                          <a:cs typeface="Calibri"/>
                        </a:rPr>
                        <a:t>Treat capacity for additional PE exposure as scarce. Compare the incremental TPG opportunity with other investments and with manager and asset-class concentration. A cut frees future capacity; it does not immediately reduce current PE NAV by $75m.</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857250">
                <a:tc>
                  <a:txBody>
                    <a:bodyPr/>
                    <a:lstStyle/>
                    <a:p>
                      <a:pPr/>
                      <a:r>
                        <a:rPr lang="en-US" sz="1350" b="1">
                          <a:solidFill>
                            <a:schemeClr val="accent1"/>
                          </a:solidFill>
                          <a:latin typeface="Calibri"/>
                          <a:ea typeface="Microsoft YaHei"/>
                          <a:cs typeface="Calibri"/>
                        </a:rPr>
                        <a:t>OPERF expects to meet TPG's calls</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350" b="0">
                          <a:solidFill>
                            <a:schemeClr val="dk1"/>
                          </a:solidFill>
                          <a:latin typeface="Calibri"/>
                          <a:ea typeface="Microsoft YaHei"/>
                          <a:cs typeface="Calibri"/>
                        </a:rPr>
                        <a:t>Funding is feasible on the case's expected-call statement. Separately stress pension payments and all-manager calls against weak distributions and falling liquid assets. Ability to pay does not make the investment attractive.</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r>
              <a:tr h="762000">
                <a:tc>
                  <a:txBody>
                    <a:bodyPr/>
                    <a:lstStyle/>
                    <a:p>
                      <a:pPr/>
                      <a:r>
                        <a:rPr lang="en-US" sz="1350" b="1">
                          <a:solidFill>
                            <a:schemeClr val="accent1"/>
                          </a:solidFill>
                          <a:latin typeface="Calibri"/>
                          <a:ea typeface="Microsoft YaHei"/>
                          <a:cs typeface="Calibri"/>
                        </a:rPr>
                        <a:t>The inception model gives +$2.82m marginal value</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350" b="0">
                          <a:solidFill>
                            <a:schemeClr val="dk1"/>
                          </a:solidFill>
                          <a:latin typeface="Calibri"/>
                          <a:ea typeface="Microsoft YaHei"/>
                          <a:cs typeface="Calibri"/>
                        </a:rPr>
                        <a:t>Validate actual future cash-flow differences under the cancellation terms and use a defensible opportunity-cost benchmark. Preserve the $79.9m already contributed and count only agreed compensation terms.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1" name="comparison"/>
          <p:cNvGrpSpPr/>
          <p:nvPr/>
        </p:nvGrpSpPr>
        <p:grpSpPr>
          <a:xfrm>
            <a:off x="602742" y="5454650"/>
            <a:ext cx="9203213" cy="473583"/>
            <a:chOff x="602742" y="5454650"/>
            <a:chExt cx="9203213" cy="473583"/>
          </a:xfrm>
        </p:grpSpPr>
        <p:sp>
          <p:nvSpPr>
            <p:cNvPr id="10" name="TextBox 10"/>
            <p:cNvSpPr txBox="1"/>
            <p:nvPr/>
          </p:nvSpPr>
          <p:spPr>
            <a:xfrm>
              <a:off x="602742" y="5454650"/>
              <a:ext cx="9203213" cy="473583"/>
            </a:xfrm>
            <a:prstGeom prst="rect">
              <a:avLst/>
            </a:prstGeom>
            <a:noFill/>
            <a:ln>
              <a:noFill/>
            </a:ln>
          </p:spPr>
          <p:txBody>
            <a:bodyPr wrap="none" lIns="0" tIns="0" rIns="0" bIns="0" anchor="t" anchorCtr="0">
              <a:spAutoFit/>
            </a:bodyPr>
            <a:lstStyle/>
            <a:p>
              <a:pPr algn="l">
                <a:lnSpc>
                  <a:spcPts val="1650"/>
                </a:lnSpc>
              </a:pPr>
              <a:r>
                <a:rPr lang="en-US" sz="1350" b="1" dirty="0">
                  <a:solidFill>
                    <a:schemeClr val="accent1"/>
                  </a:solidFill>
                  <a:latin typeface="+mn-lt"/>
                  <a:ea typeface="+mn-ea"/>
                  <a:cs typeface="+mn-cs"/>
                </a:rPr>
                <a:t xml:space="preserve">Comparison to complete: </a:t>
              </a:r>
              <a:r>
                <a:rPr lang="en-US" sz="1350" dirty="0">
                  <a:solidFill>
                    <a:schemeClr val="accent1"/>
                  </a:solidFill>
                  <a:latin typeface="+mn-lt"/>
                  <a:ea typeface="+mn-ea"/>
                  <a:cs typeface="+mn-cs"/>
                </a:rPr>
                <a:t>keeping versus taking the reduction and preserving flexibility or using capacity elsewhere, on a consistent</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valuation date and a defensible basis for risk, liquidity and timing — without implying a superior alternative has already been found.</a:t>
              </a:r>
            </a:p>
          </p:txBody>
        </p:sp>
      </p:grpSp>
      <p:grpSp>
        <p:nvGrpSpPr>
          <p:cNvPr id="14" name="limits-strip"/>
          <p:cNvGrpSpPr/>
          <p:nvPr/>
        </p:nvGrpSpPr>
        <p:grpSpPr>
          <a:xfrm>
            <a:off x="609600" y="5943600"/>
            <a:ext cx="10972800" cy="395859"/>
            <a:chOff x="609600" y="5943600"/>
            <a:chExt cx="10972800" cy="395859"/>
          </a:xfrm>
        </p:grpSpPr>
        <p:sp>
          <p:nvSpPr>
            <p:cNvPr id="12" name="Rectangle 12"/>
            <p:cNvSpPr/>
            <p:nvPr/>
          </p:nvSpPr>
          <p:spPr>
            <a:xfrm>
              <a:off x="609600" y="5943600"/>
              <a:ext cx="10972800" cy="381000"/>
            </a:xfrm>
            <a:prstGeom prst="rect">
              <a:avLst/>
            </a:prstGeom>
            <a:solidFill>
              <a:schemeClr val="lt2"/>
            </a:solidFill>
            <a:ln>
              <a:noFill/>
            </a:ln>
          </p:spPr>
        </p:sp>
        <p:sp>
          <p:nvSpPr>
            <p:cNvPr id="13" name="TextBox 13"/>
            <p:cNvSpPr txBox="1"/>
            <p:nvPr/>
          </p:nvSpPr>
          <p:spPr>
            <a:xfrm>
              <a:off x="718566" y="5981700"/>
              <a:ext cx="5779616" cy="357759"/>
            </a:xfrm>
            <a:prstGeom prst="rect">
              <a:avLst/>
            </a:prstGeom>
            <a:noFill/>
            <a:ln>
              <a:noFill/>
            </a:ln>
          </p:spPr>
          <p:txBody>
            <a:bodyPr wrap="none" lIns="0" tIns="0" rIns="0" bIns="0" anchor="t" anchorCtr="0">
              <a:spAutoFit/>
            </a:bodyPr>
            <a:lstStyle/>
            <a:p>
              <a:pPr algn="l">
                <a:lnSpc>
                  <a:spcPts val="1200"/>
                </a:lnSpc>
              </a:pPr>
              <a:r>
                <a:rPr lang="en-US" sz="1050" dirty="0">
                  <a:solidFill>
                    <a:schemeClr val="accent5"/>
                  </a:solidFill>
                  <a:latin typeface="+mn-lt"/>
                  <a:ea typeface="+mn-ea"/>
                  <a:cs typeface="+mn-cs"/>
                </a:rPr>
                <a:t>Limitations: 20% growth and 15% discounting are prescribed assumptions; deployment and exits are fixed;</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actual cancellation and waterfall terms remain unverified; the workbook starts at inception.</a:t>
              </a:r>
            </a:p>
          </p:txBody>
        </p:sp>
      </p:grpSp>
      <p:grpSp>
        <p:nvGrpSpPr>
          <p:cNvPr id="17" name="footer"/>
          <p:cNvGrpSpPr/>
          <p:nvPr/>
        </p:nvGrpSpPr>
        <p:grpSpPr>
          <a:xfrm>
            <a:off x="604266" y="6350000"/>
            <a:ext cx="10983468" cy="367284"/>
            <a:chOff x="604266" y="6350000"/>
            <a:chExt cx="10983468" cy="367284"/>
          </a:xfrm>
        </p:grpSpPr>
        <p:sp>
          <p:nvSpPr>
            <p:cNvPr id="15" name="TextBox 15"/>
            <p:cNvSpPr txBox="1"/>
            <p:nvPr/>
          </p:nvSpPr>
          <p:spPr>
            <a:xfrm>
              <a:off x="604266" y="6350000"/>
              <a:ext cx="9484239"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Inputs!C8:C9, C28, C34:C35; Guide!B28:B35; Q6 OPERF decision!B25:L28, C64:C71 (approximate $2.70bn PE overweight = (21.9% − 16%) × $45.8bn; the case's rounded</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$9.8bn does not reconcile exactly to 21.9%); Case pp. 4–6.</a:t>
              </a:r>
            </a:p>
          </p:txBody>
        </p:sp>
        <p:sp>
          <p:nvSpPr>
            <p:cNvPr id="16" name="TextBox 1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6384163" cy="244475"/>
            <a:chOff x="603504" y="546100"/>
            <a:chExt cx="6384163" cy="244475"/>
          </a:xfrm>
        </p:grpSpPr>
        <p:sp>
          <p:nvSpPr>
            <p:cNvPr id="2" name="TextBox 2"/>
            <p:cNvSpPr txBox="1"/>
            <p:nvPr/>
          </p:nvSpPr>
          <p:spPr>
            <a:xfrm>
              <a:off x="603504" y="546100"/>
              <a:ext cx="6384163"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COMMITMENT DECISION · ANSWER: DO NOT TAKE THE 10% REDUCTION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927903" cy="1043940"/>
            <a:chOff x="594360" y="812800"/>
            <a:chExt cx="5927903" cy="1043940"/>
          </a:xfrm>
        </p:grpSpPr>
        <p:sp>
          <p:nvSpPr>
            <p:cNvPr id="5" name="TextBox 5"/>
            <p:cNvSpPr txBox="1"/>
            <p:nvPr/>
          </p:nvSpPr>
          <p:spPr>
            <a:xfrm>
              <a:off x="594360" y="812800"/>
              <a:ext cx="5927903" cy="1043940"/>
            </a:xfrm>
            <a:prstGeom prst="rect">
              <a:avLst/>
            </a:prstGeom>
            <a:noFill/>
            <a:ln>
              <a:noFill/>
            </a:ln>
          </p:spPr>
          <p:txBody>
            <a:bodyPr wrap="none" lIns="0" tIns="0" rIns="0" bIns="0" anchor="t" anchorCtr="0">
              <a:spAutoFit/>
            </a:bodyPr>
            <a:lstStyle/>
            <a:p>
              <a:pPr algn="l">
                <a:lnSpc>
                  <a:spcPts val="3600"/>
                </a:lnSpc>
              </a:pPr>
              <a:r>
                <a:rPr lang="en-US" sz="3000" b="1" dirty="0">
                  <a:solidFill>
                    <a:srgbClr val="FBF8F2"/>
                  </a:solidFill>
                  <a:latin typeface="+mj-lt"/>
                  <a:ea typeface="+mj-ea"/>
                  <a:cs typeface="+mj-cs"/>
                </a:rPr>
                <a:t>Retain $750m in the base case;</a:t>
              </a:r>
              <a:br>
                <a:rPr lang="en-US" sz="3000" b="1" dirty="0">
                  <a:solidFill>
                    <a:srgbClr val="FBF8F2"/>
                  </a:solidFill>
                  <a:latin typeface="+mj-lt"/>
                  <a:ea typeface="+mj-ea"/>
                  <a:cs typeface="+mj-cs"/>
                </a:rPr>
              </a:br>
              <a:r>
                <a:rPr lang="en-US" sz="3000" b="1" dirty="0">
                  <a:solidFill>
                    <a:srgbClr val="FBF8F2"/>
                  </a:solidFill>
                  <a:latin typeface="+mj-lt"/>
                  <a:ea typeface="+mj-ea"/>
                  <a:cs typeface="+mj-cs"/>
                </a:rPr>
                <a:t>value drives the recommendation</a:t>
              </a:r>
            </a:p>
          </p:txBody>
        </p:sp>
      </p:grpSp>
      <p:grpSp>
        <p:nvGrpSpPr>
          <p:cNvPr id="8" name="lead"/>
          <p:cNvGrpSpPr/>
          <p:nvPr/>
        </p:nvGrpSpPr>
        <p:grpSpPr>
          <a:xfrm>
            <a:off x="601218" y="1746250"/>
            <a:ext cx="8496624" cy="608457"/>
            <a:chOff x="601218" y="1746250"/>
            <a:chExt cx="8496624" cy="608457"/>
          </a:xfrm>
        </p:grpSpPr>
        <p:sp>
          <p:nvSpPr>
            <p:cNvPr id="7" name="TextBox 7"/>
            <p:cNvSpPr txBox="1"/>
            <p:nvPr/>
          </p:nvSpPr>
          <p:spPr>
            <a:xfrm>
              <a:off x="601218" y="1746250"/>
              <a:ext cx="8496624" cy="608457"/>
            </a:xfrm>
            <a:prstGeom prst="rect">
              <a:avLst/>
            </a:prstGeom>
            <a:noFill/>
            <a:ln>
              <a:noFill/>
            </a:ln>
          </p:spPr>
          <p:txBody>
            <a:bodyPr wrap="none" lIns="0" tIns="0" rIns="0" bIns="0" anchor="t" anchorCtr="0">
              <a:spAutoFit/>
            </a:bodyPr>
            <a:lstStyle/>
            <a:p>
              <a:pPr algn="l">
                <a:lnSpc>
                  <a:spcPts val="2250"/>
                </a:lnSpc>
              </a:pPr>
              <a:r>
                <a:rPr lang="en-US" sz="1650" dirty="0">
                  <a:solidFill>
                    <a:srgbClr val="FBF8F2"/>
                  </a:solidFill>
                  <a:latin typeface="+mn-lt"/>
                  <a:ea typeface="+mn-ea"/>
                  <a:cs typeface="+mn-cs"/>
                </a:rPr>
                <a:t>Keeping the additional obligation creates +$2.82m of modeled NPV under the prescribed base case.</a:t>
              </a:r>
              <a:br>
                <a:rPr lang="en-US" sz="1650" dirty="0">
                  <a:solidFill>
                    <a:srgbClr val="FBF8F2"/>
                  </a:solidFill>
                  <a:latin typeface="+mn-lt"/>
                  <a:ea typeface="+mn-ea"/>
                  <a:cs typeface="+mn-cs"/>
                </a:rPr>
              </a:br>
              <a:r>
                <a:rPr lang="en-US" sz="1650" dirty="0">
                  <a:solidFill>
                    <a:srgbClr val="FBF8F2"/>
                  </a:solidFill>
                  <a:latin typeface="+mn-lt"/>
                  <a:ea typeface="+mn-ea"/>
                  <a:cs typeface="+mn-cs"/>
                </a:rPr>
                <a:t>Funding ability is a separate feasibility condition.</a:t>
              </a:r>
            </a:p>
          </p:txBody>
        </p:sp>
      </p:grpSp>
      <p:grpSp>
        <p:nvGrpSpPr>
          <p:cNvPr id="13" name="panel-economic"/>
          <p:cNvGrpSpPr/>
          <p:nvPr/>
        </p:nvGrpSpPr>
        <p:grpSpPr>
          <a:xfrm>
            <a:off x="590550" y="2546350"/>
            <a:ext cx="4795613" cy="1930146"/>
            <a:chOff x="590550" y="2546350"/>
            <a:chExt cx="4795613" cy="1930146"/>
          </a:xfrm>
        </p:grpSpPr>
        <p:sp>
          <p:nvSpPr>
            <p:cNvPr id="9" name="TextBox 9"/>
            <p:cNvSpPr txBox="1"/>
            <p:nvPr/>
          </p:nvSpPr>
          <p:spPr>
            <a:xfrm>
              <a:off x="603504" y="2546350"/>
              <a:ext cx="174278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ECONOMIC REASON</a:t>
              </a:r>
            </a:p>
          </p:txBody>
        </p:sp>
        <p:sp>
          <p:nvSpPr>
            <p:cNvPr id="10" name="TextBox 10"/>
            <p:cNvSpPr txBox="1"/>
            <p:nvPr/>
          </p:nvSpPr>
          <p:spPr>
            <a:xfrm>
              <a:off x="590550" y="2679700"/>
              <a:ext cx="3136753" cy="1047750"/>
            </a:xfrm>
            <a:prstGeom prst="rect">
              <a:avLst/>
            </a:prstGeom>
            <a:noFill/>
            <a:ln>
              <a:noFill/>
            </a:ln>
          </p:spPr>
          <p:txBody>
            <a:bodyPr wrap="none" lIns="0" tIns="0" rIns="0" bIns="0" anchor="t" anchorCtr="0">
              <a:spAutoFit/>
            </a:bodyPr>
            <a:lstStyle/>
            <a:p>
              <a:pPr algn="l"/>
              <a:r>
                <a:rPr lang="en-US" sz="5400" b="1" dirty="0">
                  <a:solidFill>
                    <a:srgbClr val="FBF8F2"/>
                  </a:solidFill>
                  <a:latin typeface="+mj-lt"/>
                  <a:ea typeface="+mj-ea"/>
                  <a:cs typeface="+mj-cs"/>
                </a:rPr>
                <a:t>+$2.82m</a:t>
              </a:r>
            </a:p>
          </p:txBody>
        </p:sp>
        <p:sp>
          <p:nvSpPr>
            <p:cNvPr id="11" name="TextBox 11"/>
            <p:cNvSpPr txBox="1"/>
            <p:nvPr/>
          </p:nvSpPr>
          <p:spPr>
            <a:xfrm>
              <a:off x="602742" y="3479800"/>
              <a:ext cx="4783421" cy="492633"/>
            </a:xfrm>
            <a:prstGeom prst="rect">
              <a:avLst/>
            </a:prstGeom>
            <a:noFill/>
            <a:ln>
              <a:noFill/>
            </a:ln>
          </p:spPr>
          <p:txBody>
            <a:bodyPr wrap="none" lIns="0" tIns="0" rIns="0" bIns="0" anchor="t" anchorCtr="0">
              <a:spAutoFit/>
            </a:bodyPr>
            <a:lstStyle/>
            <a:p>
              <a:pPr algn="l">
                <a:lnSpc>
                  <a:spcPts val="1800"/>
                </a:lnSpc>
              </a:pPr>
              <a:r>
                <a:rPr lang="en-US" sz="1350" dirty="0">
                  <a:solidFill>
                    <a:srgbClr val="FBF8F2"/>
                  </a:solidFill>
                  <a:latin typeface="+mn-lt"/>
                  <a:ea typeface="+mn-ea"/>
                  <a:cs typeface="+mn-cs"/>
                </a:rPr>
                <a:t>Marginal inception NPV: retain-model NPV $28.24m versus $25.41m</a:t>
              </a:r>
              <a:br>
                <a:rPr lang="en-US" sz="1350" dirty="0">
                  <a:solidFill>
                    <a:srgbClr val="FBF8F2"/>
                  </a:solidFill>
                  <a:latin typeface="+mn-lt"/>
                  <a:ea typeface="+mn-ea"/>
                  <a:cs typeface="+mn-cs"/>
                </a:rPr>
              </a:br>
              <a:r>
                <a:rPr lang="en-US" sz="1350" dirty="0">
                  <a:solidFill>
                    <a:srgbClr val="FBF8F2"/>
                  </a:solidFill>
                  <a:latin typeface="+mn-lt"/>
                  <a:ea typeface="+mn-ea"/>
                  <a:cs typeface="+mn-cs"/>
                </a:rPr>
                <a:t>for a hypothetical smaller inception commitment.</a:t>
              </a:r>
            </a:p>
          </p:txBody>
        </p:sp>
        <p:sp>
          <p:nvSpPr>
            <p:cNvPr id="12" name="TextBox 12"/>
            <p:cNvSpPr txBox="1"/>
            <p:nvPr/>
          </p:nvSpPr>
          <p:spPr>
            <a:xfrm>
              <a:off x="603504" y="4051300"/>
              <a:ext cx="4305574"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LP IRR 15.94% against the 15% discount rate is the same model result</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expressed differently, not independent evidence.</a:t>
              </a:r>
            </a:p>
          </p:txBody>
        </p:sp>
      </p:grpSp>
      <p:grpSp>
        <p:nvGrpSpPr>
          <p:cNvPr id="15" name="panel-rule"/>
          <p:cNvGrpSpPr/>
          <p:nvPr/>
        </p:nvGrpSpPr>
        <p:grpSpPr>
          <a:xfrm>
            <a:off x="6096000" y="2495550"/>
            <a:ext cx="9525" cy="1943100"/>
            <a:chOff x="6096000" y="2495550"/>
            <a:chExt cx="9525" cy="1943100"/>
          </a:xfrm>
        </p:grpSpPr>
        <p:sp>
          <p:nvSpPr>
            <p:cNvPr id="14" name="Line 14"/>
            <p:cNvSpPr/>
            <p:nvPr/>
          </p:nvSpPr>
          <p:spPr>
            <a:xfrm>
              <a:off x="6096000" y="2495550"/>
              <a:ext cx="9525" cy="1943100"/>
            </a:xfrm>
            <a:custGeom>
              <a:avLst/>
              <a:gdLst/>
              <a:ahLst/>
              <a:cxnLst/>
              <a:rect l="l" t="t" r="r" b="b"/>
              <a:pathLst>
                <a:path w="9525" h="1943100">
                  <a:moveTo>
                    <a:pt x="0" y="0"/>
                  </a:moveTo>
                  <a:lnTo>
                    <a:pt x="0" y="1943100"/>
                  </a:lnTo>
                </a:path>
              </a:pathLst>
            </a:custGeom>
            <a:noFill/>
            <a:ln w="19050">
              <a:solidFill>
                <a:schemeClr val="accent3"/>
              </a:solidFill>
            </a:ln>
          </p:spPr>
        </p:sp>
      </p:grpSp>
      <p:grpSp>
        <p:nvGrpSpPr>
          <p:cNvPr id="20" name="panel-cushion"/>
          <p:cNvGrpSpPr/>
          <p:nvPr/>
        </p:nvGrpSpPr>
        <p:grpSpPr>
          <a:xfrm>
            <a:off x="6229350" y="2546350"/>
            <a:ext cx="4645354" cy="1930146"/>
            <a:chOff x="6229350" y="2546350"/>
            <a:chExt cx="4645354" cy="1930146"/>
          </a:xfrm>
        </p:grpSpPr>
        <p:sp>
          <p:nvSpPr>
            <p:cNvPr id="16" name="TextBox 16"/>
            <p:cNvSpPr txBox="1"/>
            <p:nvPr/>
          </p:nvSpPr>
          <p:spPr>
            <a:xfrm>
              <a:off x="6242304" y="2546350"/>
              <a:ext cx="160075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LIMITED CUSHION</a:t>
              </a:r>
            </a:p>
          </p:txBody>
        </p:sp>
        <p:sp>
          <p:nvSpPr>
            <p:cNvPr id="17" name="TextBox 17"/>
            <p:cNvSpPr txBox="1"/>
            <p:nvPr/>
          </p:nvSpPr>
          <p:spPr>
            <a:xfrm>
              <a:off x="6229350" y="2679700"/>
              <a:ext cx="3136753" cy="1047750"/>
            </a:xfrm>
            <a:prstGeom prst="rect">
              <a:avLst/>
            </a:prstGeom>
            <a:noFill/>
            <a:ln>
              <a:noFill/>
            </a:ln>
          </p:spPr>
          <p:txBody>
            <a:bodyPr wrap="none" lIns="0" tIns="0" rIns="0" bIns="0" anchor="t" anchorCtr="0">
              <a:spAutoFit/>
            </a:bodyPr>
            <a:lstStyle/>
            <a:p>
              <a:pPr algn="l"/>
              <a:r>
                <a:rPr lang="en-US" sz="5400" b="1" dirty="0">
                  <a:solidFill>
                    <a:srgbClr val="FBF8F2"/>
                  </a:solidFill>
                  <a:latin typeface="+mj-lt"/>
                  <a:ea typeface="+mj-ea"/>
                  <a:cs typeface="+mj-cs"/>
                </a:rPr>
                <a:t>−$2.84m</a:t>
              </a:r>
            </a:p>
          </p:txBody>
        </p:sp>
        <p:sp>
          <p:nvSpPr>
            <p:cNvPr id="18" name="TextBox 18"/>
            <p:cNvSpPr txBox="1"/>
            <p:nvPr/>
          </p:nvSpPr>
          <p:spPr>
            <a:xfrm>
              <a:off x="6241542" y="3479800"/>
              <a:ext cx="4633162" cy="492633"/>
            </a:xfrm>
            <a:prstGeom prst="rect">
              <a:avLst/>
            </a:prstGeom>
            <a:noFill/>
            <a:ln>
              <a:noFill/>
            </a:ln>
          </p:spPr>
          <p:txBody>
            <a:bodyPr wrap="none" lIns="0" tIns="0" rIns="0" bIns="0" anchor="t" anchorCtr="0">
              <a:spAutoFit/>
            </a:bodyPr>
            <a:lstStyle/>
            <a:p>
              <a:pPr algn="l">
                <a:lnSpc>
                  <a:spcPts val="1800"/>
                </a:lnSpc>
              </a:pPr>
              <a:r>
                <a:rPr lang="en-US" sz="1350" dirty="0">
                  <a:solidFill>
                    <a:srgbClr val="FBF8F2"/>
                  </a:solidFill>
                  <a:latin typeface="+mn-lt"/>
                  <a:ea typeface="+mn-ea"/>
                  <a:cs typeface="+mn-cs"/>
                </a:rPr>
                <a:t>Moving annual asset growth from 20% to 19% removes essentially</a:t>
              </a:r>
              <a:br>
                <a:rPr lang="en-US" sz="1350" dirty="0">
                  <a:solidFill>
                    <a:srgbClr val="FBF8F2"/>
                  </a:solidFill>
                  <a:latin typeface="+mn-lt"/>
                  <a:ea typeface="+mn-ea"/>
                  <a:cs typeface="+mn-cs"/>
                </a:rPr>
              </a:br>
              <a:r>
                <a:rPr lang="en-US" sz="1350" dirty="0">
                  <a:solidFill>
                    <a:srgbClr val="FBF8F2"/>
                  </a:solidFill>
                  <a:latin typeface="+mn-lt"/>
                  <a:ea typeface="+mn-ea"/>
                  <a:cs typeface="+mn-cs"/>
                </a:rPr>
                <a:t>all of the marginal value.</a:t>
              </a:r>
            </a:p>
          </p:txBody>
        </p:sp>
        <p:sp>
          <p:nvSpPr>
            <p:cNvPr id="19" name="TextBox 19"/>
            <p:cNvSpPr txBox="1"/>
            <p:nvPr/>
          </p:nvSpPr>
          <p:spPr>
            <a:xfrm>
              <a:off x="6242304" y="4051300"/>
              <a:ext cx="3287527"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The retain answer needs a defensible outlook and an</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opportunity-cost benchmark.</a:t>
              </a:r>
            </a:p>
          </p:txBody>
        </p:sp>
      </p:grpSp>
      <p:grpSp>
        <p:nvGrpSpPr>
          <p:cNvPr id="23" name="feasibility-strip"/>
          <p:cNvGrpSpPr/>
          <p:nvPr/>
        </p:nvGrpSpPr>
        <p:grpSpPr>
          <a:xfrm>
            <a:off x="602742" y="4438650"/>
            <a:ext cx="10979658" cy="518033"/>
            <a:chOff x="602742" y="4438650"/>
            <a:chExt cx="10979658" cy="518033"/>
          </a:xfrm>
        </p:grpSpPr>
        <p:sp>
          <p:nvSpPr>
            <p:cNvPr id="21" name="Line 21"/>
            <p:cNvSpPr/>
            <p:nvPr/>
          </p:nvSpPr>
          <p:spPr>
            <a:xfrm>
              <a:off x="609600" y="44386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22" name="TextBox 22"/>
            <p:cNvSpPr txBox="1"/>
            <p:nvPr/>
          </p:nvSpPr>
          <p:spPr>
            <a:xfrm>
              <a:off x="602742" y="4483100"/>
              <a:ext cx="8481031" cy="473583"/>
            </a:xfrm>
            <a:prstGeom prst="rect">
              <a:avLst/>
            </a:prstGeom>
            <a:noFill/>
            <a:ln>
              <a:noFill/>
            </a:ln>
          </p:spPr>
          <p:txBody>
            <a:bodyPr wrap="none" lIns="0" tIns="0" rIns="0" bIns="0" anchor="t" anchorCtr="0">
              <a:spAutoFit/>
            </a:bodyPr>
            <a:lstStyle/>
            <a:p>
              <a:pPr algn="l">
                <a:lnSpc>
                  <a:spcPts val="1650"/>
                </a:lnSpc>
              </a:pPr>
              <a:r>
                <a:rPr lang="en-US" sz="1350" b="1" dirty="0">
                  <a:solidFill>
                    <a:schemeClr val="accent3"/>
                  </a:solidFill>
                  <a:latin typeface="+mn-lt"/>
                  <a:ea typeface="+mn-ea"/>
                  <a:cs typeface="+mn-cs"/>
                </a:rPr>
                <a:t xml:space="preserve">Feasibility condition: </a:t>
              </a:r>
              <a:r>
                <a:rPr lang="en-US" sz="1350" dirty="0">
                  <a:solidFill>
                    <a:srgbClr val="FBF8F2"/>
                  </a:solidFill>
                  <a:latin typeface="+mn-lt"/>
                  <a:ea typeface="+mn-ea"/>
                  <a:cs typeface="+mn-cs"/>
                </a:rPr>
                <a:t>test pension payments, aggregate calls, liquid assets and concentration; meeting expected TPG calls</a:t>
              </a:r>
              <a:br>
                <a:rPr lang="en-US" sz="1350" dirty="0">
                  <a:solidFill>
                    <a:srgbClr val="FBF8F2"/>
                  </a:solidFill>
                  <a:latin typeface="+mn-lt"/>
                  <a:ea typeface="+mn-ea"/>
                  <a:cs typeface="+mn-cs"/>
                </a:rPr>
              </a:br>
              <a:r>
                <a:rPr lang="en-US" sz="1350" dirty="0">
                  <a:solidFill>
                    <a:srgbClr val="FBF8F2"/>
                  </a:solidFill>
                  <a:latin typeface="+mn-lt"/>
                  <a:ea typeface="+mn-ea"/>
                  <a:cs typeface="+mn-cs"/>
                </a:rPr>
                <a:t>is neither a full stress test nor an economic reason to retain.</a:t>
              </a:r>
            </a:p>
          </p:txBody>
        </p:sp>
      </p:grpSp>
      <p:grpSp>
        <p:nvGrpSpPr>
          <p:cNvPr id="29" name="rule-retain"/>
          <p:cNvGrpSpPr/>
          <p:nvPr/>
        </p:nvGrpSpPr>
        <p:grpSpPr>
          <a:xfrm>
            <a:off x="603504" y="5067300"/>
            <a:ext cx="4604431" cy="971296"/>
            <a:chOff x="603504" y="5067300"/>
            <a:chExt cx="4604431" cy="971296"/>
          </a:xfrm>
        </p:grpSpPr>
        <p:grpSp>
          <p:nvGrpSpPr>
            <p:cNvPr id="26" name="Group 26"/>
            <p:cNvGrpSpPr/>
            <p:nvPr/>
          </p:nvGrpSpPr>
          <p:grpSpPr>
            <a:xfrm>
              <a:off x="647700" y="5067300"/>
              <a:ext cx="228599" cy="228599"/>
              <a:chOff x="647700" y="5067300"/>
              <a:chExt cx="228599" cy="228599"/>
            </a:xfrm>
          </p:grpSpPr>
          <p:sp>
            <p:nvSpPr>
              <p:cNvPr id="24" name="Freeform 24"/>
              <p:cNvSpPr/>
              <p:nvPr/>
            </p:nvSpPr>
            <p:spPr>
              <a:xfrm>
                <a:off x="647700" y="50673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3"/>
                </a:solidFill>
              </a:ln>
            </p:spPr>
          </p:sp>
          <p:sp>
            <p:nvSpPr>
              <p:cNvPr id="25" name="Freeform 25"/>
              <p:cNvSpPr/>
              <p:nvPr/>
            </p:nvSpPr>
            <p:spPr>
              <a:xfrm>
                <a:off x="723900" y="5156200"/>
                <a:ext cx="76200" cy="50800"/>
              </a:xfrm>
              <a:custGeom>
                <a:avLst/>
                <a:gdLst/>
                <a:ahLst/>
                <a:cxnLst/>
                <a:rect l="l" t="t" r="r" b="b"/>
                <a:pathLst>
                  <a:path w="76200" h="50800">
                    <a:moveTo>
                      <a:pt x="0" y="25400"/>
                    </a:moveTo>
                    <a:lnTo>
                      <a:pt x="25400" y="50800"/>
                    </a:lnTo>
                    <a:lnTo>
                      <a:pt x="76200" y="0"/>
                    </a:lnTo>
                  </a:path>
                </a:pathLst>
              </a:custGeom>
              <a:noFill/>
              <a:ln w="25400">
                <a:solidFill>
                  <a:schemeClr val="accent3"/>
                </a:solidFill>
              </a:ln>
            </p:spPr>
          </p:sp>
        </p:grpSp>
        <p:sp>
          <p:nvSpPr>
            <p:cNvPr id="27" name="TextBox 27"/>
            <p:cNvSpPr txBox="1"/>
            <p:nvPr/>
          </p:nvSpPr>
          <p:spPr>
            <a:xfrm>
              <a:off x="1021080" y="5080000"/>
              <a:ext cx="1078693"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Retain when</a:t>
              </a:r>
            </a:p>
          </p:txBody>
        </p:sp>
        <p:sp>
          <p:nvSpPr>
            <p:cNvPr id="28" name="TextBox 28"/>
            <p:cNvSpPr txBox="1"/>
            <p:nvPr/>
          </p:nvSpPr>
          <p:spPr>
            <a:xfrm>
              <a:off x="603504" y="5422900"/>
              <a:ext cx="4604431" cy="6156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the actual forward marginal investment is attractive relative to alternative</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uses of capacity, on the terms actually available, and liquidity and</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concentration constraints are acceptable.</a:t>
              </a:r>
            </a:p>
          </p:txBody>
        </p:sp>
      </p:grpSp>
      <p:grpSp>
        <p:nvGrpSpPr>
          <p:cNvPr id="35" name="rule-reduce"/>
          <p:cNvGrpSpPr/>
          <p:nvPr/>
        </p:nvGrpSpPr>
        <p:grpSpPr>
          <a:xfrm>
            <a:off x="6242304" y="5067300"/>
            <a:ext cx="4706539" cy="971296"/>
            <a:chOff x="6242304" y="5067300"/>
            <a:chExt cx="4706539" cy="971296"/>
          </a:xfrm>
        </p:grpSpPr>
        <p:grpSp>
          <p:nvGrpSpPr>
            <p:cNvPr id="32" name="Group 32"/>
            <p:cNvGrpSpPr/>
            <p:nvPr/>
          </p:nvGrpSpPr>
          <p:grpSpPr>
            <a:xfrm>
              <a:off x="6286500" y="5067300"/>
              <a:ext cx="228599" cy="228599"/>
              <a:chOff x="6286500" y="5067300"/>
              <a:chExt cx="228599" cy="228599"/>
            </a:xfrm>
          </p:grpSpPr>
          <p:sp>
            <p:nvSpPr>
              <p:cNvPr id="30" name="Freeform 30"/>
              <p:cNvSpPr/>
              <p:nvPr/>
            </p:nvSpPr>
            <p:spPr>
              <a:xfrm>
                <a:off x="6286500" y="50673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3"/>
                </a:solidFill>
              </a:ln>
            </p:spPr>
          </p:sp>
          <p:sp>
            <p:nvSpPr>
              <p:cNvPr id="31" name="Freeform 31"/>
              <p:cNvSpPr/>
              <p:nvPr/>
            </p:nvSpPr>
            <p:spPr>
              <a:xfrm>
                <a:off x="6375400" y="5156200"/>
                <a:ext cx="50800" cy="50800"/>
              </a:xfrm>
              <a:custGeom>
                <a:avLst/>
                <a:gdLst/>
                <a:ahLst/>
                <a:cxnLst/>
                <a:rect l="l" t="t" r="r" b="b"/>
                <a:pathLst>
                  <a:path w="50800" h="50800">
                    <a:moveTo>
                      <a:pt x="0" y="0"/>
                    </a:moveTo>
                    <a:lnTo>
                      <a:pt x="50800" y="50800"/>
                    </a:lnTo>
                    <a:moveTo>
                      <a:pt x="50800" y="0"/>
                    </a:moveTo>
                    <a:lnTo>
                      <a:pt x="0" y="50800"/>
                    </a:lnTo>
                  </a:path>
                </a:pathLst>
              </a:custGeom>
              <a:noFill/>
              <a:ln w="25400">
                <a:solidFill>
                  <a:schemeClr val="accent3"/>
                </a:solidFill>
              </a:ln>
            </p:spPr>
          </p:sp>
        </p:grpSp>
        <p:sp>
          <p:nvSpPr>
            <p:cNvPr id="33" name="TextBox 33"/>
            <p:cNvSpPr txBox="1"/>
            <p:nvPr/>
          </p:nvSpPr>
          <p:spPr>
            <a:xfrm>
              <a:off x="6659880" y="5080000"/>
              <a:ext cx="2430956"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Use the 10% reduction when</a:t>
              </a:r>
            </a:p>
          </p:txBody>
        </p:sp>
        <p:sp>
          <p:nvSpPr>
            <p:cNvPr id="34" name="TextBox 34"/>
            <p:cNvSpPr txBox="1"/>
            <p:nvPr/>
          </p:nvSpPr>
          <p:spPr>
            <a:xfrm>
              <a:off x="6242304" y="5422900"/>
              <a:ext cx="4706539" cy="6156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forward incremental NPV is negative, superior alternatives or concentration</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constraints make the extra exposure unattractive, or liquidity pressure is</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unacceptable.</a:t>
              </a:r>
            </a:p>
          </p:txBody>
        </p:sp>
      </p:grpSp>
      <p:grpSp>
        <p:nvGrpSpPr>
          <p:cNvPr id="38" name="closing-strip"/>
          <p:cNvGrpSpPr/>
          <p:nvPr/>
        </p:nvGrpSpPr>
        <p:grpSpPr>
          <a:xfrm>
            <a:off x="602742" y="6038850"/>
            <a:ext cx="10979658" cy="318008"/>
            <a:chOff x="602742" y="6038850"/>
            <a:chExt cx="10979658" cy="318008"/>
          </a:xfrm>
        </p:grpSpPr>
        <p:sp>
          <p:nvSpPr>
            <p:cNvPr id="36" name="Line 36"/>
            <p:cNvSpPr/>
            <p:nvPr/>
          </p:nvSpPr>
          <p:spPr>
            <a:xfrm>
              <a:off x="609600" y="60388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37" name="TextBox 37"/>
            <p:cNvSpPr txBox="1"/>
            <p:nvPr/>
          </p:nvSpPr>
          <p:spPr>
            <a:xfrm>
              <a:off x="602742" y="6092825"/>
              <a:ext cx="85356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Accept the 1.35% fee cut either way. Follow the Q5 negotiating order without counting unagreed improvements.</a:t>
              </a:r>
            </a:p>
          </p:txBody>
        </p:sp>
      </p:grpSp>
      <p:grpSp>
        <p:nvGrpSpPr>
          <p:cNvPr id="41" name="footer"/>
          <p:cNvGrpSpPr/>
          <p:nvPr/>
        </p:nvGrpSpPr>
        <p:grpSpPr>
          <a:xfrm>
            <a:off x="604266" y="6350000"/>
            <a:ext cx="10983468" cy="367284"/>
            <a:chOff x="604266" y="6350000"/>
            <a:chExt cx="10983468" cy="367284"/>
          </a:xfrm>
        </p:grpSpPr>
        <p:sp>
          <p:nvSpPr>
            <p:cNvPr id="39" name="TextBox 39"/>
            <p:cNvSpPr txBox="1"/>
            <p:nvPr/>
          </p:nvSpPr>
          <p:spPr>
            <a:xfrm>
              <a:off x="604266" y="6350000"/>
              <a:ext cx="951916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6"/>
                  </a:solidFill>
                  <a:latin typeface="+mn-lt"/>
                  <a:ea typeface="+mn-ea"/>
                  <a:cs typeface="+mn-cs"/>
                </a:rPr>
                <a:t>Source: Q6 OPERF decision!B20:D21; Summary!C11; Engine!L71:L72 × 75 ÷ 20,000; Inputs!C9; Case pp. 5–6. The workbook's −$2.82m measures the change caused by reducing;</a:t>
              </a:r>
              <a:br>
                <a:rPr lang="en-US" sz="1050" dirty="0">
                  <a:solidFill>
                    <a:schemeClr val="accent6"/>
                  </a:solidFill>
                  <a:latin typeface="+mn-lt"/>
                  <a:ea typeface="+mn-ea"/>
                  <a:cs typeface="+mn-cs"/>
                </a:rPr>
              </a:br>
              <a:r>
                <a:rPr lang="en-US" sz="1050" dirty="0">
                  <a:solidFill>
                    <a:schemeClr val="accent6"/>
                  </a:solidFill>
                  <a:latin typeface="+mn-lt"/>
                  <a:ea typeface="+mn-ea"/>
                  <a:cs typeface="+mn-cs"/>
                </a:rPr>
                <a:t>keeping has +$2.82m. All NPVs at model inception.</a:t>
              </a:r>
            </a:p>
          </p:txBody>
        </p:sp>
        <p:sp>
          <p:nvSpPr>
            <p:cNvPr id="40" name="TextBox 4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316190" cy="244475"/>
            <a:chOff x="603504" y="546100"/>
            <a:chExt cx="2316190" cy="244475"/>
          </a:xfrm>
        </p:grpSpPr>
        <p:sp>
          <p:nvSpPr>
            <p:cNvPr id="2" name="TextBox 2"/>
            <p:cNvSpPr txBox="1"/>
            <p:nvPr/>
          </p:nvSpPr>
          <p:spPr>
            <a:xfrm>
              <a:off x="603504" y="546100"/>
              <a:ext cx="231619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FINAL RECOMMENDATION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225186" cy="1043940"/>
            <a:chOff x="594360" y="812800"/>
            <a:chExt cx="5225186" cy="1043940"/>
          </a:xfrm>
        </p:grpSpPr>
        <p:sp>
          <p:nvSpPr>
            <p:cNvPr id="5" name="TextBox 5"/>
            <p:cNvSpPr txBox="1"/>
            <p:nvPr/>
          </p:nvSpPr>
          <p:spPr>
            <a:xfrm>
              <a:off x="594360" y="812800"/>
              <a:ext cx="522518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State the negotiating order</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the commitment decision</a:t>
              </a:r>
            </a:p>
          </p:txBody>
        </p:sp>
      </p:grpSp>
      <p:grpSp>
        <p:nvGrpSpPr>
          <p:cNvPr id="8" name="takeaway"/>
          <p:cNvGrpSpPr/>
          <p:nvPr/>
        </p:nvGrpSpPr>
        <p:grpSpPr>
          <a:xfrm>
            <a:off x="601218" y="1746250"/>
            <a:ext cx="8350337" cy="608457"/>
            <a:chOff x="601218" y="1746250"/>
            <a:chExt cx="8350337" cy="608457"/>
          </a:xfrm>
        </p:grpSpPr>
        <p:sp>
          <p:nvSpPr>
            <p:cNvPr id="7" name="TextBox 7"/>
            <p:cNvSpPr txBox="1"/>
            <p:nvPr/>
          </p:nvSpPr>
          <p:spPr>
            <a:xfrm>
              <a:off x="601218" y="1746250"/>
              <a:ext cx="8350337" cy="608457"/>
            </a:xfrm>
            <a:prstGeom prst="rect">
              <a:avLst/>
            </a:prstGeom>
            <a:noFill/>
            <a:ln>
              <a:noFill/>
            </a:ln>
          </p:spPr>
          <p:txBody>
            <a:bodyPr wrap="none" lIns="0" tIns="0" rIns="0" bIns="0" anchor="t" anchorCtr="0">
              <a:spAutoFit/>
            </a:bodyPr>
            <a:lstStyle/>
            <a:p>
              <a:pPr algn="l">
                <a:lnSpc>
                  <a:spcPts val="2250"/>
                </a:lnSpc>
              </a:pPr>
              <a:r>
                <a:rPr lang="en-US" sz="1650" b="1" dirty="0">
                  <a:solidFill>
                    <a:schemeClr val="accent1"/>
                  </a:solidFill>
                  <a:latin typeface="+mn-lt"/>
                  <a:ea typeface="+mn-ea"/>
                  <a:cs typeface="+mn-cs"/>
                </a:rPr>
                <a:t>Retain $750m in the base case and accept the fee cut; preserve or seek the 8% preferred return;</a:t>
              </a:r>
              <a:br>
                <a:rPr lang="en-US" sz="1650" b="1" dirty="0">
                  <a:solidFill>
                    <a:schemeClr val="accent1"/>
                  </a:solidFill>
                  <a:latin typeface="+mn-lt"/>
                  <a:ea typeface="+mn-ea"/>
                  <a:cs typeface="+mn-cs"/>
                </a:rPr>
              </a:br>
              <a:r>
                <a:rPr lang="en-US" sz="1650" b="1" dirty="0">
                  <a:solidFill>
                    <a:schemeClr val="accent1"/>
                  </a:solidFill>
                  <a:latin typeface="+mn-lt"/>
                  <a:ea typeface="+mn-ea"/>
                  <a:cs typeface="+mn-cs"/>
                </a:rPr>
                <a:t>lead with Package A, then Package B.</a:t>
              </a:r>
            </a:p>
          </p:txBody>
        </p:sp>
      </p:grpSp>
      <p:grpSp>
        <p:nvGrpSpPr>
          <p:cNvPr id="13" name="answer-q6"/>
          <p:cNvGrpSpPr/>
          <p:nvPr/>
        </p:nvGrpSpPr>
        <p:grpSpPr>
          <a:xfrm>
            <a:off x="602742" y="2565400"/>
            <a:ext cx="3652091" cy="2063496"/>
            <a:chOff x="602742" y="2565400"/>
            <a:chExt cx="3652091" cy="2063496"/>
          </a:xfrm>
        </p:grpSpPr>
        <p:sp>
          <p:nvSpPr>
            <p:cNvPr id="9" name="TextBox 9"/>
            <p:cNvSpPr txBox="1"/>
            <p:nvPr/>
          </p:nvSpPr>
          <p:spPr>
            <a:xfrm>
              <a:off x="603504" y="2565400"/>
              <a:ext cx="170089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Q6 · COMMITMENT</a:t>
              </a:r>
            </a:p>
          </p:txBody>
        </p:sp>
        <p:sp>
          <p:nvSpPr>
            <p:cNvPr id="10" name="Line 10"/>
            <p:cNvSpPr/>
            <p:nvPr/>
          </p:nvSpPr>
          <p:spPr>
            <a:xfrm>
              <a:off x="6096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1" name="TextBox 11"/>
            <p:cNvSpPr txBox="1"/>
            <p:nvPr/>
          </p:nvSpPr>
          <p:spPr>
            <a:xfrm>
              <a:off x="602742" y="2870200"/>
              <a:ext cx="3652091"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Do not take the 10% reduction under the prescribed</a:t>
              </a:r>
              <a:br>
                <a:rPr lang="en-US" sz="1350" dirty="0">
                  <a:solidFill>
                    <a:schemeClr val="dk1"/>
                  </a:solidFill>
                  <a:latin typeface="+mn-lt"/>
                  <a:ea typeface="+mn-ea"/>
                  <a:cs typeface="+mn-cs"/>
                </a:rPr>
              </a:br>
              <a:r>
                <a:rPr lang="en-US" sz="1350" dirty="0">
                  <a:solidFill>
                    <a:schemeClr val="dk1"/>
                  </a:solidFill>
                  <a:latin typeface="+mn-lt"/>
                  <a:ea typeface="+mn-ea"/>
                  <a:cs typeface="+mn-cs"/>
                </a:rPr>
                <a:t>base case; retain $750m. Accept the fee cut</a:t>
              </a:r>
              <a:br>
                <a:rPr lang="en-US" sz="1350" dirty="0">
                  <a:solidFill>
                    <a:schemeClr val="dk1"/>
                  </a:solidFill>
                  <a:latin typeface="+mn-lt"/>
                  <a:ea typeface="+mn-ea"/>
                  <a:cs typeface="+mn-cs"/>
                </a:rPr>
              </a:br>
              <a:r>
                <a:rPr lang="en-US" sz="1350" dirty="0">
                  <a:solidFill>
                    <a:schemeClr val="dk1"/>
                  </a:solidFill>
                  <a:latin typeface="+mn-lt"/>
                  <a:ea typeface="+mn-ea"/>
                  <a:cs typeface="+mn-cs"/>
                </a:rPr>
                <a:t>available either way.</a:t>
              </a:r>
            </a:p>
          </p:txBody>
        </p:sp>
        <p:sp>
          <p:nvSpPr>
            <p:cNvPr id="12" name="TextBox 12"/>
            <p:cNvSpPr txBox="1"/>
            <p:nvPr/>
          </p:nvSpPr>
          <p:spPr>
            <a:xfrm>
              <a:off x="603504" y="3632200"/>
              <a:ext cx="3588624" cy="9966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The +$2.82m marginal inception value supports retaining.</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Reverse if actual forward incremental value is negative,</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better alternatives or concentration constraints make the</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extra exposure unattractive, or liquidity pressure is</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unacceptable.</a:t>
              </a:r>
            </a:p>
          </p:txBody>
        </p:sp>
      </p:grpSp>
      <p:grpSp>
        <p:nvGrpSpPr>
          <p:cNvPr id="18" name="answer-q5"/>
          <p:cNvGrpSpPr/>
          <p:nvPr/>
        </p:nvGrpSpPr>
        <p:grpSpPr>
          <a:xfrm>
            <a:off x="603504" y="4718050"/>
            <a:ext cx="4395574" cy="1342009"/>
            <a:chOff x="603504" y="4718050"/>
            <a:chExt cx="4395574" cy="1342009"/>
          </a:xfrm>
        </p:grpSpPr>
        <p:sp>
          <p:nvSpPr>
            <p:cNvPr id="14" name="TextBox 14"/>
            <p:cNvSpPr txBox="1"/>
            <p:nvPr/>
          </p:nvSpPr>
          <p:spPr>
            <a:xfrm>
              <a:off x="603504" y="4718050"/>
              <a:ext cx="2328343"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Q5 · NEGOTIATING ORDER</a:t>
              </a:r>
            </a:p>
          </p:txBody>
        </p:sp>
        <p:sp>
          <p:nvSpPr>
            <p:cNvPr id="15" name="Line 15"/>
            <p:cNvSpPr/>
            <p:nvPr/>
          </p:nvSpPr>
          <p:spPr>
            <a:xfrm>
              <a:off x="609600" y="495300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6" name="TextBox 16"/>
            <p:cNvSpPr txBox="1"/>
            <p:nvPr/>
          </p:nvSpPr>
          <p:spPr>
            <a:xfrm>
              <a:off x="603504" y="5016500"/>
              <a:ext cx="3386465" cy="86334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1 Confirm or preserve 8% protection.</a:t>
              </a:r>
              <a:br>
                <a:rPr lang="en-US" sz="1200" dirty="0">
                  <a:solidFill>
                    <a:schemeClr val="dk1"/>
                  </a:solidFill>
                  <a:latin typeface="+mn-lt"/>
                  <a:ea typeface="+mn-ea"/>
                  <a:cs typeface="+mn-cs"/>
                </a:rPr>
              </a:br>
              <a:r>
                <a:rPr lang="en-US" sz="1200" dirty="0">
                  <a:solidFill>
                    <a:schemeClr val="dk1"/>
                  </a:solidFill>
                  <a:latin typeface="+mn-lt"/>
                  <a:ea typeface="+mn-ea"/>
                  <a:cs typeface="+mn-cs"/>
                </a:rPr>
                <a:t>2 Lead with A: 8%, no catch-up, 20% carry.</a:t>
              </a:r>
              <a:br>
                <a:rPr lang="en-US" sz="1200" dirty="0">
                  <a:solidFill>
                    <a:schemeClr val="dk1"/>
                  </a:solidFill>
                  <a:latin typeface="+mn-lt"/>
                  <a:ea typeface="+mn-ea"/>
                  <a:cs typeface="+mn-cs"/>
                </a:rPr>
              </a:br>
              <a:r>
                <a:rPr lang="en-US" sz="1200" dirty="0">
                  <a:solidFill>
                    <a:schemeClr val="dk1"/>
                  </a:solidFill>
                  <a:latin typeface="+mn-lt"/>
                  <a:ea typeface="+mn-ea"/>
                  <a:cs typeface="+mn-cs"/>
                </a:rPr>
                <a:t>3 If refused, pursue B: 8%, full catch-up, 15% carry.</a:t>
              </a:r>
              <a:br>
                <a:rPr lang="en-US" sz="1200" dirty="0">
                  <a:solidFill>
                    <a:schemeClr val="dk1"/>
                  </a:solidFill>
                  <a:latin typeface="+mn-lt"/>
                  <a:ea typeface="+mn-ea"/>
                  <a:cs typeface="+mn-cs"/>
                </a:rPr>
              </a:br>
              <a:r>
                <a:rPr lang="en-US" sz="1200" dirty="0">
                  <a:solidFill>
                    <a:schemeClr val="dk1"/>
                  </a:solidFill>
                  <a:latin typeface="+mn-lt"/>
                  <a:ea typeface="+mn-ea"/>
                  <a:cs typeface="+mn-cs"/>
                </a:rPr>
                <a:t>4 Standard 8% hurdle as a fallback, only where absent.</a:t>
              </a:r>
            </a:p>
          </p:txBody>
        </p:sp>
        <p:sp>
          <p:nvSpPr>
            <p:cNvPr id="17" name="TextBox 17"/>
            <p:cNvSpPr txBox="1"/>
            <p:nvPr/>
          </p:nvSpPr>
          <p:spPr>
            <a:xfrm>
              <a:off x="604266" y="5854700"/>
              <a:ext cx="439481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Existing protection and the already-offered fee cut are not new concessions.</a:t>
              </a:r>
            </a:p>
          </p:txBody>
        </p:sp>
      </p:grpSp>
      <p:grpSp>
        <p:nvGrpSpPr>
          <p:cNvPr id="52" name="branch-diagram"/>
          <p:cNvGrpSpPr/>
          <p:nvPr/>
        </p:nvGrpSpPr>
        <p:grpSpPr>
          <a:xfrm>
            <a:off x="5327904" y="2565400"/>
            <a:ext cx="6254496" cy="3456559"/>
            <a:chOff x="5327904" y="2565400"/>
            <a:chExt cx="6254496" cy="3456559"/>
          </a:xfrm>
        </p:grpSpPr>
        <p:sp>
          <p:nvSpPr>
            <p:cNvPr id="19" name="TextBox 19"/>
            <p:cNvSpPr txBox="1"/>
            <p:nvPr/>
          </p:nvSpPr>
          <p:spPr>
            <a:xfrm>
              <a:off x="5327904" y="2565400"/>
              <a:ext cx="339273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 NPV AT MODEL INCEPTION, $m</a:t>
              </a:r>
            </a:p>
          </p:txBody>
        </p:sp>
        <p:sp>
          <p:nvSpPr>
            <p:cNvPr id="20" name="Line 20"/>
            <p:cNvSpPr/>
            <p:nvPr/>
          </p:nvSpPr>
          <p:spPr>
            <a:xfrm>
              <a:off x="53340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grpSp>
          <p:nvGrpSpPr>
            <p:cNvPr id="24" name="branch-origin"/>
            <p:cNvGrpSpPr/>
            <p:nvPr/>
          </p:nvGrpSpPr>
          <p:grpSpPr>
            <a:xfrm>
              <a:off x="5334000" y="3981450"/>
              <a:ext cx="1333500" cy="723900"/>
              <a:chOff x="5334000" y="3981450"/>
              <a:chExt cx="1333500" cy="723900"/>
            </a:xfrm>
          </p:grpSpPr>
          <p:sp>
            <p:nvSpPr>
              <p:cNvPr id="21" name="Rectangle 21"/>
              <p:cNvSpPr/>
              <p:nvPr/>
            </p:nvSpPr>
            <p:spPr>
              <a:xfrm>
                <a:off x="5334000" y="3981450"/>
                <a:ext cx="1333500" cy="723900"/>
              </a:xfrm>
              <a:prstGeom prst="rect">
                <a:avLst/>
              </a:prstGeom>
              <a:solidFill>
                <a:schemeClr val="lt2"/>
              </a:solidFill>
              <a:ln>
                <a:noFill/>
              </a:ln>
            </p:spPr>
          </p:sp>
          <p:sp>
            <p:nvSpPr>
              <p:cNvPr id="22" name="TextBox 22"/>
              <p:cNvSpPr txBox="1"/>
              <p:nvPr/>
            </p:nvSpPr>
            <p:spPr>
              <a:xfrm>
                <a:off x="5585736" y="4121150"/>
                <a:ext cx="830027"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Original terms</a:t>
                </a:r>
              </a:p>
            </p:txBody>
          </p:sp>
          <p:sp>
            <p:nvSpPr>
              <p:cNvPr id="23" name="TextBox 23"/>
              <p:cNvSpPr txBox="1"/>
              <p:nvPr/>
            </p:nvSpPr>
            <p:spPr>
              <a:xfrm>
                <a:off x="5590925" y="4362450"/>
                <a:ext cx="81965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$21.68m</a:t>
                </a:r>
              </a:p>
            </p:txBody>
          </p:sp>
        </p:grpSp>
        <p:grpSp>
          <p:nvGrpSpPr>
            <p:cNvPr id="27" name="arrow-origin-base"/>
            <p:cNvGrpSpPr/>
            <p:nvPr/>
          </p:nvGrpSpPr>
          <p:grpSpPr>
            <a:xfrm>
              <a:off x="6667500" y="4286250"/>
              <a:ext cx="323850" cy="114300"/>
              <a:chOff x="6667500" y="4286250"/>
              <a:chExt cx="323850" cy="114300"/>
            </a:xfrm>
          </p:grpSpPr>
          <p:sp>
            <p:nvSpPr>
              <p:cNvPr id="25" name="Line 25"/>
              <p:cNvSpPr/>
              <p:nvPr/>
            </p:nvSpPr>
            <p:spPr>
              <a:xfrm>
                <a:off x="6667500" y="4343400"/>
                <a:ext cx="209550" cy="9525"/>
              </a:xfrm>
              <a:custGeom>
                <a:avLst/>
                <a:gdLst/>
                <a:ahLst/>
                <a:cxnLst/>
                <a:rect l="l" t="t" r="r" b="b"/>
                <a:pathLst>
                  <a:path w="209550" h="9525">
                    <a:moveTo>
                      <a:pt x="0" y="0"/>
                    </a:moveTo>
                    <a:lnTo>
                      <a:pt x="209550" y="0"/>
                    </a:lnTo>
                  </a:path>
                </a:pathLst>
              </a:custGeom>
              <a:noFill/>
              <a:ln w="14288">
                <a:solidFill>
                  <a:srgbClr val="5C6670"/>
                </a:solidFill>
              </a:ln>
            </p:spPr>
          </p:sp>
          <p:sp>
            <p:nvSpPr>
              <p:cNvPr id="26" name="Freeform 26"/>
              <p:cNvSpPr/>
              <p:nvPr/>
            </p:nvSpPr>
            <p:spPr>
              <a:xfrm>
                <a:off x="6877050" y="4286250"/>
                <a:ext cx="114300" cy="114300"/>
              </a:xfrm>
              <a:custGeom>
                <a:avLst/>
                <a:gdLst/>
                <a:ahLst/>
                <a:cxnLst/>
                <a:rect l="l" t="t" r="r" b="b"/>
                <a:pathLst>
                  <a:path w="114300" h="114300">
                    <a:moveTo>
                      <a:pt x="0" y="0"/>
                    </a:moveTo>
                    <a:lnTo>
                      <a:pt x="114300" y="57150"/>
                    </a:lnTo>
                    <a:lnTo>
                      <a:pt x="0" y="114300"/>
                    </a:lnTo>
                    <a:close/>
                  </a:path>
                </a:pathLst>
              </a:custGeom>
              <a:solidFill>
                <a:srgbClr val="5C6670"/>
              </a:solidFill>
              <a:ln>
                <a:noFill/>
              </a:ln>
            </p:spPr>
          </p:sp>
        </p:grpSp>
        <p:grpSp>
          <p:nvGrpSpPr>
            <p:cNvPr id="31" name="branch-base"/>
            <p:cNvGrpSpPr/>
            <p:nvPr/>
          </p:nvGrpSpPr>
          <p:grpSpPr>
            <a:xfrm>
              <a:off x="6991350" y="3981450"/>
              <a:ext cx="1333500" cy="741807"/>
              <a:chOff x="6991350" y="3981450"/>
              <a:chExt cx="1333500" cy="741807"/>
            </a:xfrm>
          </p:grpSpPr>
          <p:sp>
            <p:nvSpPr>
              <p:cNvPr id="28" name="Rectangle 28"/>
              <p:cNvSpPr/>
              <p:nvPr/>
            </p:nvSpPr>
            <p:spPr>
              <a:xfrm>
                <a:off x="6991350" y="3981450"/>
                <a:ext cx="1333500" cy="723900"/>
              </a:xfrm>
              <a:prstGeom prst="rect">
                <a:avLst/>
              </a:prstGeom>
              <a:solidFill>
                <a:schemeClr val="accent1"/>
              </a:solidFill>
              <a:ln>
                <a:noFill/>
              </a:ln>
            </p:spPr>
          </p:sp>
          <p:sp>
            <p:nvSpPr>
              <p:cNvPr id="29" name="TextBox 29"/>
              <p:cNvSpPr txBox="1"/>
              <p:nvPr/>
            </p:nvSpPr>
            <p:spPr>
              <a:xfrm>
                <a:off x="7262791" y="4064000"/>
                <a:ext cx="790619" cy="367284"/>
              </a:xfrm>
              <a:prstGeom prst="rect">
                <a:avLst/>
              </a:prstGeom>
              <a:noFill/>
              <a:ln>
                <a:noFill/>
              </a:ln>
            </p:spPr>
            <p:txBody>
              <a:bodyPr wrap="none" lIns="0" tIns="0" rIns="0" bIns="0" anchor="t" anchorCtr="0">
                <a:spAutoFit/>
              </a:bodyPr>
              <a:lstStyle/>
              <a:p>
                <a:pPr algn="ctr">
                  <a:lnSpc>
                    <a:spcPts val="1275"/>
                  </a:lnSpc>
                </a:pPr>
                <a:r>
                  <a:rPr lang="en-US" sz="1050" dirty="0">
                    <a:solidFill>
                      <a:schemeClr val="accent6"/>
                    </a:solidFill>
                    <a:latin typeface="+mn-lt"/>
                    <a:ea typeface="+mn-ea"/>
                    <a:cs typeface="+mn-cs"/>
                  </a:rPr>
                  <a:t>Fee-cut model</a:t>
                </a:r>
                <a:br>
                  <a:rPr lang="en-US" sz="1050" dirty="0">
                    <a:solidFill>
                      <a:schemeClr val="accent6"/>
                    </a:solidFill>
                    <a:latin typeface="+mn-lt"/>
                    <a:ea typeface="+mn-ea"/>
                    <a:cs typeface="+mn-cs"/>
                  </a:rPr>
                </a:br>
                <a:r>
                  <a:rPr lang="en-US" sz="1050" dirty="0">
                    <a:solidFill>
                      <a:schemeClr val="accent6"/>
                    </a:solidFill>
                    <a:latin typeface="+mn-lt"/>
                    <a:ea typeface="+mn-ea"/>
                    <a:cs typeface="+mn-cs"/>
                  </a:rPr>
                  <a:t>baseline</a:t>
                </a:r>
              </a:p>
            </p:txBody>
          </p:sp>
          <p:sp>
            <p:nvSpPr>
              <p:cNvPr id="30" name="TextBox 30"/>
              <p:cNvSpPr txBox="1"/>
              <p:nvPr/>
            </p:nvSpPr>
            <p:spPr>
              <a:xfrm>
                <a:off x="7248275" y="4400550"/>
                <a:ext cx="819650"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$28.24m</a:t>
                </a:r>
              </a:p>
            </p:txBody>
          </p:sp>
        </p:grpSp>
        <p:grpSp>
          <p:nvGrpSpPr>
            <p:cNvPr id="35" name="branch-connectors"/>
            <p:cNvGrpSpPr/>
            <p:nvPr/>
          </p:nvGrpSpPr>
          <p:grpSpPr>
            <a:xfrm>
              <a:off x="8324850" y="3352800"/>
              <a:ext cx="438150" cy="1981200"/>
              <a:chOff x="8324850" y="3352800"/>
              <a:chExt cx="438150" cy="1981200"/>
            </a:xfrm>
          </p:grpSpPr>
          <p:sp>
            <p:nvSpPr>
              <p:cNvPr id="32" name="Freeform 32"/>
              <p:cNvSpPr/>
              <p:nvPr/>
            </p:nvSpPr>
            <p:spPr>
              <a:xfrm>
                <a:off x="8324850" y="3352800"/>
                <a:ext cx="438150" cy="990600"/>
              </a:xfrm>
              <a:custGeom>
                <a:avLst/>
                <a:gdLst/>
                <a:ahLst/>
                <a:cxnLst/>
                <a:rect l="l" t="t" r="r" b="b"/>
                <a:pathLst>
                  <a:path w="438150" h="990600">
                    <a:moveTo>
                      <a:pt x="0" y="990600"/>
                    </a:moveTo>
                    <a:cubicBezTo>
                      <a:pt x="247650" y="990600"/>
                      <a:pt x="247650" y="0"/>
                      <a:pt x="438150" y="0"/>
                    </a:cubicBezTo>
                  </a:path>
                </a:pathLst>
              </a:custGeom>
              <a:noFill/>
              <a:ln w="14288">
                <a:solidFill>
                  <a:schemeClr val="accent1"/>
                </a:solidFill>
              </a:ln>
            </p:spPr>
          </p:sp>
          <p:sp>
            <p:nvSpPr>
              <p:cNvPr id="33" name="Freeform 33"/>
              <p:cNvSpPr/>
              <p:nvPr/>
            </p:nvSpPr>
            <p:spPr>
              <a:xfrm>
                <a:off x="8324850" y="4343400"/>
                <a:ext cx="438150" cy="9525"/>
              </a:xfrm>
              <a:custGeom>
                <a:avLst/>
                <a:gdLst/>
                <a:ahLst/>
                <a:cxnLst/>
                <a:rect l="l" t="t" r="r" b="b"/>
                <a:pathLst>
                  <a:path w="438150" h="9525">
                    <a:moveTo>
                      <a:pt x="0" y="0"/>
                    </a:moveTo>
                    <a:lnTo>
                      <a:pt x="438150" y="0"/>
                    </a:lnTo>
                  </a:path>
                </a:pathLst>
              </a:custGeom>
              <a:noFill/>
              <a:ln w="14288">
                <a:solidFill>
                  <a:schemeClr val="accent2"/>
                </a:solidFill>
              </a:ln>
            </p:spPr>
          </p:sp>
          <p:sp>
            <p:nvSpPr>
              <p:cNvPr id="34" name="Freeform 34"/>
              <p:cNvSpPr/>
              <p:nvPr/>
            </p:nvSpPr>
            <p:spPr>
              <a:xfrm>
                <a:off x="8324850" y="4343400"/>
                <a:ext cx="438150" cy="990600"/>
              </a:xfrm>
              <a:custGeom>
                <a:avLst/>
                <a:gdLst/>
                <a:ahLst/>
                <a:cxnLst/>
                <a:rect l="l" t="t" r="r" b="b"/>
                <a:pathLst>
                  <a:path w="438150" h="990600">
                    <a:moveTo>
                      <a:pt x="0" y="0"/>
                    </a:moveTo>
                    <a:cubicBezTo>
                      <a:pt x="247650" y="0"/>
                      <a:pt x="247650" y="990600"/>
                      <a:pt x="438150" y="990600"/>
                    </a:cubicBezTo>
                  </a:path>
                </a:pathLst>
              </a:custGeom>
              <a:noFill/>
              <a:ln w="14288">
                <a:solidFill>
                  <a:srgbClr val="8AA1AC"/>
                </a:solidFill>
              </a:ln>
            </p:spPr>
          </p:sp>
        </p:grpSp>
        <p:grpSp>
          <p:nvGrpSpPr>
            <p:cNvPr id="40" name="branch-a"/>
            <p:cNvGrpSpPr/>
            <p:nvPr/>
          </p:nvGrpSpPr>
          <p:grpSpPr>
            <a:xfrm>
              <a:off x="8763000" y="3009900"/>
              <a:ext cx="2819400" cy="725170"/>
              <a:chOff x="8763000" y="3009900"/>
              <a:chExt cx="2819400" cy="725170"/>
            </a:xfrm>
          </p:grpSpPr>
          <p:sp>
            <p:nvSpPr>
              <p:cNvPr id="36" name="Rectangle 36"/>
              <p:cNvSpPr/>
              <p:nvPr/>
            </p:nvSpPr>
            <p:spPr>
              <a:xfrm>
                <a:off x="8763000" y="3009900"/>
                <a:ext cx="2819400" cy="685800"/>
              </a:xfrm>
              <a:prstGeom prst="rect">
                <a:avLst/>
              </a:prstGeom>
              <a:solidFill>
                <a:schemeClr val="lt1"/>
              </a:solidFill>
              <a:ln w="19050">
                <a:solidFill>
                  <a:schemeClr val="accent1"/>
                </a:solidFill>
              </a:ln>
            </p:spPr>
          </p:sp>
          <p:sp>
            <p:nvSpPr>
              <p:cNvPr id="37" name="TextBox 37"/>
              <p:cNvSpPr txBox="1"/>
              <p:nvPr/>
            </p:nvSpPr>
            <p:spPr>
              <a:xfrm>
                <a:off x="8910066" y="3092450"/>
                <a:ext cx="1045453"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FIRST CHOICE · A</a:t>
                </a:r>
              </a:p>
            </p:txBody>
          </p:sp>
          <p:sp>
            <p:nvSpPr>
              <p:cNvPr id="38" name="TextBox 38"/>
              <p:cNvSpPr txBox="1"/>
              <p:nvPr/>
            </p:nvSpPr>
            <p:spPr>
              <a:xfrm>
                <a:off x="8910066" y="3263900"/>
                <a:ext cx="203707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8% hurdle · no catch-up · 20% carry</a:t>
                </a:r>
              </a:p>
            </p:txBody>
          </p:sp>
          <p:sp>
            <p:nvSpPr>
              <p:cNvPr id="39" name="TextBox 39"/>
              <p:cNvSpPr txBox="1"/>
              <p:nvPr/>
            </p:nvSpPr>
            <p:spPr>
              <a:xfrm>
                <a:off x="8907780" y="3441700"/>
                <a:ext cx="74513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$48.88m</a:t>
                </a:r>
              </a:p>
            </p:txBody>
          </p:sp>
        </p:grpSp>
        <p:grpSp>
          <p:nvGrpSpPr>
            <p:cNvPr id="45" name="branch-b"/>
            <p:cNvGrpSpPr/>
            <p:nvPr/>
          </p:nvGrpSpPr>
          <p:grpSpPr>
            <a:xfrm>
              <a:off x="8763000" y="4000500"/>
              <a:ext cx="2819400" cy="725170"/>
              <a:chOff x="8763000" y="4000500"/>
              <a:chExt cx="2819400" cy="725170"/>
            </a:xfrm>
          </p:grpSpPr>
          <p:sp>
            <p:nvSpPr>
              <p:cNvPr id="41" name="Rectangle 41"/>
              <p:cNvSpPr/>
              <p:nvPr/>
            </p:nvSpPr>
            <p:spPr>
              <a:xfrm>
                <a:off x="8763000" y="4000500"/>
                <a:ext cx="2819400" cy="685800"/>
              </a:xfrm>
              <a:prstGeom prst="rect">
                <a:avLst/>
              </a:prstGeom>
              <a:solidFill>
                <a:schemeClr val="lt1"/>
              </a:solidFill>
              <a:ln w="19050">
                <a:solidFill>
                  <a:schemeClr val="accent2"/>
                </a:solidFill>
              </a:ln>
            </p:spPr>
          </p:sp>
          <p:sp>
            <p:nvSpPr>
              <p:cNvPr id="42" name="TextBox 42"/>
              <p:cNvSpPr txBox="1"/>
              <p:nvPr/>
            </p:nvSpPr>
            <p:spPr>
              <a:xfrm>
                <a:off x="8910066" y="4083050"/>
                <a:ext cx="1217701"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SECOND CHOICE · B</a:t>
                </a:r>
              </a:p>
            </p:txBody>
          </p:sp>
          <p:sp>
            <p:nvSpPr>
              <p:cNvPr id="43" name="TextBox 43"/>
              <p:cNvSpPr txBox="1"/>
              <p:nvPr/>
            </p:nvSpPr>
            <p:spPr>
              <a:xfrm>
                <a:off x="8910066" y="4254500"/>
                <a:ext cx="207056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8% hurdle · full catch-up · 15% carry</a:t>
                </a:r>
              </a:p>
            </p:txBody>
          </p:sp>
          <p:sp>
            <p:nvSpPr>
              <p:cNvPr id="44" name="TextBox 44"/>
              <p:cNvSpPr txBox="1"/>
              <p:nvPr/>
            </p:nvSpPr>
            <p:spPr>
              <a:xfrm>
                <a:off x="8907780" y="4432300"/>
                <a:ext cx="745136"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$47.55m</a:t>
                </a:r>
              </a:p>
            </p:txBody>
          </p:sp>
        </p:grpSp>
        <p:grpSp>
          <p:nvGrpSpPr>
            <p:cNvPr id="50" name="branch-fallback"/>
            <p:cNvGrpSpPr/>
            <p:nvPr/>
          </p:nvGrpSpPr>
          <p:grpSpPr>
            <a:xfrm>
              <a:off x="8763000" y="4991100"/>
              <a:ext cx="2819400" cy="725170"/>
              <a:chOff x="8763000" y="4991100"/>
              <a:chExt cx="2819400" cy="725170"/>
            </a:xfrm>
          </p:grpSpPr>
          <p:sp>
            <p:nvSpPr>
              <p:cNvPr id="46" name="Rectangle 46"/>
              <p:cNvSpPr/>
              <p:nvPr/>
            </p:nvSpPr>
            <p:spPr>
              <a:xfrm>
                <a:off x="8763000" y="4991100"/>
                <a:ext cx="2819400" cy="685800"/>
              </a:xfrm>
              <a:prstGeom prst="rect">
                <a:avLst/>
              </a:prstGeom>
              <a:solidFill>
                <a:schemeClr val="lt1"/>
              </a:solidFill>
              <a:ln w="19050">
                <a:solidFill>
                  <a:srgbClr val="8AA1AC"/>
                </a:solidFill>
              </a:ln>
            </p:spPr>
          </p:sp>
          <p:sp>
            <p:nvSpPr>
              <p:cNvPr id="47" name="TextBox 47"/>
              <p:cNvSpPr txBox="1"/>
              <p:nvPr/>
            </p:nvSpPr>
            <p:spPr>
              <a:xfrm>
                <a:off x="8910066" y="5073650"/>
                <a:ext cx="1647894" cy="205359"/>
              </a:xfrm>
              <a:prstGeom prst="rect">
                <a:avLst/>
              </a:prstGeom>
              <a:noFill/>
              <a:ln>
                <a:noFill/>
              </a:ln>
            </p:spPr>
            <p:txBody>
              <a:bodyPr wrap="none" lIns="0" tIns="0" rIns="0" bIns="0" anchor="t" anchorCtr="0">
                <a:spAutoFit/>
              </a:bodyPr>
              <a:lstStyle/>
              <a:p>
                <a:pPr algn="l"/>
                <a:r>
                  <a:rPr lang="en-US" sz="1050" b="1" dirty="0">
                    <a:solidFill>
                      <a:schemeClr val="accent5"/>
                    </a:solidFill>
                    <a:latin typeface="+mn-lt"/>
                    <a:ea typeface="+mn-ea"/>
                    <a:cs typeface="+mn-cs"/>
                  </a:rPr>
                  <a:t>FALLBACK WHERE ABSENT</a:t>
                </a:r>
              </a:p>
            </p:txBody>
          </p:sp>
          <p:sp>
            <p:nvSpPr>
              <p:cNvPr id="48" name="TextBox 48"/>
              <p:cNvSpPr txBox="1"/>
              <p:nvPr/>
            </p:nvSpPr>
            <p:spPr>
              <a:xfrm>
                <a:off x="8910066" y="5245100"/>
                <a:ext cx="207056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8% hurdle · full catch-up · 20% carry</a:t>
                </a:r>
              </a:p>
            </p:txBody>
          </p:sp>
          <p:sp>
            <p:nvSpPr>
              <p:cNvPr id="49" name="TextBox 49"/>
              <p:cNvSpPr txBox="1"/>
              <p:nvPr/>
            </p:nvSpPr>
            <p:spPr>
              <a:xfrm>
                <a:off x="8907780" y="5422900"/>
                <a:ext cx="74513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$30.96m</a:t>
                </a:r>
              </a:p>
            </p:txBody>
          </p:sp>
        </p:grpSp>
        <p:sp>
          <p:nvSpPr>
            <p:cNvPr id="51" name="TextBox 51"/>
            <p:cNvSpPr txBox="1"/>
            <p:nvPr/>
          </p:nvSpPr>
          <p:spPr>
            <a:xfrm>
              <a:off x="5328666" y="5816600"/>
              <a:ext cx="3417030"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Branches are ranked alternatives, not cumulative demands.</a:t>
              </a:r>
            </a:p>
          </p:txBody>
        </p:sp>
      </p:grpSp>
      <p:sp>
        <p:nvSpPr>
          <p:cNvPr id="53" name="TextBox 53"/>
          <p:cNvSpPr txBox="1"/>
          <p:nvPr/>
        </p:nvSpPr>
        <p:spPr>
          <a:xfrm>
            <a:off x="604266" y="6083300"/>
            <a:ext cx="10281376"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All NPVs at model inception; 20% asset growth; 15% discount rate; actual TPG VI terms may differ. If a reference hurdle already exists, measure only the incremental improvement.</a:t>
            </a:r>
          </a:p>
        </p:txBody>
      </p:sp>
      <p:grpSp>
        <p:nvGrpSpPr>
          <p:cNvPr id="56" name="footer"/>
          <p:cNvGrpSpPr/>
          <p:nvPr/>
        </p:nvGrpSpPr>
        <p:grpSpPr>
          <a:xfrm>
            <a:off x="604266" y="6350000"/>
            <a:ext cx="10983468" cy="367284"/>
            <a:chOff x="604266" y="6350000"/>
            <a:chExt cx="10983468" cy="367284"/>
          </a:xfrm>
        </p:grpSpPr>
        <p:sp>
          <p:nvSpPr>
            <p:cNvPr id="54" name="TextBox 54"/>
            <p:cNvSpPr txBox="1"/>
            <p:nvPr/>
          </p:nvSpPr>
          <p:spPr>
            <a:xfrm>
              <a:off x="604266" y="6350000"/>
              <a:ext cx="9576224"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Summary!B29:E29; Package B total = Summary!C29 + Q5 Analysis!G10; Q6 OPERF decision!D20. The isolated 15%-carry / no-hurdle case ($45.90m) remains an analytical</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scenario, not the recommended package.</a:t>
              </a:r>
            </a:p>
          </p:txBody>
        </p:sp>
        <p:sp>
          <p:nvSpPr>
            <p:cNvPr id="55" name="TextBox 5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777716" cy="244475"/>
            <a:chOff x="603504" y="546100"/>
            <a:chExt cx="4777716" cy="244475"/>
          </a:xfrm>
        </p:grpSpPr>
        <p:sp>
          <p:nvSpPr>
            <p:cNvPr id="2" name="TextBox 2"/>
            <p:cNvSpPr txBox="1"/>
            <p:nvPr/>
          </p:nvSpPr>
          <p:spPr>
            <a:xfrm>
              <a:off x="603504" y="546100"/>
              <a:ext cx="477771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FINAL RECOMMENDATION · NEGOTIATION APPROACH</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316931" cy="1043940"/>
            <a:chOff x="594360" y="812800"/>
            <a:chExt cx="5316931" cy="1043940"/>
          </a:xfrm>
        </p:grpSpPr>
        <p:sp>
          <p:nvSpPr>
            <p:cNvPr id="5" name="TextBox 5"/>
            <p:cNvSpPr txBox="1"/>
            <p:nvPr/>
          </p:nvSpPr>
          <p:spPr>
            <a:xfrm>
              <a:off x="594360" y="812800"/>
              <a:ext cx="531693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Negotiate now, using evidence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available in December 2008</a:t>
              </a:r>
            </a:p>
          </p:txBody>
        </p:sp>
      </p:grpSp>
      <p:grpSp>
        <p:nvGrpSpPr>
          <p:cNvPr id="8" name="lead"/>
          <p:cNvGrpSpPr/>
          <p:nvPr/>
        </p:nvGrpSpPr>
        <p:grpSpPr>
          <a:xfrm>
            <a:off x="601218" y="1746250"/>
            <a:ext cx="5265824" cy="608457"/>
            <a:chOff x="601218" y="1746250"/>
            <a:chExt cx="5265824" cy="608457"/>
          </a:xfrm>
        </p:grpSpPr>
        <p:sp>
          <p:nvSpPr>
            <p:cNvPr id="7" name="TextBox 7"/>
            <p:cNvSpPr txBox="1"/>
            <p:nvPr/>
          </p:nvSpPr>
          <p:spPr>
            <a:xfrm>
              <a:off x="601218" y="1746250"/>
              <a:ext cx="526582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TPG's voluntary concessions create an opening for discussion;</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existing commitments limit OPERF's unilateral leverage.</a:t>
              </a:r>
            </a:p>
          </p:txBody>
        </p:sp>
      </p:grpSp>
      <p:grpSp>
        <p:nvGrpSpPr>
          <p:cNvPr id="14" name="context"/>
          <p:cNvGrpSpPr/>
          <p:nvPr/>
        </p:nvGrpSpPr>
        <p:grpSpPr>
          <a:xfrm>
            <a:off x="602742" y="2565400"/>
            <a:ext cx="3520880" cy="2863596"/>
            <a:chOff x="602742" y="2565400"/>
            <a:chExt cx="3520880" cy="2863596"/>
          </a:xfrm>
        </p:grpSpPr>
        <p:sp>
          <p:nvSpPr>
            <p:cNvPr id="9" name="TextBox 9"/>
            <p:cNvSpPr txBox="1"/>
            <p:nvPr/>
          </p:nvSpPr>
          <p:spPr>
            <a:xfrm>
              <a:off x="603504" y="2565400"/>
              <a:ext cx="293012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CONTEXT AT THE DECISION DATE</a:t>
              </a:r>
            </a:p>
          </p:txBody>
        </p:sp>
        <p:sp>
          <p:nvSpPr>
            <p:cNvPr id="10" name="Line 10"/>
            <p:cNvSpPr/>
            <p:nvPr/>
          </p:nvSpPr>
          <p:spPr>
            <a:xfrm>
              <a:off x="6096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1" name="TextBox 11"/>
            <p:cNvSpPr txBox="1"/>
            <p:nvPr/>
          </p:nvSpPr>
          <p:spPr>
            <a:xfrm>
              <a:off x="602742" y="2908300"/>
              <a:ext cx="3520880" cy="9498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Federal Reserve, 16 December 2008:</a:t>
              </a:r>
              <a:br>
                <a:rPr lang="en-US" sz="1350" b="1" dirty="0">
                  <a:solidFill>
                    <a:schemeClr val="dk1"/>
                  </a:solidFill>
                  <a:latin typeface="+mn-lt"/>
                  <a:ea typeface="+mn-ea"/>
                  <a:cs typeface="+mn-cs"/>
                </a:rPr>
              </a:br>
              <a:r>
                <a:rPr lang="en-US" sz="1350" dirty="0">
                  <a:solidFill>
                    <a:schemeClr val="dk1"/>
                  </a:solidFill>
                  <a:latin typeface="+mn-lt"/>
                  <a:ea typeface="+mn-ea"/>
                  <a:cs typeface="+mn-cs"/>
                </a:rPr>
                <a:t>the statement reports deteriorating activity and</a:t>
              </a:r>
              <a:br>
                <a:rPr lang="en-US" sz="1350" dirty="0">
                  <a:solidFill>
                    <a:schemeClr val="dk1"/>
                  </a:solidFill>
                  <a:latin typeface="+mn-lt"/>
                  <a:ea typeface="+mn-ea"/>
                  <a:cs typeface="+mn-cs"/>
                </a:rPr>
              </a:br>
              <a:r>
                <a:rPr lang="en-US" sz="1350" dirty="0">
                  <a:solidFill>
                    <a:schemeClr val="dk1"/>
                  </a:solidFill>
                  <a:latin typeface="+mn-lt"/>
                  <a:ea typeface="+mn-ea"/>
                  <a:cs typeface="+mn-cs"/>
                </a:rPr>
                <a:t>tight credit while announcing substantial support;</a:t>
              </a:r>
              <a:br>
                <a:rPr lang="en-US" sz="1350" dirty="0">
                  <a:solidFill>
                    <a:schemeClr val="dk1"/>
                  </a:solidFill>
                  <a:latin typeface="+mn-lt"/>
                  <a:ea typeface="+mn-ea"/>
                  <a:cs typeface="+mn-cs"/>
                </a:rPr>
              </a:br>
              <a:r>
                <a:rPr lang="en-US" sz="1350" dirty="0">
                  <a:solidFill>
                    <a:schemeClr val="dk1"/>
                  </a:solidFill>
                  <a:latin typeface="+mn-lt"/>
                  <a:ea typeface="+mn-ea"/>
                  <a:cs typeface="+mn-cs"/>
                </a:rPr>
                <a:t>the direction and timing of recovery are unknown.</a:t>
              </a:r>
            </a:p>
          </p:txBody>
        </p:sp>
        <p:sp>
          <p:nvSpPr>
            <p:cNvPr id="12" name="TextBox 12"/>
            <p:cNvSpPr txBox="1"/>
            <p:nvPr/>
          </p:nvSpPr>
          <p:spPr>
            <a:xfrm>
              <a:off x="602742" y="4051300"/>
              <a:ext cx="3498952" cy="7212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Apollo filing, April 2008:</a:t>
              </a:r>
              <a:br>
                <a:rPr lang="en-US" sz="1350" b="1" dirty="0">
                  <a:solidFill>
                    <a:schemeClr val="dk1"/>
                  </a:solidFill>
                  <a:latin typeface="+mn-lt"/>
                  <a:ea typeface="+mn-ea"/>
                  <a:cs typeface="+mn-cs"/>
                </a:rPr>
              </a:br>
              <a:r>
                <a:rPr lang="en-US" sz="1350" dirty="0">
                  <a:solidFill>
                    <a:schemeClr val="dk1"/>
                  </a:solidFill>
                  <a:latin typeface="+mn-lt"/>
                  <a:ea typeface="+mn-ea"/>
                  <a:cs typeface="+mn-cs"/>
                </a:rPr>
                <a:t>describes an 8% preferred return with catch-up,</a:t>
              </a:r>
              <a:br>
                <a:rPr lang="en-US" sz="1350" dirty="0">
                  <a:solidFill>
                    <a:schemeClr val="dk1"/>
                  </a:solidFill>
                  <a:latin typeface="+mn-lt"/>
                  <a:ea typeface="+mn-ea"/>
                  <a:cs typeface="+mn-cs"/>
                </a:rPr>
              </a:br>
              <a:r>
                <a:rPr lang="en-US" sz="1350" dirty="0">
                  <a:solidFill>
                    <a:schemeClr val="dk1"/>
                  </a:solidFill>
                  <a:latin typeface="+mn-lt"/>
                  <a:ea typeface="+mn-ea"/>
                  <a:cs typeface="+mn-cs"/>
                </a:rPr>
                <a:t>management-fee offsets and clawback provisions.</a:t>
              </a:r>
            </a:p>
          </p:txBody>
        </p:sp>
        <p:sp>
          <p:nvSpPr>
            <p:cNvPr id="13" name="TextBox 13"/>
            <p:cNvSpPr txBox="1"/>
            <p:nvPr/>
          </p:nvSpPr>
          <p:spPr>
            <a:xfrm>
              <a:off x="603504" y="5003800"/>
              <a:ext cx="3116031"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These are examples available at the decision date,</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not proof that OPERF can secure identical terms.</a:t>
              </a:r>
            </a:p>
          </p:txBody>
        </p:sp>
      </p:grpSp>
      <p:grpSp>
        <p:nvGrpSpPr>
          <p:cNvPr id="16" name="sequence-rule"/>
          <p:cNvGrpSpPr/>
          <p:nvPr/>
        </p:nvGrpSpPr>
        <p:grpSpPr>
          <a:xfrm>
            <a:off x="5181600" y="2533650"/>
            <a:ext cx="9525" cy="3295650"/>
            <a:chOff x="5181600" y="2533650"/>
            <a:chExt cx="9525" cy="3295650"/>
          </a:xfrm>
        </p:grpSpPr>
        <p:sp>
          <p:nvSpPr>
            <p:cNvPr id="15" name="Line 15"/>
            <p:cNvSpPr/>
            <p:nvPr/>
          </p:nvSpPr>
          <p:spPr>
            <a:xfrm>
              <a:off x="5181600" y="2533650"/>
              <a:ext cx="9525" cy="3295650"/>
            </a:xfrm>
            <a:custGeom>
              <a:avLst/>
              <a:gdLst/>
              <a:ahLst/>
              <a:cxnLst/>
              <a:rect l="l" t="t" r="r" b="b"/>
              <a:pathLst>
                <a:path w="9525" h="3295650">
                  <a:moveTo>
                    <a:pt x="0" y="0"/>
                  </a:moveTo>
                  <a:lnTo>
                    <a:pt x="0" y="3295650"/>
                  </a:lnTo>
                </a:path>
              </a:pathLst>
            </a:custGeom>
            <a:noFill/>
            <a:ln w="19050">
              <a:solidFill>
                <a:schemeClr val="accent6"/>
              </a:solidFill>
            </a:ln>
          </p:spPr>
        </p:sp>
      </p:grpSp>
      <p:grpSp>
        <p:nvGrpSpPr>
          <p:cNvPr id="35" name="sequence"/>
          <p:cNvGrpSpPr/>
          <p:nvPr/>
        </p:nvGrpSpPr>
        <p:grpSpPr>
          <a:xfrm>
            <a:off x="5324094" y="2565400"/>
            <a:ext cx="5593800" cy="3273933"/>
            <a:chOff x="5324094" y="2565400"/>
            <a:chExt cx="5593800" cy="3273933"/>
          </a:xfrm>
        </p:grpSpPr>
        <p:sp>
          <p:nvSpPr>
            <p:cNvPr id="17" name="TextBox 17"/>
            <p:cNvSpPr txBox="1"/>
            <p:nvPr/>
          </p:nvSpPr>
          <p:spPr>
            <a:xfrm>
              <a:off x="5327904" y="2565400"/>
              <a:ext cx="97082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FIVE STEPS</a:t>
              </a:r>
            </a:p>
          </p:txBody>
        </p:sp>
        <p:sp>
          <p:nvSpPr>
            <p:cNvPr id="18" name="Line 18"/>
            <p:cNvSpPr/>
            <p:nvPr/>
          </p:nvSpPr>
          <p:spPr>
            <a:xfrm>
              <a:off x="53340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grpSp>
          <p:nvGrpSpPr>
            <p:cNvPr id="34" name="steps"/>
            <p:cNvGrpSpPr/>
            <p:nvPr/>
          </p:nvGrpSpPr>
          <p:grpSpPr>
            <a:xfrm>
              <a:off x="5324094" y="2921000"/>
              <a:ext cx="5593800" cy="2918333"/>
              <a:chOff x="5324094" y="2921000"/>
              <a:chExt cx="5593800" cy="2918333"/>
            </a:xfrm>
          </p:grpSpPr>
          <p:grpSp>
            <p:nvGrpSpPr>
              <p:cNvPr id="21" name="step-1"/>
              <p:cNvGrpSpPr/>
              <p:nvPr/>
            </p:nvGrpSpPr>
            <p:grpSpPr>
              <a:xfrm>
                <a:off x="5324094" y="2921000"/>
                <a:ext cx="3672987" cy="381381"/>
                <a:chOff x="5324094" y="2921000"/>
                <a:chExt cx="3672987" cy="381381"/>
              </a:xfrm>
            </p:grpSpPr>
            <p:sp>
              <p:nvSpPr>
                <p:cNvPr id="19" name="TextBox 19"/>
                <p:cNvSpPr txBox="1"/>
                <p:nvPr/>
              </p:nvSpPr>
              <p:spPr>
                <a:xfrm>
                  <a:off x="5324094" y="29210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1</a:t>
                  </a:r>
                </a:p>
              </p:txBody>
            </p:sp>
            <p:sp>
              <p:nvSpPr>
                <p:cNvPr id="20" name="TextBox 20"/>
                <p:cNvSpPr txBox="1"/>
                <p:nvPr/>
              </p:nvSpPr>
              <p:spPr>
                <a:xfrm>
                  <a:off x="5708142" y="2997200"/>
                  <a:ext cx="328893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Accept the fee reduction available to all LPs.</a:t>
                  </a:r>
                </a:p>
              </p:txBody>
            </p:sp>
          </p:grpSp>
          <p:grpSp>
            <p:nvGrpSpPr>
              <p:cNvPr id="24" name="step-2"/>
              <p:cNvGrpSpPr/>
              <p:nvPr/>
            </p:nvGrpSpPr>
            <p:grpSpPr>
              <a:xfrm>
                <a:off x="5324094" y="3454400"/>
                <a:ext cx="5593800" cy="381381"/>
                <a:chOff x="5324094" y="3454400"/>
                <a:chExt cx="5593800" cy="381381"/>
              </a:xfrm>
            </p:grpSpPr>
            <p:sp>
              <p:nvSpPr>
                <p:cNvPr id="22" name="TextBox 22"/>
                <p:cNvSpPr txBox="1"/>
                <p:nvPr/>
              </p:nvSpPr>
              <p:spPr>
                <a:xfrm>
                  <a:off x="5324094" y="34544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2</a:t>
                  </a:r>
                </a:p>
              </p:txBody>
            </p:sp>
            <p:sp>
              <p:nvSpPr>
                <p:cNvPr id="23" name="TextBox 23"/>
                <p:cNvSpPr txBox="1"/>
                <p:nvPr/>
              </p:nvSpPr>
              <p:spPr>
                <a:xfrm>
                  <a:off x="5708142" y="3530600"/>
                  <a:ext cx="52097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Evaluate commitment size independently of that common concession.</a:t>
                  </a:r>
                </a:p>
              </p:txBody>
            </p:sp>
          </p:grpSp>
          <p:grpSp>
            <p:nvGrpSpPr>
              <p:cNvPr id="27" name="step-3"/>
              <p:cNvGrpSpPr/>
              <p:nvPr/>
            </p:nvGrpSpPr>
            <p:grpSpPr>
              <a:xfrm>
                <a:off x="5324094" y="3987800"/>
                <a:ext cx="4691301" cy="381381"/>
                <a:chOff x="5324094" y="3987800"/>
                <a:chExt cx="4691301" cy="381381"/>
              </a:xfrm>
            </p:grpSpPr>
            <p:sp>
              <p:nvSpPr>
                <p:cNvPr id="25" name="TextBox 25"/>
                <p:cNvSpPr txBox="1"/>
                <p:nvPr/>
              </p:nvSpPr>
              <p:spPr>
                <a:xfrm>
                  <a:off x="5324094" y="39878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3</a:t>
                  </a:r>
                </a:p>
              </p:txBody>
            </p:sp>
            <p:sp>
              <p:nvSpPr>
                <p:cNvPr id="26" name="TextBox 26"/>
                <p:cNvSpPr txBox="1"/>
                <p:nvPr/>
              </p:nvSpPr>
              <p:spPr>
                <a:xfrm>
                  <a:off x="5708142" y="4064000"/>
                  <a:ext cx="43072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Check TPG VI's actual LPA and amendment requirements.</a:t>
                  </a:r>
                </a:p>
              </p:txBody>
            </p:sp>
          </p:grpSp>
          <p:grpSp>
            <p:nvGrpSpPr>
              <p:cNvPr id="30" name="step-4"/>
              <p:cNvGrpSpPr/>
              <p:nvPr/>
            </p:nvGrpSpPr>
            <p:grpSpPr>
              <a:xfrm>
                <a:off x="5324094" y="4521200"/>
                <a:ext cx="5362733" cy="556133"/>
                <a:chOff x="5324094" y="4521200"/>
                <a:chExt cx="5362733" cy="556133"/>
              </a:xfrm>
            </p:grpSpPr>
            <p:sp>
              <p:nvSpPr>
                <p:cNvPr id="28" name="TextBox 28"/>
                <p:cNvSpPr txBox="1"/>
                <p:nvPr/>
              </p:nvSpPr>
              <p:spPr>
                <a:xfrm>
                  <a:off x="5324094" y="45212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4</a:t>
                  </a:r>
                </a:p>
              </p:txBody>
            </p:sp>
            <p:sp>
              <p:nvSpPr>
                <p:cNvPr id="29" name="TextBox 29"/>
                <p:cNvSpPr txBox="1"/>
                <p:nvPr/>
              </p:nvSpPr>
              <p:spPr>
                <a:xfrm>
                  <a:off x="5708142" y="4584700"/>
                  <a:ext cx="497868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Preserve or seek 8% protection; request A first, pursue B if A is refused,</a:t>
                  </a:r>
                  <a:br>
                    <a:rPr lang="en-US" sz="1350" dirty="0">
                      <a:solidFill>
                        <a:schemeClr val="dk1"/>
                      </a:solidFill>
                      <a:latin typeface="+mn-lt"/>
                      <a:ea typeface="+mn-ea"/>
                      <a:cs typeface="+mn-cs"/>
                    </a:rPr>
                  </a:br>
                  <a:r>
                    <a:rPr lang="en-US" sz="1350" dirty="0">
                      <a:solidFill>
                        <a:schemeClr val="dk1"/>
                      </a:solidFill>
                      <a:latin typeface="+mn-lt"/>
                      <a:ea typeface="+mn-ea"/>
                      <a:cs typeface="+mn-cs"/>
                    </a:rPr>
                    <a:t>then the standard hurdle fallback where missing.</a:t>
                  </a:r>
                </a:p>
              </p:txBody>
            </p:sp>
          </p:grpSp>
          <p:grpSp>
            <p:nvGrpSpPr>
              <p:cNvPr id="33" name="step-5"/>
              <p:cNvGrpSpPr/>
              <p:nvPr/>
            </p:nvGrpSpPr>
            <p:grpSpPr>
              <a:xfrm>
                <a:off x="5324094" y="5283200"/>
                <a:ext cx="4887525" cy="556133"/>
                <a:chOff x="5324094" y="5283200"/>
                <a:chExt cx="4887525" cy="556133"/>
              </a:xfrm>
            </p:grpSpPr>
            <p:sp>
              <p:nvSpPr>
                <p:cNvPr id="31" name="TextBox 31"/>
                <p:cNvSpPr txBox="1"/>
                <p:nvPr/>
              </p:nvSpPr>
              <p:spPr>
                <a:xfrm>
                  <a:off x="5324094" y="52832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5</a:t>
                  </a:r>
                </a:p>
              </p:txBody>
            </p:sp>
            <p:sp>
              <p:nvSpPr>
                <p:cNvPr id="32" name="TextBox 32"/>
                <p:cNvSpPr txBox="1"/>
                <p:nvPr/>
              </p:nvSpPr>
              <p:spPr>
                <a:xfrm>
                  <a:off x="5708142" y="5346700"/>
                  <a:ext cx="450347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Use future commitments as additional negotiating opportunities</a:t>
                  </a:r>
                  <a:br>
                    <a:rPr lang="en-US" sz="1350" dirty="0">
                      <a:solidFill>
                        <a:schemeClr val="dk1"/>
                      </a:solidFill>
                      <a:latin typeface="+mn-lt"/>
                      <a:ea typeface="+mn-ea"/>
                      <a:cs typeface="+mn-cs"/>
                    </a:rPr>
                  </a:br>
                  <a:r>
                    <a:rPr lang="en-US" sz="1350" dirty="0">
                      <a:solidFill>
                        <a:schemeClr val="dk1"/>
                      </a:solidFill>
                      <a:latin typeface="+mn-lt"/>
                      <a:ea typeface="+mn-ea"/>
                      <a:cs typeface="+mn-cs"/>
                    </a:rPr>
                    <a:t>without promising them now.</a:t>
                  </a:r>
                </a:p>
              </p:txBody>
            </p:sp>
          </p:grpSp>
        </p:grpSp>
      </p:grpSp>
      <p:grpSp>
        <p:nvGrpSpPr>
          <p:cNvPr id="38" name="relationship-line"/>
          <p:cNvGrpSpPr/>
          <p:nvPr/>
        </p:nvGrpSpPr>
        <p:grpSpPr>
          <a:xfrm>
            <a:off x="602742" y="5886450"/>
            <a:ext cx="10979658" cy="346583"/>
            <a:chOff x="602742" y="5886450"/>
            <a:chExt cx="10979658" cy="346583"/>
          </a:xfrm>
        </p:grpSpPr>
        <p:sp>
          <p:nvSpPr>
            <p:cNvPr id="36" name="Line 36"/>
            <p:cNvSpPr/>
            <p:nvPr/>
          </p:nvSpPr>
          <p:spPr>
            <a:xfrm>
              <a:off x="609600" y="58864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602742" y="5969000"/>
              <a:ext cx="1027059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Preserve a constructive relationship whether retaining or accepting TPG's offered reduction; a reducing LP is not abandoning the manager.</a:t>
              </a:r>
            </a:p>
          </p:txBody>
        </p:sp>
      </p:grpSp>
      <p:grpSp>
        <p:nvGrpSpPr>
          <p:cNvPr id="41" name="footer"/>
          <p:cNvGrpSpPr/>
          <p:nvPr/>
        </p:nvGrpSpPr>
        <p:grpSpPr>
          <a:xfrm>
            <a:off x="604266" y="6350000"/>
            <a:ext cx="10983468" cy="367284"/>
            <a:chOff x="604266" y="6350000"/>
            <a:chExt cx="10983468" cy="367284"/>
          </a:xfrm>
        </p:grpSpPr>
        <p:sp>
          <p:nvSpPr>
            <p:cNvPr id="39" name="TextBox 39"/>
            <p:cNvSpPr txBox="1"/>
            <p:nvPr/>
          </p:nvSpPr>
          <p:spPr>
            <a:xfrm>
              <a:off x="604266" y="6350000"/>
              <a:ext cx="938713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pp. 1, 6; Federal Reserve FOMC statement, 16 Dec 2008; Apollo Global Management Form S-1, 8 Apr 2008. Later material (2009 ILPA principles, the March 2009</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TPG write-down, later surveys) is excluded.</a:t>
              </a:r>
            </a:p>
          </p:txBody>
        </p:sp>
        <p:sp>
          <p:nvSpPr>
            <p:cNvPr id="40" name="TextBox 4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816881" cy="244475"/>
            <a:chOff x="603504" y="546100"/>
            <a:chExt cx="5816881" cy="244475"/>
          </a:xfrm>
        </p:grpSpPr>
        <p:sp>
          <p:nvSpPr>
            <p:cNvPr id="2" name="TextBox 2"/>
            <p:cNvSpPr txBox="1"/>
            <p:nvPr/>
          </p:nvSpPr>
          <p:spPr>
            <a:xfrm>
              <a:off x="603504" y="546100"/>
              <a:ext cx="58168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FINAL RECOMMENDATION · ASSUMPTIONS AND DECISION LIMITS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729783" cy="1043940"/>
            <a:chOff x="594360" y="812800"/>
            <a:chExt cx="5729783" cy="1043940"/>
          </a:xfrm>
        </p:grpSpPr>
        <p:sp>
          <p:nvSpPr>
            <p:cNvPr id="5" name="TextBox 5"/>
            <p:cNvSpPr txBox="1"/>
            <p:nvPr/>
          </p:nvSpPr>
          <p:spPr>
            <a:xfrm>
              <a:off x="594360" y="812800"/>
              <a:ext cx="572978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What the model establishes —</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what the decision still needs</a:t>
              </a:r>
            </a:p>
          </p:txBody>
        </p:sp>
      </p:grpSp>
      <p:graphicFrame>
        <p:nvGraphicFramePr>
          <p:cNvPr id="7" name="limits-table"/>
          <p:cNvGraphicFramePr>
            <a:graphicFrameLocks noGrp="1"/>
          </p:cNvGraphicFramePr>
          <p:nvPr/>
        </p:nvGraphicFramePr>
        <p:xfrm>
          <a:off x="609600" y="1866900"/>
          <a:ext cx="10972800" cy="4286250"/>
        </p:xfrm>
        <a:graphic>
          <a:graphicData uri="http://schemas.openxmlformats.org/drawingml/2006/table">
            <a:tbl>
              <a:tblPr firstRow="1" bandRow="0">
                <a:tableStyleId>{5C22544A-7EE6-4342-B048-85BDC9FD1C3A}</a:tableStyleId>
              </a:tblPr>
              <a:tblGrid>
                <a:gridCol w="1809750"/>
                <a:gridCol w="4762500"/>
                <a:gridCol w="4400550"/>
              </a:tblGrid>
              <a:tr h="342900">
                <a:tc>
                  <a:txBody>
                    <a:bodyPr/>
                    <a:lstStyle/>
                    <a:p>
                      <a:pPr/>
                      <a:r>
                        <a:rPr lang="en-US" sz="1200" b="1">
                          <a:solidFill>
                            <a:srgbClr val="FBF8F2"/>
                          </a:solidFill>
                          <a:latin typeface="Calibri"/>
                          <a:ea typeface="Microsoft YaHei"/>
                          <a:cs typeface="Calibri"/>
                        </a:rPr>
                        <a:t>Issue</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200" b="1">
                          <a:solidFill>
                            <a:srgbClr val="FBF8F2"/>
                          </a:solidFill>
                          <a:latin typeface="Calibri"/>
                          <a:ea typeface="Microsoft YaHei"/>
                          <a:cs typeface="Calibri"/>
                        </a:rPr>
                        <a:t>What we know</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n-US" sz="1200" b="1">
                          <a:solidFill>
                            <a:srgbClr val="FBF8F2"/>
                          </a:solidFill>
                          <a:latin typeface="Calibri"/>
                          <a:ea typeface="Microsoft YaHei"/>
                          <a:cs typeface="Calibri"/>
                        </a:rPr>
                        <a:t>Implication</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514350">
                <a:tc>
                  <a:txBody>
                    <a:bodyPr/>
                    <a:lstStyle/>
                    <a:p>
                      <a:pPr/>
                      <a:r>
                        <a:rPr lang="en-US" sz="1200" b="1">
                          <a:solidFill>
                            <a:schemeClr val="accent1"/>
                          </a:solidFill>
                          <a:latin typeface="Calibri"/>
                          <a:ea typeface="Microsoft YaHei"/>
                          <a:cs typeface="Calibri"/>
                        </a:rPr>
                        <a:t>Growth and discount rate</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20% and 15% are identified as Prep Q3 assumptions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Base-case value is conditional; sensitivity matters.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685800">
                <a:tc>
                  <a:txBody>
                    <a:bodyPr/>
                    <a:lstStyle/>
                    <a:p>
                      <a:pPr/>
                      <a:r>
                        <a:rPr lang="en-US" sz="1200" b="1">
                          <a:solidFill>
                            <a:schemeClr val="accent1"/>
                          </a:solidFill>
                          <a:latin typeface="Calibri"/>
                          <a:ea typeface="Microsoft YaHei"/>
                          <a:cs typeface="Calibri"/>
                        </a:rPr>
                        <a:t>Decision date</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Calibri"/>
                          <a:ea typeface="Microsoft YaHei"/>
                          <a:cs typeface="Calibri"/>
                        </a:rPr>
                        <a:t>The workbook's economic comparison starts at inception</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Calibri"/>
                          <a:ea typeface="Microsoft YaHei"/>
                          <a:cs typeface="Calibri"/>
                        </a:rPr>
                        <a:t>A December valuation must preserve sunk contributions and model only changed future rights and obligations.</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r>
              <a:tr h="514350">
                <a:tc>
                  <a:txBody>
                    <a:bodyPr/>
                    <a:lstStyle/>
                    <a:p>
                      <a:pPr/>
                      <a:r>
                        <a:rPr lang="en-US" sz="1200" b="1">
                          <a:solidFill>
                            <a:schemeClr val="accent1"/>
                          </a:solidFill>
                          <a:latin typeface="Calibri"/>
                          <a:ea typeface="Microsoft YaHei"/>
                          <a:cs typeface="Calibri"/>
                        </a:rPr>
                        <a:t>Deployment</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Five equal 20% draws are modeled; case contributions to date are only 10.7% of commitment</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Different timing can change returns and fee drag; recalculate the direction rather than assert it.</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514350">
                <a:tc>
                  <a:txBody>
                    <a:bodyPr/>
                    <a:lstStyle/>
                    <a:p>
                      <a:pPr/>
                      <a:r>
                        <a:rPr lang="en-US" sz="1200" b="1">
                          <a:solidFill>
                            <a:schemeClr val="accent1"/>
                          </a:solidFill>
                          <a:latin typeface="Calibri"/>
                          <a:ea typeface="Microsoft YaHei"/>
                          <a:cs typeface="Calibri"/>
                        </a:rPr>
                        <a:t>Actual agreement</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Calibri"/>
                          <a:ea typeface="Microsoft YaHei"/>
                          <a:cs typeface="Calibri"/>
                        </a:rPr>
                        <a:t>Exact VI hurdle, catch-up and cancellation terms are not established here</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Calibri"/>
                          <a:ea typeface="Microsoft YaHei"/>
                          <a:cs typeface="Calibri"/>
                        </a:rPr>
                        <a:t>Confirm terms before claiming a concession is new or valuing cancellation.</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r>
              <a:tr h="514350">
                <a:tc>
                  <a:txBody>
                    <a:bodyPr/>
                    <a:lstStyle/>
                    <a:p>
                      <a:pPr/>
                      <a:r>
                        <a:rPr lang="en-US" sz="1200" b="1">
                          <a:solidFill>
                            <a:schemeClr val="accent1"/>
                          </a:solidFill>
                          <a:latin typeface="Calibri"/>
                          <a:ea typeface="Microsoft YaHei"/>
                          <a:cs typeface="Calibri"/>
                        </a:rPr>
                        <a:t>Simplifications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GP co-investment, fee offsets, fee step-downs, financing detail, clawback detail and taxes are omitted</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Results explain the assigned framework, not every feature of the live fund.</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514350">
                <a:tc>
                  <a:txBody>
                    <a:bodyPr/>
                    <a:lstStyle/>
                    <a:p>
                      <a:pPr/>
                      <a:r>
                        <a:rPr lang="en-US" sz="1200" b="1">
                          <a:solidFill>
                            <a:schemeClr val="accent1"/>
                          </a:solidFill>
                          <a:latin typeface="Calibri"/>
                          <a:ea typeface="Microsoft YaHei"/>
                          <a:cs typeface="Calibri"/>
                        </a:rPr>
                        <a:t>Valuation uncertainty</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Calibri"/>
                          <a:ea typeface="Microsoft YaHei"/>
                          <a:cs typeface="Calibri"/>
                        </a:rPr>
                        <a:t>Private investment values are estimates; the case reports early losses</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Calibri"/>
                          <a:ea typeface="Microsoft YaHei"/>
                          <a:cs typeface="Calibri"/>
                        </a:rPr>
                        <a:t>Review current information without using later write-down announcements.</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r>
              <a:tr h="685800">
                <a:tc>
                  <a:txBody>
                    <a:bodyPr/>
                    <a:lstStyle/>
                    <a:p>
                      <a:pPr/>
                      <a:r>
                        <a:rPr lang="en-US" sz="1200" b="1">
                          <a:solidFill>
                            <a:schemeClr val="accent1"/>
                          </a:solidFill>
                          <a:latin typeface="Calibri"/>
                          <a:ea typeface="Microsoft YaHei"/>
                          <a:cs typeface="Calibri"/>
                        </a:rPr>
                        <a:t>Calculation checks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Five main scenarios and their 31-point growth grids were independently reproduced for core returns, NPV and GP compensation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r>
                        <a:rPr lang="en-US" sz="1200" b="0">
                          <a:solidFill>
                            <a:schemeClr val="dk1"/>
                          </a:solidFill>
                          <a:latin typeface="Calibri"/>
                          <a:ea typeface="Microsoft YaHei"/>
                          <a:cs typeface="Calibri"/>
                        </a:rPr>
                        <a:t>Supports arithmetic consistency; does not validate forecasts or every native Excel feature.</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0" name="footer"/>
          <p:cNvGrpSpPr/>
          <p:nvPr/>
        </p:nvGrpSpPr>
        <p:grpSpPr>
          <a:xfrm>
            <a:off x="604266" y="6426200"/>
            <a:ext cx="10983468" cy="291084"/>
            <a:chOff x="604266" y="6426200"/>
            <a:chExt cx="10983468" cy="291084"/>
          </a:xfrm>
        </p:grpSpPr>
        <p:sp>
          <p:nvSpPr>
            <p:cNvPr id="8" name="TextBox 8"/>
            <p:cNvSpPr txBox="1"/>
            <p:nvPr/>
          </p:nvSpPr>
          <p:spPr>
            <a:xfrm>
              <a:off x="604266" y="6426200"/>
              <a:ext cx="601471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Inputs!A6:D23; Guide!B28:B35; Q6 OPERF decision!B7, B26:L28; Case p. 5. 79.9 ÷ 750 = 10.7%.</a:t>
              </a:r>
            </a:p>
          </p:txBody>
        </p:sp>
        <p:sp>
          <p:nvSpPr>
            <p:cNvPr id="9" name="TextBox 9"/>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308960" cy="244475"/>
            <a:chOff x="603504" y="546100"/>
            <a:chExt cx="1308960" cy="244475"/>
          </a:xfrm>
        </p:grpSpPr>
        <p:sp>
          <p:nvSpPr>
            <p:cNvPr id="2" name="TextBox 2"/>
            <p:cNvSpPr txBox="1"/>
            <p:nvPr/>
          </p:nvSpPr>
          <p:spPr>
            <a:xfrm>
              <a:off x="603504" y="546100"/>
              <a:ext cx="130896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APPENDIX · A1</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9578526" cy="586740"/>
            <a:chOff x="594360" y="812800"/>
            <a:chExt cx="9578526" cy="586740"/>
          </a:xfrm>
        </p:grpSpPr>
        <p:sp>
          <p:nvSpPr>
            <p:cNvPr id="5" name="TextBox 5"/>
            <p:cNvSpPr txBox="1"/>
            <p:nvPr/>
          </p:nvSpPr>
          <p:spPr>
            <a:xfrm>
              <a:off x="594360" y="812800"/>
              <a:ext cx="95785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Compare all modeled compensation alternatives</a:t>
              </a:r>
            </a:p>
          </p:txBody>
        </p:sp>
      </p:grpSp>
      <p:grpSp>
        <p:nvGrpSpPr>
          <p:cNvPr id="8" name="note-above"/>
          <p:cNvGrpSpPr/>
          <p:nvPr/>
        </p:nvGrpSpPr>
        <p:grpSpPr>
          <a:xfrm>
            <a:off x="602742" y="1670050"/>
            <a:ext cx="8773851" cy="492633"/>
            <a:chOff x="602742" y="1670050"/>
            <a:chExt cx="8773851" cy="492633"/>
          </a:xfrm>
        </p:grpSpPr>
        <p:sp>
          <p:nvSpPr>
            <p:cNvPr id="7" name="TextBox 7"/>
            <p:cNvSpPr txBox="1"/>
            <p:nvPr/>
          </p:nvSpPr>
          <p:spPr>
            <a:xfrm>
              <a:off x="602742" y="1670050"/>
              <a:ext cx="877385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All changes are relative to the fee-cut model baseline (1.35% fee, 20% carry, no hurdle). 20% asset growth; 15% discount rate.</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NPV at model inception; nominal carry and GP PV are whole-fund.</a:t>
              </a:r>
            </a:p>
          </p:txBody>
        </p:sp>
      </p:grpSp>
      <p:graphicFrame>
        <p:nvGraphicFramePr>
          <p:cNvPr id="9" name="compensation-alternatives-table"/>
          <p:cNvGraphicFramePr>
            <a:graphicFrameLocks noGrp="1"/>
          </p:cNvGraphicFramePr>
          <p:nvPr/>
        </p:nvGraphicFramePr>
        <p:xfrm>
          <a:off x="609600" y="2209800"/>
          <a:ext cx="10972800" cy="3314700"/>
        </p:xfrm>
        <a:graphic>
          <a:graphicData uri="http://schemas.openxmlformats.org/drawingml/2006/table">
            <a:tbl>
              <a:tblPr firstRow="1" bandRow="0">
                <a:tableStyleId>{5C22544A-7EE6-4342-B048-85BDC9FD1C3A}</a:tableStyleId>
              </a:tblPr>
              <a:tblGrid>
                <a:gridCol w="3047999"/>
                <a:gridCol w="1066801"/>
                <a:gridCol w="1066800"/>
                <a:gridCol w="1447800"/>
                <a:gridCol w="1447800"/>
                <a:gridCol w="1600200"/>
                <a:gridCol w="1295400"/>
              </a:tblGrid>
              <a:tr h="571500">
                <a:tc>
                  <a:txBody>
                    <a:bodyPr/>
                    <a:lstStyle/>
                    <a:p>
                      <a:pPr/>
                      <a:r>
                        <a:rPr lang="en-US" sz="1200" b="1">
                          <a:solidFill>
                            <a:srgbClr val="FBF8F2"/>
                          </a:solidFill>
                          <a:latin typeface="Calibri"/>
                          <a:ea typeface="Microsoft YaHei"/>
                          <a:cs typeface="Calibri"/>
                        </a:rPr>
                        <a:t>Scenario</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00" b="1">
                          <a:solidFill>
                            <a:srgbClr val="FBF8F2"/>
                          </a:solidFill>
                          <a:latin typeface="Calibri"/>
                          <a:ea typeface="Microsoft YaHei"/>
                          <a:cs typeface="Calibri"/>
                        </a:rPr>
                        <a:t>LP IRR</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00" b="1">
                          <a:solidFill>
                            <a:srgbClr val="FBF8F2"/>
                          </a:solidFill>
                          <a:latin typeface="Calibri"/>
                          <a:ea typeface="Microsoft YaHei"/>
                          <a:cs typeface="Calibri"/>
                        </a:rPr>
                        <a:t>Change</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00" b="1">
                          <a:solidFill>
                            <a:srgbClr val="FBF8F2"/>
                          </a:solidFill>
                          <a:latin typeface="Calibri"/>
                          <a:ea typeface="Microsoft YaHei"/>
                          <a:cs typeface="Calibri"/>
                        </a:rPr>
                        <a:t>Extra OPERF NPV</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00" b="1">
                          <a:solidFill>
                            <a:srgbClr val="FBF8F2"/>
                          </a:solidFill>
                          <a:latin typeface="Calibri"/>
                          <a:ea typeface="Microsoft YaHei"/>
                          <a:cs typeface="Calibri"/>
                        </a:rPr>
                        <a:t>Nominal GP carry</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00" b="1">
                          <a:solidFill>
                            <a:srgbClr val="FBF8F2"/>
                          </a:solidFill>
                          <a:latin typeface="Calibri"/>
                          <a:ea typeface="Microsoft YaHei"/>
                          <a:cs typeface="Calibri"/>
                        </a:rPr>
                        <a:t>GP total compensation PV</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00" b="1">
                          <a:solidFill>
                            <a:srgbClr val="FBF8F2"/>
                          </a:solidFill>
                          <a:latin typeface="Calibri"/>
                          <a:ea typeface="Microsoft YaHei"/>
                          <a:cs typeface="Calibri"/>
                        </a:rPr>
                        <a:t>Approx. fee-equivalent</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457200">
                <a:tc>
                  <a:txBody>
                    <a:bodyPr/>
                    <a:lstStyle/>
                    <a:p>
                      <a:pPr/>
                      <a:r>
                        <a:rPr lang="en-US" sz="1500" b="1">
                          <a:solidFill>
                            <a:schemeClr val="dk1"/>
                          </a:solidFill>
                          <a:latin typeface="Calibri"/>
                          <a:ea typeface="Microsoft YaHei"/>
                          <a:cs typeface="Calibri"/>
                        </a:rPr>
                        <a:t>Fee-cut baseline, no hurdle</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dk1"/>
                          </a:solidFill>
                          <a:latin typeface="Calibri"/>
                          <a:ea typeface="Microsoft YaHei"/>
                          <a:cs typeface="Calibri"/>
                        </a:rPr>
                        <a:t>15.94%</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dk1"/>
                          </a:solidFill>
                          <a:latin typeface="Calibri"/>
                          <a:ea typeface="Microsoft YaHei"/>
                          <a:cs typeface="Calibri"/>
                        </a:rPr>
                        <a:t>$7.16bn</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dk1"/>
                          </a:solidFill>
                          <a:latin typeface="Calibri"/>
                          <a:ea typeface="Microsoft YaHei"/>
                          <a:cs typeface="Calibri"/>
                        </a:rPr>
                        <a:t>$3.44bn</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0">
                          <a:solidFill>
                            <a:schemeClr val="dk1"/>
                          </a:solidFill>
                          <a:latin typeface="Calibri"/>
                          <a:ea typeface="Microsoft YaHei"/>
                          <a:cs typeface="Calibri"/>
                        </a:rPr>
                        <a:t>—</a:t>
                      </a:r>
                    </a:p>
                  </a:txBody>
                  <a:tcPr anchor="ctr" marL="114300" marR="114300" marT="38100" marB="38100">
                    <a:lnL>
                      <a:noFill/>
                    </a:lnL>
                    <a:lnR>
                      <a:noFill/>
                    </a:lnR>
                    <a:lnT w="9525">
                      <a:solidFill>
                        <a:schemeClr val="accent6"/>
                      </a:solidFill>
                      <a:prstDash val="solid"/>
                    </a:lnT>
                    <a:lnB w="9525">
                      <a:solidFill>
                        <a:schemeClr val="accent6"/>
                      </a:solidFill>
                      <a:prstDash val="solid"/>
                    </a:lnB>
                    <a:solidFill>
                      <a:schemeClr val="lt2"/>
                    </a:solidFill>
                  </a:tcPr>
                </a:tc>
              </a:tr>
              <a:tr h="457200">
                <a:tc>
                  <a:txBody>
                    <a:bodyPr/>
                    <a:lstStyle/>
                    <a:p>
                      <a:pPr/>
                      <a:r>
                        <a:rPr lang="en-US" sz="1500" b="0">
                          <a:solidFill>
                            <a:schemeClr val="dk1"/>
                          </a:solidFill>
                          <a:latin typeface="Calibri"/>
                          <a:ea typeface="Microsoft YaHei"/>
                          <a:cs typeface="Calibri"/>
                        </a:rPr>
                        <a:t>Full-catch-up hurdle</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16.03%</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+9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$2.73m</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$7.16bn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$3.37bn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6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457200">
                <a:tc>
                  <a:txBody>
                    <a:bodyPr/>
                    <a:lstStyle/>
                    <a:p>
                      <a:pPr/>
                      <a:r>
                        <a:rPr lang="en-US" sz="1500" b="0">
                          <a:solidFill>
                            <a:schemeClr val="dk1"/>
                          </a:solidFill>
                          <a:latin typeface="Calibri"/>
                          <a:ea typeface="Microsoft YaHei"/>
                          <a:cs typeface="Calibri"/>
                        </a:rPr>
                        <a:t>No-catch-up hurdle</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16.59%</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+66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$20.65m</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$5.36bn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$2.89bn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47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457200">
                <a:tc>
                  <a:txBody>
                    <a:bodyPr/>
                    <a:lstStyle/>
                    <a:p>
                      <a:pPr/>
                      <a:r>
                        <a:rPr lang="en-US" sz="1500" b="0">
                          <a:solidFill>
                            <a:schemeClr val="dk1"/>
                          </a:solidFill>
                          <a:latin typeface="Calibri"/>
                          <a:ea typeface="Microsoft YaHei"/>
                          <a:cs typeface="Calibri"/>
                        </a:rPr>
                        <a:t>15% carry, no hurdle</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16.49%</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+55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$17.67m</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$5.37bn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$2.97bn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40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457200">
                <a:tc>
                  <a:txBody>
                    <a:bodyPr/>
                    <a:lstStyle/>
                    <a:p>
                      <a:pPr/>
                      <a:r>
                        <a:rPr lang="en-US" sz="1500" b="0">
                          <a:solidFill>
                            <a:schemeClr val="dk1"/>
                          </a:solidFill>
                          <a:latin typeface="Calibri"/>
                          <a:ea typeface="Microsoft YaHei"/>
                          <a:cs typeface="Calibri"/>
                        </a:rPr>
                        <a:t>Full-catch-up hurdle + 15% carry</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16.55%</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+61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$19.31m</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$5.37bn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$2.93bn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44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r h="457200">
                <a:tc>
                  <a:txBody>
                    <a:bodyPr/>
                    <a:lstStyle/>
                    <a:p>
                      <a:pPr/>
                      <a:r>
                        <a:rPr lang="en-US" sz="1500" b="0">
                          <a:solidFill>
                            <a:schemeClr val="dk1"/>
                          </a:solidFill>
                          <a:latin typeface="Calibri"/>
                          <a:ea typeface="Microsoft YaHei"/>
                          <a:cs typeface="Calibri"/>
                        </a:rPr>
                        <a:t>No-catch-up hurdle + 15% carry</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16.97%</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+103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$33.15m</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$4.02bn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$2.56bn</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dk1"/>
                          </a:solidFill>
                          <a:latin typeface="Calibri"/>
                          <a:ea typeface="Microsoft YaHei"/>
                          <a:cs typeface="Calibri"/>
                        </a:rPr>
                        <a:t>76 bps</a:t>
                      </a:r>
                    </a:p>
                  </a:txBody>
                  <a:tcPr anchor="ctr" marL="114300" marR="1143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2" name="notes-below"/>
          <p:cNvGrpSpPr/>
          <p:nvPr/>
        </p:nvGrpSpPr>
        <p:grpSpPr>
          <a:xfrm>
            <a:off x="604266" y="5645150"/>
            <a:ext cx="10173767" cy="595884"/>
            <a:chOff x="604266" y="5645150"/>
            <a:chExt cx="10173767" cy="595884"/>
          </a:xfrm>
        </p:grpSpPr>
        <p:sp>
          <p:nvSpPr>
            <p:cNvPr id="10" name="TextBox 10"/>
            <p:cNvSpPr txBox="1"/>
            <p:nvPr/>
          </p:nvSpPr>
          <p:spPr>
            <a:xfrm>
              <a:off x="604266" y="5645150"/>
              <a:ext cx="10173767" cy="205359"/>
            </a:xfrm>
            <a:prstGeom prst="rect">
              <a:avLst/>
            </a:prstGeom>
            <a:noFill/>
            <a:ln>
              <a:noFill/>
            </a:ln>
          </p:spPr>
          <p:txBody>
            <a:bodyPr wrap="none" lIns="0" tIns="0" rIns="0" bIns="0" anchor="t" anchorCtr="0">
              <a:spAutoFit/>
            </a:bodyPr>
            <a:lstStyle/>
            <a:p>
              <a:pPr algn="l"/>
              <a:r>
                <a:rPr lang="en-US" sz="1050" b="1" dirty="0">
                  <a:solidFill>
                    <a:schemeClr val="accent5"/>
                  </a:solidFill>
                  <a:latin typeface="+mn-lt"/>
                  <a:ea typeface="+mn-ea"/>
                  <a:cs typeface="+mn-cs"/>
                </a:rPr>
                <a:t xml:space="preserve">Note 1: </a:t>
              </a:r>
              <a:r>
                <a:rPr lang="en-US" sz="1050" dirty="0">
                  <a:solidFill>
                    <a:schemeClr val="accent5"/>
                  </a:solidFill>
                  <a:latin typeface="+mn-lt"/>
                  <a:ea typeface="+mn-ea"/>
                  <a:cs typeface="+mn-cs"/>
                </a:rPr>
                <a:t>Gains share the same no-hurdle baseline. If the full-catch-up hurdle were already in place, adding 15% carry would give about $16.59m ($19.31m − $2.73m, unrounded).</a:t>
              </a:r>
            </a:p>
          </p:txBody>
        </p:sp>
        <p:sp>
          <p:nvSpPr>
            <p:cNvPr id="11" name="TextBox 11"/>
            <p:cNvSpPr txBox="1"/>
            <p:nvPr/>
          </p:nvSpPr>
          <p:spPr>
            <a:xfrm>
              <a:off x="604266" y="5873750"/>
              <a:ext cx="8702061" cy="367284"/>
            </a:xfrm>
            <a:prstGeom prst="rect">
              <a:avLst/>
            </a:prstGeom>
            <a:noFill/>
            <a:ln>
              <a:noFill/>
            </a:ln>
          </p:spPr>
          <p:txBody>
            <a:bodyPr wrap="none" lIns="0" tIns="0" rIns="0" bIns="0" anchor="t" anchorCtr="0">
              <a:spAutoFit/>
            </a:bodyPr>
            <a:lstStyle/>
            <a:p>
              <a:pPr algn="l">
                <a:lnSpc>
                  <a:spcPts val="1275"/>
                </a:lnSpc>
              </a:pPr>
              <a:r>
                <a:rPr lang="en-US" sz="1050" b="1" dirty="0">
                  <a:solidFill>
                    <a:schemeClr val="accent5"/>
                  </a:solidFill>
                  <a:latin typeface="+mn-lt"/>
                  <a:ea typeface="+mn-ea"/>
                  <a:cs typeface="+mn-cs"/>
                </a:rPr>
                <a:t xml:space="preserve">Note 2: </a:t>
              </a:r>
              <a:r>
                <a:rPr lang="en-US" sz="1050" dirty="0">
                  <a:solidFill>
                    <a:schemeClr val="accent5"/>
                  </a:solidFill>
                  <a:latin typeface="+mn-lt"/>
                  <a:ea typeface="+mn-ea"/>
                  <a:cs typeface="+mn-cs"/>
                </a:rPr>
                <a:t>Fee-equivalent uses Q5 Analysis!C18 ($11.65m whole-fund LP NPV per bp of management fee); a base-case comparison, not proof of equal incentives or</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available fee offsets.</a:t>
              </a:r>
            </a:p>
          </p:txBody>
        </p:sp>
      </p:grpSp>
      <p:grpSp>
        <p:nvGrpSpPr>
          <p:cNvPr id="15" name="footer"/>
          <p:cNvGrpSpPr/>
          <p:nvPr/>
        </p:nvGrpSpPr>
        <p:grpSpPr>
          <a:xfrm>
            <a:off x="604266" y="6426200"/>
            <a:ext cx="10983468" cy="291084"/>
            <a:chOff x="604266" y="6426200"/>
            <a:chExt cx="10983468" cy="291084"/>
          </a:xfrm>
        </p:grpSpPr>
        <p:sp>
          <p:nvSpPr>
            <p:cNvPr id="13" name="TextBox 13"/>
            <p:cNvSpPr txBox="1"/>
            <p:nvPr/>
          </p:nvSpPr>
          <p:spPr>
            <a:xfrm>
              <a:off x="604266" y="6426200"/>
              <a:ext cx="4138175"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Q5 Analysis!B6:G18; combined scenarios in Engine rows 12–13.</a:t>
              </a:r>
            </a:p>
          </p:txBody>
        </p:sp>
        <p:sp>
          <p:nvSpPr>
            <p:cNvPr id="14" name="TextBox 1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308960" cy="244475"/>
            <a:chOff x="603504" y="546100"/>
            <a:chExt cx="1308960" cy="244475"/>
          </a:xfrm>
        </p:grpSpPr>
        <p:sp>
          <p:nvSpPr>
            <p:cNvPr id="2" name="TextBox 2"/>
            <p:cNvSpPr txBox="1"/>
            <p:nvPr/>
          </p:nvSpPr>
          <p:spPr>
            <a:xfrm>
              <a:off x="603504" y="546100"/>
              <a:ext cx="130896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APPENDIX · A2</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854054" cy="1043940"/>
            <a:chOff x="594360" y="812800"/>
            <a:chExt cx="4854054" cy="1043940"/>
          </a:xfrm>
        </p:grpSpPr>
        <p:sp>
          <p:nvSpPr>
            <p:cNvPr id="5" name="TextBox 5"/>
            <p:cNvSpPr txBox="1"/>
            <p:nvPr/>
          </p:nvSpPr>
          <p:spPr>
            <a:xfrm>
              <a:off x="594360" y="812800"/>
              <a:ext cx="485405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Value of the marginal $75m</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inception commitment</a:t>
              </a:r>
            </a:p>
          </p:txBody>
        </p:sp>
      </p:grpSp>
      <p:grpSp>
        <p:nvGrpSpPr>
          <p:cNvPr id="8" name="note-above"/>
          <p:cNvGrpSpPr/>
          <p:nvPr/>
        </p:nvGrpSpPr>
        <p:grpSpPr>
          <a:xfrm>
            <a:off x="602742" y="1784350"/>
            <a:ext cx="7547058" cy="492633"/>
            <a:chOff x="602742" y="1784350"/>
            <a:chExt cx="7547058" cy="492633"/>
          </a:xfrm>
        </p:grpSpPr>
        <p:sp>
          <p:nvSpPr>
            <p:cNvPr id="7" name="TextBox 7"/>
            <p:cNvSpPr txBox="1"/>
            <p:nvPr/>
          </p:nvSpPr>
          <p:spPr>
            <a:xfrm>
              <a:off x="602742" y="1784350"/>
              <a:ext cx="754705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NPV in $m. Columns are assumed discount rates, not independently established OPERF required returns.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Positive favours retaining within the model; negative favours the hypothetical lower inception commitment.</a:t>
              </a:r>
            </a:p>
          </p:txBody>
        </p:sp>
      </p:grpSp>
      <p:graphicFrame>
        <p:nvGraphicFramePr>
          <p:cNvPr id="9" name="marginal-npv-grid"/>
          <p:cNvGraphicFramePr>
            <a:graphicFrameLocks noGrp="1"/>
          </p:cNvGraphicFramePr>
          <p:nvPr/>
        </p:nvGraphicFramePr>
        <p:xfrm>
          <a:off x="609600" y="2362200"/>
          <a:ext cx="10972800" cy="3810000"/>
        </p:xfrm>
        <a:graphic>
          <a:graphicData uri="http://schemas.openxmlformats.org/drawingml/2006/table">
            <a:tbl>
              <a:tblPr firstRow="1" bandRow="0">
                <a:tableStyleId>{5C22544A-7EE6-4342-B048-85BDC9FD1C3A}</a:tableStyleId>
              </a:tblPr>
              <a:tblGrid>
                <a:gridCol w="2590800"/>
                <a:gridCol w="1676400"/>
                <a:gridCol w="1676400"/>
                <a:gridCol w="1676400"/>
                <a:gridCol w="1676400"/>
                <a:gridCol w="1676400"/>
              </a:tblGrid>
              <a:tr h="381000">
                <a:tc>
                  <a:txBody>
                    <a:bodyPr/>
                    <a:lstStyle/>
                    <a:p>
                      <a:pPr/>
                      <a:r>
                        <a:rPr lang="en-US" sz="1500" b="1">
                          <a:solidFill>
                            <a:srgbClr val="FBF8F2"/>
                          </a:solidFill>
                          <a:latin typeface="Calibri"/>
                          <a:ea typeface="Microsoft YaHei"/>
                          <a:cs typeface="Calibri"/>
                        </a:rPr>
                        <a:t>Annual asset growth</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10%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12%</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chemeClr val="accent1"/>
                          </a:solidFill>
                          <a:latin typeface="Calibri"/>
                          <a:ea typeface="Microsoft YaHei"/>
                          <a:cs typeface="Calibri"/>
                        </a:rPr>
                        <a:t>15% · base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3"/>
                    </a:solidFill>
                  </a:tcPr>
                </a:tc>
                <a:tc>
                  <a:txBody>
                    <a:bodyPr/>
                    <a:lstStyle/>
                    <a:p>
                      <a:pPr algn="r"/>
                      <a:r>
                        <a:rPr lang="en-US" sz="1500" b="1">
                          <a:solidFill>
                            <a:srgbClr val="FBF8F2"/>
                          </a:solidFill>
                          <a:latin typeface="Calibri"/>
                          <a:ea typeface="Microsoft YaHei"/>
                          <a:cs typeface="Calibri"/>
                        </a:rPr>
                        <a:t>18%</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500" b="1">
                          <a:solidFill>
                            <a:srgbClr val="FBF8F2"/>
                          </a:solidFill>
                          <a:latin typeface="Calibri"/>
                          <a:ea typeface="Microsoft YaHei"/>
                          <a:cs typeface="Calibri"/>
                        </a:rPr>
                        <a:t>20%</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accent1"/>
                    </a:solidFill>
                  </a:tcPr>
                </a:tc>
              </a:tr>
              <a:tr h="381000">
                <a:tc>
                  <a:txBody>
                    <a:bodyPr/>
                    <a:lstStyle/>
                    <a:p>
                      <a:pPr/>
                      <a:r>
                        <a:rPr lang="en-US" sz="1500" b="1">
                          <a:solidFill>
                            <a:schemeClr val="accent1"/>
                          </a:solidFill>
                          <a:latin typeface="Calibri"/>
                          <a:ea typeface="Microsoft YaHei"/>
                          <a:cs typeface="Calibri"/>
                        </a:rPr>
                        <a:t>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−30.4</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−32.3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−34.4</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−35.8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−36.4</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−21.2</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−24.3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−27.9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−30.4</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−31.7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10%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−10.1</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−14.7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−20.1</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−24.0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−26.1</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15%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+4.3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−10.0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−15.8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−18.9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18%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+14.8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+6.8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−2.7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−9.9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−13.7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20% · base case</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accent1"/>
                          </a:solidFill>
                          <a:latin typeface="Calibri"/>
                          <a:ea typeface="Microsoft YaHei"/>
                          <a:cs typeface="Calibri"/>
                        </a:rPr>
                        <a:t>+22.8</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accent1"/>
                          </a:solidFill>
                          <a:latin typeface="Calibri"/>
                          <a:ea typeface="Microsoft YaHei"/>
                          <a:cs typeface="Calibri"/>
                        </a:rPr>
                        <a:t>+13.7</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chemeClr val="accent1"/>
                          </a:solidFill>
                          <a:latin typeface="Calibri"/>
                          <a:ea typeface="Microsoft YaHei"/>
                          <a:cs typeface="Calibri"/>
                        </a:rPr>
                        <a:t>+2.8</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rgbClr val="A33D3D"/>
                          </a:solidFill>
                          <a:latin typeface="Calibri"/>
                          <a:ea typeface="Microsoft YaHei"/>
                          <a:cs typeface="Calibri"/>
                        </a:rPr>
                        <a:t>−5.4</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lgn="r"/>
                      <a:r>
                        <a:rPr lang="en-US" sz="1500" b="1">
                          <a:solidFill>
                            <a:srgbClr val="A33D3D"/>
                          </a:solidFill>
                          <a:latin typeface="Calibri"/>
                          <a:ea typeface="Microsoft YaHei"/>
                          <a:cs typeface="Calibri"/>
                        </a:rPr>
                        <a:t>−9.8</a:t>
                      </a:r>
                    </a:p>
                  </a:txBody>
                  <a:tcPr anchor="ctr" marL="152400" marR="152400" marT="38100" marB="38100">
                    <a:lnL>
                      <a:noFill/>
                    </a:lnL>
                    <a:lnR>
                      <a:noFill/>
                    </a:lnR>
                    <a:lnT w="9525">
                      <a:solidFill>
                        <a:schemeClr val="accent6"/>
                      </a:solidFill>
                      <a:prstDash val="solid"/>
                    </a:lnT>
                    <a:lnB w="9525">
                      <a:solidFill>
                        <a:schemeClr val="accent6"/>
                      </a:solidFill>
                      <a:prstDash val="solid"/>
                    </a:lnB>
                    <a:solidFill>
                      <a:schemeClr val="lt2"/>
                    </a:solidFill>
                  </a:tcPr>
                </a:tc>
              </a:tr>
              <a:tr h="381000">
                <a:tc>
                  <a:txBody>
                    <a:bodyPr/>
                    <a:lstStyle/>
                    <a:p>
                      <a:pPr/>
                      <a:r>
                        <a:rPr lang="en-US" sz="1500" b="1">
                          <a:solidFill>
                            <a:schemeClr val="accent1"/>
                          </a:solidFill>
                          <a:latin typeface="Calibri"/>
                          <a:ea typeface="Microsoft YaHei"/>
                          <a:cs typeface="Calibri"/>
                        </a:rPr>
                        <a:t>22%</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+31.7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+21.3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+8.9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−0.5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rgbClr val="A33D3D"/>
                          </a:solidFill>
                          <a:latin typeface="Calibri"/>
                          <a:ea typeface="Microsoft YaHei"/>
                          <a:cs typeface="Calibri"/>
                        </a:rPr>
                        <a:t>−5.5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25%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+46.9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+34.3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+19.3</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+7.8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+1.7</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r h="381000">
                <a:tc>
                  <a:txBody>
                    <a:bodyPr/>
                    <a:lstStyle/>
                    <a:p>
                      <a:pPr/>
                      <a:r>
                        <a:rPr lang="en-US" sz="1500" b="1">
                          <a:solidFill>
                            <a:schemeClr val="accent1"/>
                          </a:solidFill>
                          <a:latin typeface="Calibri"/>
                          <a:ea typeface="Microsoft YaHei"/>
                          <a:cs typeface="Calibri"/>
                        </a:rPr>
                        <a:t>30%</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+77.9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+60.9</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+40.5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+24.8</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c>
                  <a:txBody>
                    <a:bodyPr/>
                    <a:lstStyle/>
                    <a:p>
                      <a:pPr algn="r"/>
                      <a:r>
                        <a:rPr lang="en-US" sz="1500" b="0">
                          <a:solidFill>
                            <a:schemeClr val="accent1"/>
                          </a:solidFill>
                          <a:latin typeface="Calibri"/>
                          <a:ea typeface="Microsoft YaHei"/>
                          <a:cs typeface="Calibri"/>
                        </a:rPr>
                        <a:t>+16.5</a:t>
                      </a:r>
                    </a:p>
                  </a:txBody>
                  <a:tcPr anchor="ctr" marL="152400" marR="152400" marT="38100" marB="3810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2" name="footer"/>
          <p:cNvGrpSpPr/>
          <p:nvPr/>
        </p:nvGrpSpPr>
        <p:grpSpPr>
          <a:xfrm>
            <a:off x="604266" y="6426200"/>
            <a:ext cx="10983468" cy="291084"/>
            <a:chOff x="604266" y="6426200"/>
            <a:chExt cx="10983468" cy="291084"/>
          </a:xfrm>
        </p:grpSpPr>
        <p:sp>
          <p:nvSpPr>
            <p:cNvPr id="10" name="TextBox 10"/>
            <p:cNvSpPr txBox="1"/>
            <p:nvPr/>
          </p:nvSpPr>
          <p:spPr>
            <a:xfrm>
              <a:off x="604266" y="6426200"/>
              <a:ext cx="967607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Q6 OPERF decision!A39:F48. Inception-date values; explain the limitation if applied directly to the December 2008 cancellation. Red = negative; navy = positive.</a:t>
              </a:r>
            </a:p>
          </p:txBody>
        </p:sp>
        <p:sp>
          <p:nvSpPr>
            <p:cNvPr id="11" name="TextBox 1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308960" cy="244475"/>
            <a:chOff x="603504" y="546100"/>
            <a:chExt cx="1308960" cy="244475"/>
          </a:xfrm>
        </p:grpSpPr>
        <p:sp>
          <p:nvSpPr>
            <p:cNvPr id="2" name="TextBox 2"/>
            <p:cNvSpPr txBox="1"/>
            <p:nvPr/>
          </p:nvSpPr>
          <p:spPr>
            <a:xfrm>
              <a:off x="603504" y="546100"/>
              <a:ext cx="130896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APPENDIX · A3</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753845" cy="586740"/>
            <a:chOff x="594360" y="812800"/>
            <a:chExt cx="6753845" cy="586740"/>
          </a:xfrm>
        </p:grpSpPr>
        <p:sp>
          <p:nvSpPr>
            <p:cNvPr id="5" name="TextBox 5"/>
            <p:cNvSpPr txBox="1"/>
            <p:nvPr/>
          </p:nvSpPr>
          <p:spPr>
            <a:xfrm>
              <a:off x="594360" y="812800"/>
              <a:ext cx="675384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TPG's record in the case snapshot</a:t>
              </a:r>
            </a:p>
          </p:txBody>
        </p:sp>
      </p:grpSp>
      <p:grpSp>
        <p:nvGrpSpPr>
          <p:cNvPr id="8" name="lead"/>
          <p:cNvGrpSpPr/>
          <p:nvPr/>
        </p:nvGrpSpPr>
        <p:grpSpPr>
          <a:xfrm>
            <a:off x="601218" y="1651000"/>
            <a:ext cx="7718397" cy="608457"/>
            <a:chOff x="601218" y="1651000"/>
            <a:chExt cx="7718397" cy="608457"/>
          </a:xfrm>
        </p:grpSpPr>
        <p:sp>
          <p:nvSpPr>
            <p:cNvPr id="7" name="TextBox 7"/>
            <p:cNvSpPr txBox="1"/>
            <p:nvPr/>
          </p:nvSpPr>
          <p:spPr>
            <a:xfrm>
              <a:off x="601218" y="1651000"/>
              <a:ext cx="771839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Earlier TPG funds returned multiples of capital. Funds V and VI are early, mostly unrealised</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currently below cost, which warrants scrutiny without determining future returns.</a:t>
              </a:r>
            </a:p>
          </p:txBody>
        </p:sp>
      </p:grpSp>
      <p:grpSp>
        <p:nvGrpSpPr>
          <p:cNvPr id="11" name="tpg-tvpi-columns"/>
          <p:cNvGrpSpPr/>
          <p:nvPr/>
        </p:nvGrpSpPr>
        <p:grpSpPr>
          <a:xfrm>
            <a:off x="609600" y="2400300"/>
            <a:ext cx="6667500" cy="3429000"/>
            <a:chOff x="609600" y="2400300"/>
            <a:chExt cx="6667500" cy="3429000"/>
          </a:xfrm>
        </p:grpSpPr>
        <p:graphicFrame>
          <p:nvGraphicFramePr>
            <p:cNvPr id="9" name="tpg-tvpi-columns"/>
            <p:cNvGraphicFramePr>
              <a:graphicFrameLocks noGrp="1"/>
            </p:cNvGraphicFramePr>
            <p:nvPr/>
          </p:nvGraphicFramePr>
          <p:xfrm>
            <a:off x="609600" y="2400300"/>
            <a:ext cx="6667500" cy="3429000"/>
          </p:xfrm>
          <a:graphic>
            <a:graphicData uri="http://schemas.openxmlformats.org/drawingml/2006/chart">
              <c:chart xmlns:c="http://schemas.openxmlformats.org/drawingml/2006/chart" r:id="rId2"/>
            </a:graphicData>
          </a:graphic>
        </p:graphicFrame>
        <p:sp>
          <p:nvSpPr>
            <p:cNvPr id="10" name="Chart Note 10"/>
            <p:cNvSpPr txBox="1"/>
            <p:nvPr/>
          </p:nvSpPr>
          <p:spPr>
            <a:xfrm>
              <a:off x="5581650" y="4477702"/>
              <a:ext cx="1619250" cy="213360"/>
            </a:xfrm>
            <a:prstGeom prst="rect">
              <a:avLst/>
            </a:prstGeom>
            <a:noFill/>
            <a:ln>
              <a:noFill/>
            </a:ln>
          </p:spPr>
          <p:txBody>
            <a:bodyPr wrap="square" lIns="0" tIns="0" rIns="0" bIns="0" anchor="b" anchorCtr="0"/>
            <a:lstStyle/>
            <a:p>
              <a:pPr algn="r"/>
              <a:r>
                <a:rPr lang="en-US" sz="1050">
                  <a:solidFill>
                    <a:srgbClr val="BC9E60"/>
                  </a:solidFill>
                  <a:latin typeface="Calibri"/>
                  <a:ea typeface="Microsoft YaHei"/>
                  <a:cs typeface="Calibri"/>
                </a:rPr>
                <a:t>1.0× = capital returned</a:t>
              </a:r>
            </a:p>
          </p:txBody>
        </p:sp>
      </p:grpSp>
      <p:grpSp>
        <p:nvGrpSpPr>
          <p:cNvPr id="17" name="caveats"/>
          <p:cNvGrpSpPr/>
          <p:nvPr/>
        </p:nvGrpSpPr>
        <p:grpSpPr>
          <a:xfrm>
            <a:off x="7613142" y="2470150"/>
            <a:ext cx="3518223" cy="3064383"/>
            <a:chOff x="7613142" y="2470150"/>
            <a:chExt cx="3518223" cy="3064383"/>
          </a:xfrm>
        </p:grpSpPr>
        <p:sp>
          <p:nvSpPr>
            <p:cNvPr id="12" name="TextBox 12"/>
            <p:cNvSpPr txBox="1"/>
            <p:nvPr/>
          </p:nvSpPr>
          <p:spPr>
            <a:xfrm>
              <a:off x="7613904" y="2470150"/>
              <a:ext cx="1962132"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READING THE EXHIBIT</a:t>
              </a:r>
            </a:p>
          </p:txBody>
        </p:sp>
        <p:sp>
          <p:nvSpPr>
            <p:cNvPr id="13" name="Line 13"/>
            <p:cNvSpPr/>
            <p:nvPr/>
          </p:nvSpPr>
          <p:spPr>
            <a:xfrm>
              <a:off x="7620000" y="270510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4" name="TextBox 14"/>
            <p:cNvSpPr txBox="1"/>
            <p:nvPr/>
          </p:nvSpPr>
          <p:spPr>
            <a:xfrm>
              <a:off x="7613142" y="2832100"/>
              <a:ext cx="2995214" cy="7212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 xml:space="preserve">Case-reported IRRs: </a:t>
              </a:r>
              <a:r>
                <a:rPr lang="en-US" sz="1350" dirty="0">
                  <a:solidFill>
                    <a:schemeClr val="dk1"/>
                  </a:solidFill>
                  <a:latin typeface="+mn-lt"/>
                  <a:ea typeface="+mn-ea"/>
                  <a:cs typeface="+mn-cs"/>
                </a:rPr>
                <a:t>Fund I 36.3%;</a:t>
              </a:r>
              <a:br>
                <a:rPr lang="en-US" sz="1350" dirty="0">
                  <a:solidFill>
                    <a:schemeClr val="dk1"/>
                  </a:solidFill>
                  <a:latin typeface="+mn-lt"/>
                  <a:ea typeface="+mn-ea"/>
                  <a:cs typeface="+mn-cs"/>
                </a:rPr>
              </a:br>
              <a:r>
                <a:rPr lang="en-US" sz="1350" dirty="0">
                  <a:solidFill>
                    <a:schemeClr val="dk1"/>
                  </a:solidFill>
                  <a:latin typeface="+mn-lt"/>
                  <a:ea typeface="+mn-ea"/>
                  <a:cs typeface="+mn-cs"/>
                </a:rPr>
                <a:t>Fund III 24.5%; Fund V −16.7%. Fund VI IRR</a:t>
              </a:r>
              <a:br>
                <a:rPr lang="en-US" sz="1350" dirty="0">
                  <a:solidFill>
                    <a:schemeClr val="dk1"/>
                  </a:solidFill>
                  <a:latin typeface="+mn-lt"/>
                  <a:ea typeface="+mn-ea"/>
                  <a:cs typeface="+mn-cs"/>
                </a:rPr>
              </a:br>
              <a:r>
                <a:rPr lang="en-US" sz="1350" dirty="0">
                  <a:solidFill>
                    <a:schemeClr val="dk1"/>
                  </a:solidFill>
                  <a:latin typeface="+mn-lt"/>
                  <a:ea typeface="+mn-ea"/>
                  <a:cs typeface="+mn-cs"/>
                </a:rPr>
                <a:t>is not meaningful in the exhibit.</a:t>
              </a:r>
            </a:p>
          </p:txBody>
        </p:sp>
        <p:sp>
          <p:nvSpPr>
            <p:cNvPr id="15" name="TextBox 15"/>
            <p:cNvSpPr txBox="1"/>
            <p:nvPr/>
          </p:nvSpPr>
          <p:spPr>
            <a:xfrm>
              <a:off x="7613142" y="3708400"/>
              <a:ext cx="3190393" cy="7212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 xml:space="preserve">About 27% cumulative IRR </a:t>
              </a:r>
              <a:r>
                <a:rPr lang="en-US" sz="1350" dirty="0">
                  <a:solidFill>
                    <a:schemeClr val="dk1"/>
                  </a:solidFill>
                  <a:latin typeface="+mn-lt"/>
                  <a:ea typeface="+mn-ea"/>
                  <a:cs typeface="+mn-cs"/>
                </a:rPr>
                <a:t>for OPERF's TPG</a:t>
              </a:r>
              <a:br>
                <a:rPr lang="en-US" sz="1350" dirty="0">
                  <a:solidFill>
                    <a:schemeClr val="dk1"/>
                  </a:solidFill>
                  <a:latin typeface="+mn-lt"/>
                  <a:ea typeface="+mn-ea"/>
                  <a:cs typeface="+mn-cs"/>
                </a:rPr>
              </a:br>
              <a:r>
                <a:rPr lang="en-US" sz="1350" dirty="0">
                  <a:solidFill>
                    <a:schemeClr val="dk1"/>
                  </a:solidFill>
                  <a:latin typeface="+mn-lt"/>
                  <a:ea typeface="+mn-ea"/>
                  <a:cs typeface="+mn-cs"/>
                </a:rPr>
                <a:t>investments is not a return earned every year</a:t>
              </a:r>
              <a:br>
                <a:rPr lang="en-US" sz="1350" dirty="0">
                  <a:solidFill>
                    <a:schemeClr val="dk1"/>
                  </a:solidFill>
                  <a:latin typeface="+mn-lt"/>
                  <a:ea typeface="+mn-ea"/>
                  <a:cs typeface="+mn-cs"/>
                </a:rPr>
              </a:br>
              <a:r>
                <a:rPr lang="en-US" sz="1350" dirty="0">
                  <a:solidFill>
                    <a:schemeClr val="dk1"/>
                  </a:solidFill>
                  <a:latin typeface="+mn-lt"/>
                  <a:ea typeface="+mn-ea"/>
                  <a:cs typeface="+mn-cs"/>
                </a:rPr>
                <a:t>and not a forecast for Fund VI.</a:t>
              </a:r>
            </a:p>
          </p:txBody>
        </p:sp>
        <p:sp>
          <p:nvSpPr>
            <p:cNvPr id="16" name="TextBox 16"/>
            <p:cNvSpPr txBox="1"/>
            <p:nvPr/>
          </p:nvSpPr>
          <p:spPr>
            <a:xfrm>
              <a:off x="7613142" y="4584700"/>
              <a:ext cx="3518223" cy="9498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 xml:space="preserve">Limits on comparison: </a:t>
              </a:r>
              <a:r>
                <a:rPr lang="en-US" sz="1350" dirty="0">
                  <a:solidFill>
                    <a:schemeClr val="dk1"/>
                  </a:solidFill>
                  <a:latin typeface="+mn-lt"/>
                  <a:ea typeface="+mn-ea"/>
                  <a:cs typeface="+mn-cs"/>
                </a:rPr>
                <a:t>different fund ages</a:t>
              </a:r>
              <a:br>
                <a:rPr lang="en-US" sz="1350" dirty="0">
                  <a:solidFill>
                    <a:schemeClr val="dk1"/>
                  </a:solidFill>
                  <a:latin typeface="+mn-lt"/>
                  <a:ea typeface="+mn-ea"/>
                  <a:cs typeface="+mn-cs"/>
                </a:rPr>
              </a:br>
              <a:r>
                <a:rPr lang="en-US" sz="1350" dirty="0">
                  <a:solidFill>
                    <a:schemeClr val="dk1"/>
                  </a:solidFill>
                  <a:latin typeface="+mn-lt"/>
                  <a:ea typeface="+mn-ea"/>
                  <a:cs typeface="+mn-cs"/>
                </a:rPr>
                <a:t>and unrealised values limit direct comparisons.</a:t>
              </a:r>
              <a:br>
                <a:rPr lang="en-US" sz="1350" dirty="0">
                  <a:solidFill>
                    <a:schemeClr val="dk1"/>
                  </a:solidFill>
                  <a:latin typeface="+mn-lt"/>
                  <a:ea typeface="+mn-ea"/>
                  <a:cs typeface="+mn-cs"/>
                </a:rPr>
              </a:br>
              <a:r>
                <a:rPr lang="en-US" sz="1350" dirty="0">
                  <a:solidFill>
                    <a:schemeClr val="dk1"/>
                  </a:solidFill>
                  <a:latin typeface="+mn-lt"/>
                  <a:ea typeface="+mn-ea"/>
                  <a:cs typeface="+mn-cs"/>
                </a:rPr>
                <a:t>Early VI losses warrant scrutiny without</a:t>
              </a:r>
              <a:br>
                <a:rPr lang="en-US" sz="1350" dirty="0">
                  <a:solidFill>
                    <a:schemeClr val="dk1"/>
                  </a:solidFill>
                  <a:latin typeface="+mn-lt"/>
                  <a:ea typeface="+mn-ea"/>
                  <a:cs typeface="+mn-cs"/>
                </a:rPr>
              </a:br>
              <a:r>
                <a:rPr lang="en-US" sz="1350" dirty="0">
                  <a:solidFill>
                    <a:schemeClr val="dk1"/>
                  </a:solidFill>
                  <a:latin typeface="+mn-lt"/>
                  <a:ea typeface="+mn-ea"/>
                  <a:cs typeface="+mn-cs"/>
                </a:rPr>
                <a:t>determining the return on remaining investments.</a:t>
              </a:r>
            </a:p>
          </p:txBody>
        </p:sp>
      </p:grpSp>
      <p:sp>
        <p:nvSpPr>
          <p:cNvPr id="18" name="TextBox 18"/>
          <p:cNvSpPr txBox="1"/>
          <p:nvPr/>
        </p:nvSpPr>
        <p:spPr>
          <a:xfrm>
            <a:off x="604266" y="5969000"/>
            <a:ext cx="8841719"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TVPI = (distributed + fair value) ÷ contributed. Values from the case exhibit as of the decision date; fund vintages run from 1994 (Fund I) to 2008 (Fund VI).</a:t>
            </a:r>
          </a:p>
        </p:txBody>
      </p:sp>
      <p:grpSp>
        <p:nvGrpSpPr>
          <p:cNvPr id="21" name="footer"/>
          <p:cNvGrpSpPr/>
          <p:nvPr/>
        </p:nvGrpSpPr>
        <p:grpSpPr>
          <a:xfrm>
            <a:off x="604266" y="6426200"/>
            <a:ext cx="10983468" cy="291084"/>
            <a:chOff x="604266" y="6426200"/>
            <a:chExt cx="10983468" cy="291084"/>
          </a:xfrm>
        </p:grpSpPr>
        <p:sp>
          <p:nvSpPr>
            <p:cNvPr id="19" name="TextBox 19"/>
            <p:cNvSpPr txBox="1"/>
            <p:nvPr/>
          </p:nvSpPr>
          <p:spPr>
            <a:xfrm>
              <a:off x="604266" y="6426200"/>
              <a:ext cx="35481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Exhibit 7 and p. 5; Q6 OPERF decision!A53:H61.</a:t>
              </a:r>
            </a:p>
          </p:txBody>
        </p:sp>
        <p:sp>
          <p:nvSpPr>
            <p:cNvPr id="20" name="TextBox 2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perf_tpg_case_study">
  <a:themeElements>
    <a:clrScheme name="operf_tpg_case_study">
      <a:dk1>
        <a:srgbClr val="1E1E1E"/>
      </a:dk1>
      <a:lt1>
        <a:srgbClr val="FBF8F2"/>
      </a:lt1>
      <a:dk2>
        <a:srgbClr val="1F497D"/>
      </a:dk2>
      <a:lt2>
        <a:srgbClr val="F1ECE2"/>
      </a:lt2>
      <a:accent1>
        <a:srgbClr val="003657"/>
      </a:accent1>
      <a:accent2>
        <a:srgbClr val="0055FF"/>
      </a:accent2>
      <a:accent3>
        <a:srgbClr val="BC9E60"/>
      </a:accent3>
      <a:accent4>
        <a:srgbClr val="003657"/>
      </a:accent4>
      <a:accent5>
        <a:srgbClr val="5C6670"/>
      </a:accent5>
      <a:accent6>
        <a:srgbClr val="D6CFC2"/>
      </a:accent6>
      <a:hlink>
        <a:srgbClr val="0055FF"/>
      </a:hlink>
      <a:folHlink>
        <a:srgbClr val="BC9E60"/>
      </a:folHlink>
    </a:clrScheme>
    <a:fontScheme name="operf_tpg_case_stu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erf_tpg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perf_tpg_case_study">
  <a:themeElements>
    <a:clrScheme name="operf_tpg_case_study">
      <a:dk1>
        <a:srgbClr val="1E1E1E"/>
      </a:dk1>
      <a:lt1>
        <a:srgbClr val="FBF8F2"/>
      </a:lt1>
      <a:dk2>
        <a:srgbClr val="1F497D"/>
      </a:dk2>
      <a:lt2>
        <a:srgbClr val="F1ECE2"/>
      </a:lt2>
      <a:accent1>
        <a:srgbClr val="003657"/>
      </a:accent1>
      <a:accent2>
        <a:srgbClr val="0055FF"/>
      </a:accent2>
      <a:accent3>
        <a:srgbClr val="BC9E60"/>
      </a:accent3>
      <a:accent4>
        <a:srgbClr val="003657"/>
      </a:accent4>
      <a:accent5>
        <a:srgbClr val="5C6670"/>
      </a:accent5>
      <a:accent6>
        <a:srgbClr val="D6CFC2"/>
      </a:accent6>
      <a:hlink>
        <a:srgbClr val="0055FF"/>
      </a:hlink>
      <a:folHlink>
        <a:srgbClr val="BC9E60"/>
      </a:folHlink>
    </a:clrScheme>
    <a:fontScheme name="operf_tpg_case_stu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erf_tpg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2026-10-09T08:26:39Z</dcterms:created>
  <dcterms:modified xsi:type="dcterms:W3CDTF">2026-10-09T08:26:39Z</dcterms:modified>
  <cp:category/>
  <cp:contentStatus/>
</cp:coreProperties>
</file>